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e064259edd6940ee" /><Relationship Type="http://schemas.openxmlformats.org/officeDocument/2006/relationships/extended-properties" Target="/docProps/app.xml" Id="R0ba0de10e42e4a47" /><Relationship Type="http://schemas.openxmlformats.org/officeDocument/2006/relationships/officeDocument" Target="/ppt/presentation.xml" Id="Raadf1e1f76d3442f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39d57005f7f8468f"/>
  </p:sldMasterIdLst>
  <p:notesMasterIdLst>
    <p:notesMasterId xmlns:r="http://schemas.openxmlformats.org/officeDocument/2006/relationships" r:id="R0b1e7c7c52c643cd"/>
  </p:notesMasterIdLst>
  <p:sldIdLst>
    <p:sldId xmlns:r="http://schemas.openxmlformats.org/officeDocument/2006/relationships" id="256" r:id="Re346a018c4da4fd5"/>
    <p:sldId xmlns:r="http://schemas.openxmlformats.org/officeDocument/2006/relationships" id="257" r:id="Rfa69cfdc2d394291"/>
    <p:sldId xmlns:r="http://schemas.openxmlformats.org/officeDocument/2006/relationships" id="258" r:id="R052af19a13de46a1"/>
    <p:sldId xmlns:r="http://schemas.openxmlformats.org/officeDocument/2006/relationships" id="259" r:id="R5750a5dc4a1c4717"/>
    <p:sldId xmlns:r="http://schemas.openxmlformats.org/officeDocument/2006/relationships" id="260" r:id="R16bba43de8ec41de"/>
    <p:sldId xmlns:r="http://schemas.openxmlformats.org/officeDocument/2006/relationships" id="261" r:id="R2c57aac73bf14b48"/>
    <p:sldId xmlns:r="http://schemas.openxmlformats.org/officeDocument/2006/relationships" id="262" r:id="R1504647eac26416f"/>
    <p:sldId xmlns:r="http://schemas.openxmlformats.org/officeDocument/2006/relationships" id="263" r:id="R32096a6f3c2a4b39"/>
    <p:sldId xmlns:r="http://schemas.openxmlformats.org/officeDocument/2006/relationships" id="264" r:id="R6abf92847f844f01"/>
    <p:sldId xmlns:r="http://schemas.openxmlformats.org/officeDocument/2006/relationships" id="265" r:id="R8721846122284daa"/>
    <p:sldId xmlns:r="http://schemas.openxmlformats.org/officeDocument/2006/relationships" id="266" r:id="Ra55e435b3cde41c9"/>
    <p:sldId xmlns:r="http://schemas.openxmlformats.org/officeDocument/2006/relationships" id="267" r:id="R5eec6a9c0155464e"/>
    <p:sldId xmlns:r="http://schemas.openxmlformats.org/officeDocument/2006/relationships" id="268" r:id="Rdf6005856e0342ca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d17c3c822d5444c5" /><Relationship Type="http://schemas.openxmlformats.org/officeDocument/2006/relationships/slideMaster" Target="/ppt/slideMasters/slideMaster1.xml" Id="R39d57005f7f8468f" /><Relationship Type="http://schemas.openxmlformats.org/officeDocument/2006/relationships/notesMaster" Target="/ppt/notesMasters/notesMaster1.xml" Id="R0b1e7c7c52c643cd" /><Relationship Type="http://schemas.openxmlformats.org/officeDocument/2006/relationships/presProps" Target="/ppt/presProps.xml" Id="R12e876d0b34a46cc" /><Relationship Type="http://schemas.openxmlformats.org/officeDocument/2006/relationships/tableStyles" Target="/ppt/tableStyles.xml" Id="R365840f0022a4b78" /><Relationship Type="http://schemas.openxmlformats.org/officeDocument/2006/relationships/slide" Target="/ppt/slides/slide1.xml" Id="Re346a018c4da4fd5" /><Relationship Type="http://schemas.openxmlformats.org/officeDocument/2006/relationships/slide" Target="/ppt/slides/slide2.xml" Id="Rfa69cfdc2d394291" /><Relationship Type="http://schemas.openxmlformats.org/officeDocument/2006/relationships/slide" Target="/ppt/slides/slide3.xml" Id="R052af19a13de46a1" /><Relationship Type="http://schemas.openxmlformats.org/officeDocument/2006/relationships/slide" Target="/ppt/slides/slide4.xml" Id="R5750a5dc4a1c4717" /><Relationship Type="http://schemas.openxmlformats.org/officeDocument/2006/relationships/slide" Target="/ppt/slides/slide5.xml" Id="R16bba43de8ec41de" /><Relationship Type="http://schemas.openxmlformats.org/officeDocument/2006/relationships/slide" Target="/ppt/slides/slide6.xml" Id="R2c57aac73bf14b48" /><Relationship Type="http://schemas.openxmlformats.org/officeDocument/2006/relationships/slide" Target="/ppt/slides/slide7.xml" Id="R1504647eac26416f" /><Relationship Type="http://schemas.openxmlformats.org/officeDocument/2006/relationships/slide" Target="/ppt/slides/slide8.xml" Id="R32096a6f3c2a4b39" /><Relationship Type="http://schemas.openxmlformats.org/officeDocument/2006/relationships/slide" Target="/ppt/slides/slide9.xml" Id="R6abf92847f844f01" /><Relationship Type="http://schemas.openxmlformats.org/officeDocument/2006/relationships/slide" Target="/ppt/slides/slide10.xml" Id="R8721846122284daa" /><Relationship Type="http://schemas.openxmlformats.org/officeDocument/2006/relationships/slide" Target="/ppt/slides/slide11.xml" Id="Ra55e435b3cde41c9" /><Relationship Type="http://schemas.openxmlformats.org/officeDocument/2006/relationships/slide" Target="/ppt/slides/slide12.xml" Id="R5eec6a9c0155464e" /><Relationship Type="http://schemas.openxmlformats.org/officeDocument/2006/relationships/slide" Target="/ppt/slides/slide13.xml" Id="Rdf6005856e0342ca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6474cd31375a482d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9d8180c3160f4c14" /><Relationship Type="http://schemas.openxmlformats.org/officeDocument/2006/relationships/notesMaster" Target="/ppt/notesMasters/notesMaster1.xml" Id="Ra207b806126f4f81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cfbbe64a9e7d4dae" /><Relationship Type="http://schemas.openxmlformats.org/officeDocument/2006/relationships/notesMaster" Target="/ppt/notesMasters/notesMaster1.xml" Id="Rbc5c116050c34420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c80716bdc38d4b56" /><Relationship Type="http://schemas.openxmlformats.org/officeDocument/2006/relationships/notesMaster" Target="/ppt/notesMasters/notesMaster1.xml" Id="R2ea0637878884991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6e73103627954cd1" /><Relationship Type="http://schemas.openxmlformats.org/officeDocument/2006/relationships/notesMaster" Target="/ppt/notesMasters/notesMaster1.xml" Id="R1536a05d91b94255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6ea131314b5143ba" /><Relationship Type="http://schemas.openxmlformats.org/officeDocument/2006/relationships/notesMaster" Target="/ppt/notesMasters/notesMaster1.xml" Id="R372ed9a4e8094806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086ab0beff034cba" /><Relationship Type="http://schemas.openxmlformats.org/officeDocument/2006/relationships/notesMaster" Target="/ppt/notesMasters/notesMaster1.xml" Id="R6792114fb35e46ca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da239d1421184d10" /><Relationship Type="http://schemas.openxmlformats.org/officeDocument/2006/relationships/notesMaster" Target="/ppt/notesMasters/notesMaster1.xml" Id="R5e431b1e4f7c43d1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a80d7c5dfb104a86" /><Relationship Type="http://schemas.openxmlformats.org/officeDocument/2006/relationships/notesMaster" Target="/ppt/notesMasters/notesMaster1.xml" Id="R8d4c0d3f1c0e454c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bbfb7358b82e4559" /><Relationship Type="http://schemas.openxmlformats.org/officeDocument/2006/relationships/notesMaster" Target="/ppt/notesMasters/notesMaster1.xml" Id="Re0968f066fcf4e52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37183d6a121f4ee9" /><Relationship Type="http://schemas.openxmlformats.org/officeDocument/2006/relationships/notesMaster" Target="/ppt/notesMasters/notesMaster1.xml" Id="R538b2b2fb61c4ec5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e81c80338aa74ccd" /><Relationship Type="http://schemas.openxmlformats.org/officeDocument/2006/relationships/notesMaster" Target="/ppt/notesMasters/notesMaster1.xml" Id="R94e41e1f0c554a36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ce826d2ffc2a4708" /><Relationship Type="http://schemas.openxmlformats.org/officeDocument/2006/relationships/notesMaster" Target="/ppt/notesMasters/notesMaster1.xml" Id="R273bdf7adbca4ece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668bc5e1af3d4f91" /><Relationship Type="http://schemas.openxmlformats.org/officeDocument/2006/relationships/notesMaster" Target="/ppt/notesMasters/notesMaster1.xml" Id="Ra4412bdcfae04c02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25ea7aef39c4ecd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6d49596aa78948f7" /><Relationship Type="http://schemas.openxmlformats.org/officeDocument/2006/relationships/slideLayout" Target="/ppt/slideLayouts/slideLayout1.xml" Id="Rb1bf55a313994a6e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b1bf55a313994a6e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26f5f19da0b4dd8" /><Relationship Type="http://schemas.openxmlformats.org/officeDocument/2006/relationships/notesSlide" Target="/ppt/notesSlides/notesSlide1.xml" Id="R472dba0b0cbc4ce5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c85e9d90ab249ee" /><Relationship Type="http://schemas.openxmlformats.org/officeDocument/2006/relationships/notesSlide" Target="/ppt/notesSlides/notesSlide2.xml" Id="R39d4c740d37f4737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d4dee3b80874783" /><Relationship Type="http://schemas.openxmlformats.org/officeDocument/2006/relationships/notesSlide" Target="/ppt/notesSlides/notesSlide3.xml" Id="R3ed33f412e4e4759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c650d7d698f4adf" /><Relationship Type="http://schemas.openxmlformats.org/officeDocument/2006/relationships/notesSlide" Target="/ppt/notesSlides/notesSlide4.xml" Id="Rbf9bcf7362064fb4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bd9ccc23b8c435d" /><Relationship Type="http://schemas.openxmlformats.org/officeDocument/2006/relationships/notesSlide" Target="/ppt/notesSlides/notesSlide5.xml" Id="R24b4157984ce4820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de6650566f24731" /><Relationship Type="http://schemas.openxmlformats.org/officeDocument/2006/relationships/notesSlide" Target="/ppt/notesSlides/notesSlide6.xml" Id="Rec9a10ac99f643ee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240bddd6ff042ec" /><Relationship Type="http://schemas.openxmlformats.org/officeDocument/2006/relationships/notesSlide" Target="/ppt/notesSlides/notesSlide7.xml" Id="R0e3b502d50314cdf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d50c2a781914e6d" /><Relationship Type="http://schemas.openxmlformats.org/officeDocument/2006/relationships/notesSlide" Target="/ppt/notesSlides/notesSlide8.xml" Id="R9bdc9e338e7641eb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1ad2f81255f4aab" /><Relationship Type="http://schemas.openxmlformats.org/officeDocument/2006/relationships/notesSlide" Target="/ppt/notesSlides/notesSlide9.xml" Id="R7f6952719cf343d1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8839576022e470d" /><Relationship Type="http://schemas.openxmlformats.org/officeDocument/2006/relationships/notesSlide" Target="/ppt/notesSlides/notesSlide10.xml" Id="R322cb347c593443d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487643894214ea4" /><Relationship Type="http://schemas.openxmlformats.org/officeDocument/2006/relationships/notesSlide" Target="/ppt/notesSlides/notesSlide11.xml" Id="Re86ec673c5c3495d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d6587c8fe0a4cc3" /><Relationship Type="http://schemas.openxmlformats.org/officeDocument/2006/relationships/notesSlide" Target="/ppt/notesSlides/notesSlide12.xml" Id="R0409eb9d380d4389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119adc736fd4d81" /><Relationship Type="http://schemas.openxmlformats.org/officeDocument/2006/relationships/notesSlide" Target="/ppt/notesSlides/notesSlide13.xml" Id="R6fc72a61a0e848a1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CFB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2" name="textbox-1">
            <a:extLst xmlns:a="http://schemas.openxmlformats.org/drawingml/2006/main">
              <a:ext uri="{FF2B5EF4-FFF2-40B4-BE49-F238E27FC236}">
                <a16:creationId xmlns:a16="http://schemas.microsoft.com/office/drawing/2014/main" id="{7AA32B4F-C2E0-43B2-A468-02D8D0ECC0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714500"/>
            <a:ext cx="3714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0B8687"/>
                </a:solidFill>
              </a:defRPr>
            </a:pPr>
            <a:r>
              <a:rPr sz="1650" b="1">
                <a:solidFill>
                  <a:srgbClr val="0B8687"/>
                </a:solidFill>
              </a:rPr>
              <a:t>UK Third-Party Motor Claims</a:t>
            </a:r>
          </a:p>
        </p:txBody>
      </p:sp>
      <p:sp>
        <p:nvSpPr>
          <p:cNvPr id="2" name="textbox-2">
            <a:extLst xmlns:a="http://schemas.openxmlformats.org/drawingml/2006/main">
              <a:ext uri="{FF2B5EF4-FFF2-40B4-BE49-F238E27FC236}">
                <a16:creationId xmlns:a16="http://schemas.microsoft.com/office/drawing/2014/main" id="{405BCB25-267B-47A3-8CC4-AC571E3F5B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247900"/>
            <a:ext cx="78105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3675" b="1">
                <a:solidFill>
                  <a:srgbClr val="071B3D"/>
                </a:solidFill>
              </a:defRPr>
            </a:pPr>
            <a:r>
              <a:rPr sz="3675" b="1">
                <a:solidFill>
                  <a:srgbClr val="071B3D"/>
                </a:solidFill>
              </a:rPr>
              <a:t>Smarter Repair Invoice Review</a:t>
            </a:r>
          </a:p>
        </p:txBody>
      </p:sp>
      <p:sp>
        <p:nvSpPr>
          <p:cNvPr id="3" name="textbox-3">
            <a:extLst xmlns:a="http://schemas.openxmlformats.org/drawingml/2006/main">
              <a:ext uri="{FF2B5EF4-FFF2-40B4-BE49-F238E27FC236}">
                <a16:creationId xmlns:a16="http://schemas.microsoft.com/office/drawing/2014/main" id="{61E18CEC-0CEB-44D0-90FA-E11E1F1F9B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048000"/>
            <a:ext cx="7524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725">
                <a:solidFill>
                  <a:srgbClr val="071B3D"/>
                </a:solidFill>
              </a:defRPr>
            </a:pPr>
            <a:r>
              <a:rPr sz="1725">
                <a:solidFill>
                  <a:srgbClr val="071B3D"/>
                </a:solidFill>
              </a:rPr>
              <a:t>Evidence-led invoice validation, benchmarking and challenge decisions</a:t>
            </a:r>
          </a:p>
        </p:txBody>
      </p:sp>
      <p:sp>
        <p:nvSpPr>
          <p:cNvPr id="4" name="rect-4">
            <a:extLst xmlns:a="http://schemas.openxmlformats.org/drawingml/2006/main">
              <a:ext uri="{FF2B5EF4-FFF2-40B4-BE49-F238E27FC236}">
                <a16:creationId xmlns:a16="http://schemas.microsoft.com/office/drawing/2014/main" id="{7129DF5A-FFEA-43EA-8138-38B3144A61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171950"/>
            <a:ext cx="5143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8687"/>
          </a:solidFill>
          <a:ln xmlns:a="http://schemas.openxmlformats.org/drawingml/2006/main" w="0">
            <a:solidFill>
              <a:srgbClr val="0B8687"/>
            </a:solidFill>
            <a:prstDash val="solid"/>
          </a:ln>
        </p:spPr>
      </p:sp>
      <p:sp>
        <p:nvSpPr>
          <p:cNvPr id="5" name="textbox-5">
            <a:extLst xmlns:a="http://schemas.openxmlformats.org/drawingml/2006/main">
              <a:ext uri="{FF2B5EF4-FFF2-40B4-BE49-F238E27FC236}">
                <a16:creationId xmlns:a16="http://schemas.microsoft.com/office/drawing/2014/main" id="{6B67B082-F68E-40C6-9D59-F4EB85EF65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343400"/>
            <a:ext cx="2095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0B8687"/>
                </a:solidFill>
              </a:defRPr>
            </a:pPr>
            <a:r>
              <a:rPr sz="1725" b="1">
                <a:solidFill>
                  <a:srgbClr val="0B8687"/>
                </a:solidFill>
              </a:rPr>
              <a:t>ClaimGuard</a:t>
            </a:r>
          </a:p>
        </p:txBody>
      </p:sp>
      <p:sp>
        <p:nvSpPr>
          <p:cNvPr id="6" name="roundRect-6">
            <a:extLst xmlns:a="http://schemas.openxmlformats.org/drawingml/2006/main">
              <a:ext uri="{FF2B5EF4-FFF2-40B4-BE49-F238E27FC236}">
                <a16:creationId xmlns:a16="http://schemas.microsoft.com/office/drawing/2014/main" id="{A00D041A-198E-4F3C-A4C2-92AAE45679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1304925"/>
            <a:ext cx="2095500" cy="3048000"/>
          </a:xfrm>
          <a:prstGeom xmlns:a="http://schemas.openxmlformats.org/drawingml/2006/main" prst="roundRect">
            <a:avLst>
              <a:gd name="adj" fmla="val 90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071B3D"/>
            </a:solidFill>
            <a:prstDash val="solid"/>
          </a:ln>
        </p:spPr>
      </p:sp>
      <p:sp>
        <p:nvSpPr>
          <p:cNvPr id="7" name="textbox-7">
            <a:extLst xmlns:a="http://schemas.openxmlformats.org/drawingml/2006/main">
              <a:ext uri="{FF2B5EF4-FFF2-40B4-BE49-F238E27FC236}">
                <a16:creationId xmlns:a16="http://schemas.microsoft.com/office/drawing/2014/main" id="{0C9B1603-225A-4249-9A9D-6CE660E2D3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15375" y="1495425"/>
            <a:ext cx="171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071B3D"/>
                </a:solidFill>
              </a:defRPr>
            </a:pPr>
            <a:r>
              <a:rPr sz="1650" b="1">
                <a:solidFill>
                  <a:srgbClr val="071B3D"/>
                </a:solidFill>
              </a:rPr>
              <a:t>£</a:t>
            </a:r>
          </a:p>
        </p:txBody>
      </p:sp>
      <p:sp>
        <p:nvSpPr>
          <p:cNvPr id="8" name="rect-8">
            <a:extLst xmlns:a="http://schemas.openxmlformats.org/drawingml/2006/main">
              <a:ext uri="{FF2B5EF4-FFF2-40B4-BE49-F238E27FC236}">
                <a16:creationId xmlns:a16="http://schemas.microsoft.com/office/drawing/2014/main" id="{3705EA63-3031-44E4-AD5D-E206AFA9AB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34425" y="1990725"/>
            <a:ext cx="942975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AA6B3"/>
          </a:solidFill>
          <a:ln xmlns:a="http://schemas.openxmlformats.org/drawingml/2006/main" w="0">
            <a:solidFill>
              <a:srgbClr val="9AA6B3"/>
            </a:solidFill>
            <a:prstDash val="solid"/>
          </a:ln>
        </p:spPr>
      </p:sp>
      <p:sp>
        <p:nvSpPr>
          <p:cNvPr id="9" name="rect-9">
            <a:extLst xmlns:a="http://schemas.openxmlformats.org/drawingml/2006/main">
              <a:ext uri="{FF2B5EF4-FFF2-40B4-BE49-F238E27FC236}">
                <a16:creationId xmlns:a16="http://schemas.microsoft.com/office/drawing/2014/main" id="{9C3AA9BD-D089-4534-B7BA-A0294B04F2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34425" y="2143125"/>
            <a:ext cx="71247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C1C9"/>
          </a:solidFill>
          <a:ln xmlns:a="http://schemas.openxmlformats.org/drawingml/2006/main" w="0">
            <a:solidFill>
              <a:srgbClr val="B9C1C9"/>
            </a:solidFill>
            <a:prstDash val="solid"/>
          </a:ln>
        </p:spPr>
      </p:sp>
      <p:sp>
        <p:nvSpPr>
          <p:cNvPr id="10" name="rect-10">
            <a:extLst xmlns:a="http://schemas.openxmlformats.org/drawingml/2006/main">
              <a:ext uri="{FF2B5EF4-FFF2-40B4-BE49-F238E27FC236}">
                <a16:creationId xmlns:a16="http://schemas.microsoft.com/office/drawing/2014/main" id="{61EF475F-A51B-4483-AFCA-DD6CF16EF8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34425" y="2428875"/>
            <a:ext cx="1676400" cy="10972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BFC"/>
          </a:solidFill>
          <a:ln xmlns:a="http://schemas.openxmlformats.org/drawingml/2006/main" w="9525">
            <a:solidFill>
              <a:srgbClr val="AEB8C2"/>
            </a:solidFill>
            <a:prstDash val="solid"/>
          </a:ln>
        </p:spPr>
      </p:sp>
      <p:sp>
        <p:nvSpPr>
          <p:cNvPr id="11" name="rect-11">
            <a:extLst xmlns:a="http://schemas.openxmlformats.org/drawingml/2006/main">
              <a:ext uri="{FF2B5EF4-FFF2-40B4-BE49-F238E27FC236}">
                <a16:creationId xmlns:a16="http://schemas.microsoft.com/office/drawing/2014/main" id="{70F2754D-D0CF-41EB-9C5A-332043721A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34425" y="2695575"/>
            <a:ext cx="1676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8C2"/>
          </a:solidFill>
          <a:ln xmlns:a="http://schemas.openxmlformats.org/drawingml/2006/main" w="0">
            <a:solidFill>
              <a:srgbClr val="AEB8C2"/>
            </a:solidFill>
            <a:prstDash val="solid"/>
          </a:ln>
        </p:spPr>
      </p:sp>
      <p:sp>
        <p:nvSpPr>
          <p:cNvPr id="12" name="rect-12">
            <a:extLst xmlns:a="http://schemas.openxmlformats.org/drawingml/2006/main">
              <a:ext uri="{FF2B5EF4-FFF2-40B4-BE49-F238E27FC236}">
                <a16:creationId xmlns:a16="http://schemas.microsoft.com/office/drawing/2014/main" id="{5448B8CF-8384-4896-B63C-3CC72F3FCA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06737" y="2428875"/>
            <a:ext cx="9525" cy="10972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8C2"/>
          </a:solidFill>
          <a:ln xmlns:a="http://schemas.openxmlformats.org/drawingml/2006/main" w="0">
            <a:solidFill>
              <a:srgbClr val="AEB8C2"/>
            </a:solidFill>
            <a:prstDash val="solid"/>
          </a:ln>
        </p:spPr>
      </p:sp>
      <p:sp>
        <p:nvSpPr>
          <p:cNvPr id="13" name="rect-13">
            <a:extLst xmlns:a="http://schemas.openxmlformats.org/drawingml/2006/main">
              <a:ext uri="{FF2B5EF4-FFF2-40B4-BE49-F238E27FC236}">
                <a16:creationId xmlns:a16="http://schemas.microsoft.com/office/drawing/2014/main" id="{378C3553-FF12-47C5-89ED-DD77EFF7A4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34425" y="2933700"/>
            <a:ext cx="1676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3D9DE"/>
          </a:solidFill>
          <a:ln xmlns:a="http://schemas.openxmlformats.org/drawingml/2006/main" w="0">
            <a:solidFill>
              <a:srgbClr val="D3D9DE"/>
            </a:solidFill>
            <a:prstDash val="solid"/>
          </a:ln>
        </p:spPr>
      </p:sp>
      <p:sp>
        <p:nvSpPr>
          <p:cNvPr id="14" name="rect-14">
            <a:extLst xmlns:a="http://schemas.openxmlformats.org/drawingml/2006/main">
              <a:ext uri="{FF2B5EF4-FFF2-40B4-BE49-F238E27FC236}">
                <a16:creationId xmlns:a16="http://schemas.microsoft.com/office/drawing/2014/main" id="{8BABE4E4-68AA-4F91-B880-678822480C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34425" y="3171825"/>
            <a:ext cx="1676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3D9DE"/>
          </a:solidFill>
          <a:ln xmlns:a="http://schemas.openxmlformats.org/drawingml/2006/main" w="0">
            <a:solidFill>
              <a:srgbClr val="D3D9DE"/>
            </a:solidFill>
            <a:prstDash val="solid"/>
          </a:ln>
        </p:spPr>
      </p:sp>
      <p:sp>
        <p:nvSpPr>
          <p:cNvPr id="15" name="rect-15">
            <a:extLst xmlns:a="http://schemas.openxmlformats.org/drawingml/2006/main">
              <a:ext uri="{FF2B5EF4-FFF2-40B4-BE49-F238E27FC236}">
                <a16:creationId xmlns:a16="http://schemas.microsoft.com/office/drawing/2014/main" id="{F0E1F024-A502-4867-83E7-5E697B1640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34425" y="3409950"/>
            <a:ext cx="1676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3D9DE"/>
          </a:solidFill>
          <a:ln xmlns:a="http://schemas.openxmlformats.org/drawingml/2006/main" w="0">
            <a:solidFill>
              <a:srgbClr val="D3D9DE"/>
            </a:solidFill>
            <a:prstDash val="solid"/>
          </a:ln>
        </p:spPr>
      </p:sp>
      <p:sp>
        <p:nvSpPr>
          <p:cNvPr id="16" name="rect-16">
            <a:extLst xmlns:a="http://schemas.openxmlformats.org/drawingml/2006/main">
              <a:ext uri="{FF2B5EF4-FFF2-40B4-BE49-F238E27FC236}">
                <a16:creationId xmlns:a16="http://schemas.microsoft.com/office/drawing/2014/main" id="{E43491B9-627F-4298-A41B-C9C0029540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67775" y="2819400"/>
            <a:ext cx="58674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8687"/>
          </a:solidFill>
          <a:ln xmlns:a="http://schemas.openxmlformats.org/drawingml/2006/main" w="0">
            <a:solidFill>
              <a:srgbClr val="0B8687"/>
            </a:solidFill>
            <a:prstDash val="solid"/>
          </a:ln>
        </p:spPr>
      </p:sp>
      <p:sp>
        <p:nvSpPr>
          <p:cNvPr id="17" name="rect-17">
            <a:extLst xmlns:a="http://schemas.openxmlformats.org/drawingml/2006/main">
              <a:ext uri="{FF2B5EF4-FFF2-40B4-BE49-F238E27FC236}">
                <a16:creationId xmlns:a16="http://schemas.microsoft.com/office/drawing/2014/main" id="{44F92172-1AD5-4F1F-BD0B-C383AC1CE6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67775" y="3057525"/>
            <a:ext cx="58674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8C2"/>
          </a:solidFill>
          <a:ln xmlns:a="http://schemas.openxmlformats.org/drawingml/2006/main" w="0">
            <a:solidFill>
              <a:srgbClr val="AEB8C2"/>
            </a:solidFill>
            <a:prstDash val="solid"/>
          </a:ln>
        </p:spPr>
      </p:sp>
      <p:sp>
        <p:nvSpPr>
          <p:cNvPr id="18" name="rect-18">
            <a:extLst xmlns:a="http://schemas.openxmlformats.org/drawingml/2006/main">
              <a:ext uri="{FF2B5EF4-FFF2-40B4-BE49-F238E27FC236}">
                <a16:creationId xmlns:a16="http://schemas.microsoft.com/office/drawing/2014/main" id="{54F309E1-BDFD-4E0A-9C89-45AE30FA1C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67775" y="3295650"/>
            <a:ext cx="58674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8C2"/>
          </a:solidFill>
          <a:ln xmlns:a="http://schemas.openxmlformats.org/drawingml/2006/main" w="0">
            <a:solidFill>
              <a:srgbClr val="AEB8C2"/>
            </a:solidFill>
            <a:prstDash val="solid"/>
          </a:ln>
        </p:spPr>
      </p:sp>
      <p:sp>
        <p:nvSpPr>
          <p:cNvPr id="19" name="rect-19">
            <a:extLst xmlns:a="http://schemas.openxmlformats.org/drawingml/2006/main">
              <a:ext uri="{FF2B5EF4-FFF2-40B4-BE49-F238E27FC236}">
                <a16:creationId xmlns:a16="http://schemas.microsoft.com/office/drawing/2014/main" id="{B0071EB9-F11B-4370-BEB5-74629BDA51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34425" y="3838575"/>
            <a:ext cx="71247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8C2"/>
          </a:solidFill>
          <a:ln xmlns:a="http://schemas.openxmlformats.org/drawingml/2006/main" w="0">
            <a:solidFill>
              <a:srgbClr val="AEB8C2"/>
            </a:solidFill>
            <a:prstDash val="solid"/>
          </a:ln>
        </p:spPr>
      </p:sp>
      <p:sp>
        <p:nvSpPr>
          <p:cNvPr id="20" name="textbox-20">
            <a:extLst xmlns:a="http://schemas.openxmlformats.org/drawingml/2006/main">
              <a:ext uri="{FF2B5EF4-FFF2-40B4-BE49-F238E27FC236}">
                <a16:creationId xmlns:a16="http://schemas.microsoft.com/office/drawing/2014/main" id="{54ABF422-E92F-4B64-A374-667F0EEAA1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67925" y="3609975"/>
            <a:ext cx="3619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071B3D"/>
                </a:solidFill>
              </a:defRPr>
            </a:pPr>
            <a:r>
              <a:rPr sz="2100" b="1">
                <a:solidFill>
                  <a:srgbClr val="071B3D"/>
                </a:solidFill>
              </a:rPr>
              <a:t>£</a:t>
            </a:r>
          </a:p>
        </p:txBody>
      </p:sp>
      <p:sp>
        <p:nvSpPr>
          <p:cNvPr id="21" name="ellipse-21">
            <a:extLst xmlns:a="http://schemas.openxmlformats.org/drawingml/2006/main">
              <a:ext uri="{FF2B5EF4-FFF2-40B4-BE49-F238E27FC236}">
                <a16:creationId xmlns:a16="http://schemas.microsoft.com/office/drawing/2014/main" id="{BCD3661F-49DA-4721-9C9A-4918E33BF3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0" y="3067050"/>
            <a:ext cx="685800" cy="685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0B8687"/>
            </a:solidFill>
            <a:prstDash val="solid"/>
          </a:ln>
        </p:spPr>
      </p:sp>
      <p:sp>
        <p:nvSpPr>
          <p:cNvPr id="22" name="textbox-22">
            <a:extLst xmlns:a="http://schemas.openxmlformats.org/drawingml/2006/main">
              <a:ext uri="{FF2B5EF4-FFF2-40B4-BE49-F238E27FC236}">
                <a16:creationId xmlns:a16="http://schemas.microsoft.com/office/drawing/2014/main" id="{8B61E129-E3CB-405C-8E65-75D7FD0730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0" y="3076575"/>
            <a:ext cx="685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0B8687"/>
                </a:solidFill>
              </a:defRPr>
            </a:pPr>
            <a:r>
              <a:rPr sz="2550" b="1">
                <a:solidFill>
                  <a:srgbClr val="0B8687"/>
                </a:solidFill>
              </a:rPr>
              <a:t>✓</a:t>
            </a:r>
          </a:p>
        </p:txBody>
      </p:sp>
      <p:sp>
        <p:nvSpPr>
          <p:cNvPr id="23" name="ellipse-23">
            <a:extLst xmlns:a="http://schemas.openxmlformats.org/drawingml/2006/main">
              <a:ext uri="{FF2B5EF4-FFF2-40B4-BE49-F238E27FC236}">
                <a16:creationId xmlns:a16="http://schemas.microsoft.com/office/drawing/2014/main" id="{C2AF7C38-511A-4AA4-9A32-3CABE848BA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4010025"/>
            <a:ext cx="1143000" cy="1143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0B8687"/>
            </a:solidFill>
            <a:prstDash val="solid"/>
          </a:ln>
        </p:spPr>
      </p:sp>
      <p:sp>
        <p:nvSpPr>
          <p:cNvPr id="24" name="textbox-24">
            <a:extLst xmlns:a="http://schemas.openxmlformats.org/drawingml/2006/main">
              <a:ext uri="{FF2B5EF4-FFF2-40B4-BE49-F238E27FC236}">
                <a16:creationId xmlns:a16="http://schemas.microsoft.com/office/drawing/2014/main" id="{56DFB8A2-5B6D-47F7-8E7E-0ECF9FB4BB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4019550"/>
            <a:ext cx="114300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0B8687"/>
                </a:solidFill>
              </a:defRPr>
            </a:pPr>
            <a:r>
              <a:rPr sz="1500" b="1">
                <a:solidFill>
                  <a:srgbClr val="0B8687"/>
                </a:solidFill>
              </a:rPr>
              <a:t>CAR</a:t>
            </a:r>
          </a:p>
        </p:txBody>
      </p:sp>
      <p:sp>
        <p:nvSpPr>
          <p:cNvPr id="25" name="ellipse-25">
            <a:extLst xmlns:a="http://schemas.openxmlformats.org/drawingml/2006/main">
              <a:ext uri="{FF2B5EF4-FFF2-40B4-BE49-F238E27FC236}">
                <a16:creationId xmlns:a16="http://schemas.microsoft.com/office/drawing/2014/main" id="{7A560D83-2DF2-4347-A58F-35A0B8C481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4953000"/>
            <a:ext cx="990600" cy="990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0B8687"/>
            </a:solidFill>
            <a:prstDash val="solid"/>
          </a:ln>
        </p:spPr>
      </p:sp>
      <p:sp>
        <p:nvSpPr>
          <p:cNvPr id="26" name="textbox-26">
            <a:extLst xmlns:a="http://schemas.openxmlformats.org/drawingml/2006/main">
              <a:ext uri="{FF2B5EF4-FFF2-40B4-BE49-F238E27FC236}">
                <a16:creationId xmlns:a16="http://schemas.microsoft.com/office/drawing/2014/main" id="{84B8C347-8BBB-422C-AF4C-7DEE7E6B38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4962525"/>
            <a:ext cx="99060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2850" b="1">
                <a:solidFill>
                  <a:srgbClr val="0B8687"/>
                </a:solidFill>
              </a:defRPr>
            </a:pPr>
            <a:r>
              <a:rPr sz="2850" b="1">
                <a:solidFill>
                  <a:srgbClr val="0B8687"/>
                </a:solidFill>
              </a:rPr>
              <a:t>↗</a:t>
            </a:r>
          </a:p>
        </p:txBody>
      </p:sp>
      <p:sp>
        <p:nvSpPr>
          <p:cNvPr id="27" name="ellipse-27">
            <a:extLst xmlns:a="http://schemas.openxmlformats.org/drawingml/2006/main">
              <a:ext uri="{FF2B5EF4-FFF2-40B4-BE49-F238E27FC236}">
                <a16:creationId xmlns:a16="http://schemas.microsoft.com/office/drawing/2014/main" id="{5F44AE91-2C32-4BD0-9788-C1F2A3CE81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20375" y="4514850"/>
            <a:ext cx="1066800" cy="1066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0B8687"/>
            </a:solidFill>
            <a:prstDash val="solid"/>
          </a:ln>
        </p:spPr>
      </p:sp>
      <p:sp>
        <p:nvSpPr>
          <p:cNvPr id="28" name="textbox-28">
            <a:extLst xmlns:a="http://schemas.openxmlformats.org/drawingml/2006/main">
              <a:ext uri="{FF2B5EF4-FFF2-40B4-BE49-F238E27FC236}">
                <a16:creationId xmlns:a16="http://schemas.microsoft.com/office/drawing/2014/main" id="{543B02FD-6947-4AB8-824F-5E3F8926D6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20375" y="4524375"/>
            <a:ext cx="10668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0B8687"/>
                </a:solidFill>
              </a:defRPr>
            </a:pPr>
            <a:r>
              <a:rPr sz="1800" b="1">
                <a:solidFill>
                  <a:srgbClr val="0B8687"/>
                </a:solidFill>
              </a:rPr>
              <a:t>✓✓</a:t>
            </a:r>
          </a:p>
        </p:txBody>
      </p:sp>
      <p:sp>
        <p:nvSpPr>
          <p:cNvPr id="29" name="rect-29">
            <a:extLst xmlns:a="http://schemas.openxmlformats.org/drawingml/2006/main">
              <a:ext uri="{FF2B5EF4-FFF2-40B4-BE49-F238E27FC236}">
                <a16:creationId xmlns:a16="http://schemas.microsoft.com/office/drawing/2014/main" id="{BFE81658-D5F2-40D4-ABAF-FFEA0C3695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4743450"/>
            <a:ext cx="5143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FC9D1"/>
          </a:solidFill>
          <a:ln xmlns:a="http://schemas.openxmlformats.org/drawingml/2006/main" w="0">
            <a:solidFill>
              <a:srgbClr val="BFC9D1"/>
            </a:solidFill>
            <a:prstDash val="solid"/>
          </a:ln>
        </p:spPr>
      </p:sp>
      <p:sp>
        <p:nvSpPr>
          <p:cNvPr id="30" name="rect-30">
            <a:extLst xmlns:a="http://schemas.openxmlformats.org/drawingml/2006/main">
              <a:ext uri="{FF2B5EF4-FFF2-40B4-BE49-F238E27FC236}">
                <a16:creationId xmlns:a16="http://schemas.microsoft.com/office/drawing/2014/main" id="{B4B51EA2-05A7-4174-99CC-49672948FB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5438775"/>
            <a:ext cx="101917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FC9D1"/>
          </a:solidFill>
          <a:ln xmlns:a="http://schemas.openxmlformats.org/drawingml/2006/main" w="0">
            <a:solidFill>
              <a:srgbClr val="BFC9D1"/>
            </a:solidFill>
            <a:prstDash val="solid"/>
          </a:ln>
        </p:spPr>
      </p:sp>
      <p:sp>
        <p:nvSpPr>
          <p:cNvPr id="31" name="rect-31">
            <a:extLst xmlns:a="http://schemas.openxmlformats.org/drawingml/2006/main">
              <a:ext uri="{FF2B5EF4-FFF2-40B4-BE49-F238E27FC236}">
                <a16:creationId xmlns:a16="http://schemas.microsoft.com/office/drawing/2014/main" id="{ABF553FB-0EC7-4DD7-856E-6650F6E1BA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3752850"/>
            <a:ext cx="1905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FC9D1"/>
          </a:solidFill>
          <a:ln xmlns:a="http://schemas.openxmlformats.org/drawingml/2006/main" w="0">
            <a:solidFill>
              <a:srgbClr val="BFC9D1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1838238025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CFB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2" name="rect-32">
            <a:extLst xmlns:a="http://schemas.openxmlformats.org/drawingml/2006/main">
              <a:ext uri="{FF2B5EF4-FFF2-40B4-BE49-F238E27FC236}">
                <a16:creationId xmlns:a16="http://schemas.microsoft.com/office/drawing/2014/main" id="{FF0AC44E-51F2-47A4-B5D6-2560327817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381000"/>
            <a:ext cx="66675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8687"/>
          </a:solidFill>
          <a:ln xmlns:a="http://schemas.openxmlformats.org/drawingml/2006/main" w="0">
            <a:solidFill>
              <a:srgbClr val="0B8687"/>
            </a:solidFill>
            <a:prstDash val="solid"/>
          </a:ln>
        </p:spPr>
      </p:sp>
      <p:sp>
        <p:nvSpPr>
          <p:cNvPr id="2" name="textbox-33">
            <a:extLst xmlns:a="http://schemas.openxmlformats.org/drawingml/2006/main">
              <a:ext uri="{FF2B5EF4-FFF2-40B4-BE49-F238E27FC236}">
                <a16:creationId xmlns:a16="http://schemas.microsoft.com/office/drawing/2014/main" id="{6CCFFA09-AC21-40D2-8D89-58DFEBBAAF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81915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071B3D"/>
                </a:solidFill>
              </a:defRPr>
            </a:pPr>
            <a:r>
              <a:rPr sz="3600" b="1">
                <a:solidFill>
                  <a:srgbClr val="071B3D"/>
                </a:solidFill>
              </a:rPr>
              <a:t>Repair invoice review is difficult</a:t>
            </a:r>
          </a:p>
          <a:p xmlns:a="http://schemas.openxmlformats.org/drawingml/2006/main">
            <a:pPr>
              <a:defRPr sz="3600" b="1">
                <a:solidFill>
                  <a:srgbClr val="071B3D"/>
                </a:solidFill>
              </a:defRPr>
            </a:pPr>
            <a:r>
              <a:rPr sz="3600" b="1">
                <a:solidFill>
                  <a:srgbClr val="071B3D"/>
                </a:solidFill>
              </a:rPr>
              <a:t>to perform consistently at scale</a:t>
            </a:r>
          </a:p>
        </p:txBody>
      </p:sp>
      <p:sp>
        <p:nvSpPr>
          <p:cNvPr id="3" name="rect-34">
            <a:extLst xmlns:a="http://schemas.openxmlformats.org/drawingml/2006/main">
              <a:ext uri="{FF2B5EF4-FFF2-40B4-BE49-F238E27FC236}">
                <a16:creationId xmlns:a16="http://schemas.microsoft.com/office/drawing/2014/main" id="{306BA7EA-6086-40F8-9F8E-FCCDB97EFB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29075" y="2619375"/>
            <a:ext cx="857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8687"/>
          </a:solidFill>
          <a:ln xmlns:a="http://schemas.openxmlformats.org/drawingml/2006/main" w="0">
            <a:solidFill>
              <a:srgbClr val="0B8687"/>
            </a:solidFill>
            <a:prstDash val="solid"/>
          </a:ln>
        </p:spPr>
      </p:sp>
      <p:sp>
        <p:nvSpPr>
          <p:cNvPr id="4" name="rect-35">
            <a:extLst xmlns:a="http://schemas.openxmlformats.org/drawingml/2006/main">
              <a:ext uri="{FF2B5EF4-FFF2-40B4-BE49-F238E27FC236}">
                <a16:creationId xmlns:a16="http://schemas.microsoft.com/office/drawing/2014/main" id="{B027E39E-6287-416E-928C-0C59D3AF47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29075" y="4324350"/>
            <a:ext cx="857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8687"/>
          </a:solidFill>
          <a:ln xmlns:a="http://schemas.openxmlformats.org/drawingml/2006/main" w="0">
            <a:solidFill>
              <a:srgbClr val="0B8687"/>
            </a:solidFill>
            <a:prstDash val="solid"/>
          </a:ln>
        </p:spPr>
      </p:sp>
      <p:sp>
        <p:nvSpPr>
          <p:cNvPr id="5" name="rect-36">
            <a:extLst xmlns:a="http://schemas.openxmlformats.org/drawingml/2006/main">
              <a:ext uri="{FF2B5EF4-FFF2-40B4-BE49-F238E27FC236}">
                <a16:creationId xmlns:a16="http://schemas.microsoft.com/office/drawing/2014/main" id="{11C34E46-1E44-48DA-8642-D049DD0D51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2619375"/>
            <a:ext cx="8763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8687"/>
          </a:solidFill>
          <a:ln xmlns:a="http://schemas.openxmlformats.org/drawingml/2006/main" w="0">
            <a:solidFill>
              <a:srgbClr val="0B8687"/>
            </a:solidFill>
            <a:prstDash val="solid"/>
          </a:ln>
        </p:spPr>
      </p:sp>
      <p:sp>
        <p:nvSpPr>
          <p:cNvPr id="6" name="rect-37">
            <a:extLst xmlns:a="http://schemas.openxmlformats.org/drawingml/2006/main">
              <a:ext uri="{FF2B5EF4-FFF2-40B4-BE49-F238E27FC236}">
                <a16:creationId xmlns:a16="http://schemas.microsoft.com/office/drawing/2014/main" id="{F62E0512-5BCE-41D1-BF90-B3418F2D5C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4324350"/>
            <a:ext cx="8763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5D4A"/>
          </a:solidFill>
          <a:ln xmlns:a="http://schemas.openxmlformats.org/drawingml/2006/main" w="0">
            <a:solidFill>
              <a:srgbClr val="E85D4A"/>
            </a:solidFill>
            <a:prstDash val="solid"/>
          </a:ln>
        </p:spPr>
      </p:sp>
      <p:sp>
        <p:nvSpPr>
          <p:cNvPr id="7" name="roundRect-38">
            <a:extLst xmlns:a="http://schemas.openxmlformats.org/drawingml/2006/main">
              <a:ext uri="{FF2B5EF4-FFF2-40B4-BE49-F238E27FC236}">
                <a16:creationId xmlns:a16="http://schemas.microsoft.com/office/drawing/2014/main" id="{28A75BFD-91F0-434D-BD48-A7FE6A7B3A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1857375"/>
            <a:ext cx="2476500" cy="3333750"/>
          </a:xfrm>
          <a:prstGeom xmlns:a="http://schemas.openxmlformats.org/drawingml/2006/main" prst="roundRect">
            <a:avLst>
              <a:gd name="adj" fmla="val 76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071B3D"/>
            </a:solidFill>
            <a:prstDash val="solid"/>
          </a:ln>
        </p:spPr>
      </p:sp>
      <p:sp>
        <p:nvSpPr>
          <p:cNvPr id="8" name="textbox-39">
            <a:extLst xmlns:a="http://schemas.openxmlformats.org/drawingml/2006/main">
              <a:ext uri="{FF2B5EF4-FFF2-40B4-BE49-F238E27FC236}">
                <a16:creationId xmlns:a16="http://schemas.microsoft.com/office/drawing/2014/main" id="{A2240A5C-36BB-43AE-8B71-E8F0AC4469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047875"/>
            <a:ext cx="209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071B3D"/>
                </a:solidFill>
              </a:defRPr>
            </a:pPr>
            <a:r>
              <a:rPr sz="1650" b="1">
                <a:solidFill>
                  <a:srgbClr val="071B3D"/>
                </a:solidFill>
              </a:rPr>
              <a:t>INVOICE</a:t>
            </a:r>
          </a:p>
        </p:txBody>
      </p:sp>
      <p:sp>
        <p:nvSpPr>
          <p:cNvPr id="9" name="rect-40">
            <a:extLst xmlns:a="http://schemas.openxmlformats.org/drawingml/2006/main">
              <a:ext uri="{FF2B5EF4-FFF2-40B4-BE49-F238E27FC236}">
                <a16:creationId xmlns:a16="http://schemas.microsoft.com/office/drawing/2014/main" id="{F58E62FC-E400-4508-820D-385B85AE24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2543175"/>
            <a:ext cx="1114425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AA6B3"/>
          </a:solidFill>
          <a:ln xmlns:a="http://schemas.openxmlformats.org/drawingml/2006/main" w="0">
            <a:solidFill>
              <a:srgbClr val="9AA6B3"/>
            </a:solidFill>
            <a:prstDash val="solid"/>
          </a:ln>
        </p:spPr>
      </p:sp>
      <p:sp>
        <p:nvSpPr>
          <p:cNvPr id="10" name="rect-41">
            <a:extLst xmlns:a="http://schemas.openxmlformats.org/drawingml/2006/main">
              <a:ext uri="{FF2B5EF4-FFF2-40B4-BE49-F238E27FC236}">
                <a16:creationId xmlns:a16="http://schemas.microsoft.com/office/drawing/2014/main" id="{33AAABAC-FA02-4B25-BA85-8DD6FBC2F6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2695575"/>
            <a:ext cx="84201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C1C9"/>
          </a:solidFill>
          <a:ln xmlns:a="http://schemas.openxmlformats.org/drawingml/2006/main" w="0">
            <a:solidFill>
              <a:srgbClr val="B9C1C9"/>
            </a:solidFill>
            <a:prstDash val="solid"/>
          </a:ln>
        </p:spPr>
      </p:sp>
      <p:sp>
        <p:nvSpPr>
          <p:cNvPr id="11" name="rect-42">
            <a:extLst xmlns:a="http://schemas.openxmlformats.org/drawingml/2006/main">
              <a:ext uri="{FF2B5EF4-FFF2-40B4-BE49-F238E27FC236}">
                <a16:creationId xmlns:a16="http://schemas.microsoft.com/office/drawing/2014/main" id="{246D2964-7BBC-471F-AF79-5706F7ACD5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2981325"/>
            <a:ext cx="2057400" cy="1200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BFC"/>
          </a:solidFill>
          <a:ln xmlns:a="http://schemas.openxmlformats.org/drawingml/2006/main" w="9525">
            <a:solidFill>
              <a:srgbClr val="AEB8C2"/>
            </a:solidFill>
            <a:prstDash val="solid"/>
          </a:ln>
        </p:spPr>
      </p:sp>
      <p:sp>
        <p:nvSpPr>
          <p:cNvPr id="12" name="rect-43">
            <a:extLst xmlns:a="http://schemas.openxmlformats.org/drawingml/2006/main">
              <a:ext uri="{FF2B5EF4-FFF2-40B4-BE49-F238E27FC236}">
                <a16:creationId xmlns:a16="http://schemas.microsoft.com/office/drawing/2014/main" id="{EEA6798B-88B9-4460-AAFA-8890553BB6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3248025"/>
            <a:ext cx="2057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8C2"/>
          </a:solidFill>
          <a:ln xmlns:a="http://schemas.openxmlformats.org/drawingml/2006/main" w="0">
            <a:solidFill>
              <a:srgbClr val="AEB8C2"/>
            </a:solidFill>
            <a:prstDash val="solid"/>
          </a:ln>
        </p:spPr>
      </p:sp>
      <p:sp>
        <p:nvSpPr>
          <p:cNvPr id="13" name="rect-44">
            <a:extLst xmlns:a="http://schemas.openxmlformats.org/drawingml/2006/main">
              <a:ext uri="{FF2B5EF4-FFF2-40B4-BE49-F238E27FC236}">
                <a16:creationId xmlns:a16="http://schemas.microsoft.com/office/drawing/2014/main" id="{44A1B84D-F724-461A-8038-E2DE65EDBE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5342" y="2981325"/>
            <a:ext cx="9525" cy="1200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8C2"/>
          </a:solidFill>
          <a:ln xmlns:a="http://schemas.openxmlformats.org/drawingml/2006/main" w="0">
            <a:solidFill>
              <a:srgbClr val="AEB8C2"/>
            </a:solidFill>
            <a:prstDash val="solid"/>
          </a:ln>
        </p:spPr>
      </p:sp>
      <p:sp>
        <p:nvSpPr>
          <p:cNvPr id="14" name="rect-45">
            <a:extLst xmlns:a="http://schemas.openxmlformats.org/drawingml/2006/main">
              <a:ext uri="{FF2B5EF4-FFF2-40B4-BE49-F238E27FC236}">
                <a16:creationId xmlns:a16="http://schemas.microsoft.com/office/drawing/2014/main" id="{DD0B1377-BA85-4C53-9FA5-B700EB1198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3486150"/>
            <a:ext cx="2057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3D9DE"/>
          </a:solidFill>
          <a:ln xmlns:a="http://schemas.openxmlformats.org/drawingml/2006/main" w="0">
            <a:solidFill>
              <a:srgbClr val="D3D9DE"/>
            </a:solidFill>
            <a:prstDash val="solid"/>
          </a:ln>
        </p:spPr>
      </p:sp>
      <p:sp>
        <p:nvSpPr>
          <p:cNvPr id="15" name="rect-46">
            <a:extLst xmlns:a="http://schemas.openxmlformats.org/drawingml/2006/main">
              <a:ext uri="{FF2B5EF4-FFF2-40B4-BE49-F238E27FC236}">
                <a16:creationId xmlns:a16="http://schemas.microsoft.com/office/drawing/2014/main" id="{201944AA-68F9-4A83-90BD-8E42BD7365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3724275"/>
            <a:ext cx="2057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3D9DE"/>
          </a:solidFill>
          <a:ln xmlns:a="http://schemas.openxmlformats.org/drawingml/2006/main" w="0">
            <a:solidFill>
              <a:srgbClr val="D3D9DE"/>
            </a:solidFill>
            <a:prstDash val="solid"/>
          </a:ln>
        </p:spPr>
      </p:sp>
      <p:sp>
        <p:nvSpPr>
          <p:cNvPr id="16" name="rect-47">
            <a:extLst xmlns:a="http://schemas.openxmlformats.org/drawingml/2006/main">
              <a:ext uri="{FF2B5EF4-FFF2-40B4-BE49-F238E27FC236}">
                <a16:creationId xmlns:a16="http://schemas.microsoft.com/office/drawing/2014/main" id="{4966F616-8EA7-47E2-8FD3-D4C6344F9A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3962400"/>
            <a:ext cx="2057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3D9DE"/>
          </a:solidFill>
          <a:ln xmlns:a="http://schemas.openxmlformats.org/drawingml/2006/main" w="0">
            <a:solidFill>
              <a:srgbClr val="D3D9DE"/>
            </a:solidFill>
            <a:prstDash val="solid"/>
          </a:ln>
        </p:spPr>
      </p:sp>
      <p:sp>
        <p:nvSpPr>
          <p:cNvPr id="17" name="rect-48">
            <a:extLst xmlns:a="http://schemas.openxmlformats.org/drawingml/2006/main">
              <a:ext uri="{FF2B5EF4-FFF2-40B4-BE49-F238E27FC236}">
                <a16:creationId xmlns:a16="http://schemas.microsoft.com/office/drawing/2014/main" id="{77F55F6D-867F-4377-868D-7196E536F0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3371850"/>
            <a:ext cx="72009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8687"/>
          </a:solidFill>
          <a:ln xmlns:a="http://schemas.openxmlformats.org/drawingml/2006/main" w="0">
            <a:solidFill>
              <a:srgbClr val="0B8687"/>
            </a:solidFill>
            <a:prstDash val="solid"/>
          </a:ln>
        </p:spPr>
      </p:sp>
      <p:sp>
        <p:nvSpPr>
          <p:cNvPr id="18" name="rect-49">
            <a:extLst xmlns:a="http://schemas.openxmlformats.org/drawingml/2006/main">
              <a:ext uri="{FF2B5EF4-FFF2-40B4-BE49-F238E27FC236}">
                <a16:creationId xmlns:a16="http://schemas.microsoft.com/office/drawing/2014/main" id="{FE173DB6-3336-444C-8C26-AD89AE2355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3609975"/>
            <a:ext cx="72009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8C2"/>
          </a:solidFill>
          <a:ln xmlns:a="http://schemas.openxmlformats.org/drawingml/2006/main" w="0">
            <a:solidFill>
              <a:srgbClr val="AEB8C2"/>
            </a:solidFill>
            <a:prstDash val="solid"/>
          </a:ln>
        </p:spPr>
      </p:sp>
      <p:sp>
        <p:nvSpPr>
          <p:cNvPr id="19" name="rect-50">
            <a:extLst xmlns:a="http://schemas.openxmlformats.org/drawingml/2006/main">
              <a:ext uri="{FF2B5EF4-FFF2-40B4-BE49-F238E27FC236}">
                <a16:creationId xmlns:a16="http://schemas.microsoft.com/office/drawing/2014/main" id="{9DEBC08A-CDDB-4C2C-9C79-657DDFCE62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3848100"/>
            <a:ext cx="72009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8C2"/>
          </a:solidFill>
          <a:ln xmlns:a="http://schemas.openxmlformats.org/drawingml/2006/main" w="0">
            <a:solidFill>
              <a:srgbClr val="AEB8C2"/>
            </a:solidFill>
            <a:prstDash val="solid"/>
          </a:ln>
        </p:spPr>
      </p:sp>
      <p:sp>
        <p:nvSpPr>
          <p:cNvPr id="20" name="rect-51">
            <a:extLst xmlns:a="http://schemas.openxmlformats.org/drawingml/2006/main">
              <a:ext uri="{FF2B5EF4-FFF2-40B4-BE49-F238E27FC236}">
                <a16:creationId xmlns:a16="http://schemas.microsoft.com/office/drawing/2014/main" id="{A6982F7A-4380-4E86-8226-43981BB5EF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4676775"/>
            <a:ext cx="84201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8C2"/>
          </a:solidFill>
          <a:ln xmlns:a="http://schemas.openxmlformats.org/drawingml/2006/main" w="0">
            <a:solidFill>
              <a:srgbClr val="AEB8C2"/>
            </a:solidFill>
            <a:prstDash val="solid"/>
          </a:ln>
        </p:spPr>
      </p:sp>
      <p:sp>
        <p:nvSpPr>
          <p:cNvPr id="21" name="textbox-52">
            <a:extLst xmlns:a="http://schemas.openxmlformats.org/drawingml/2006/main">
              <a:ext uri="{FF2B5EF4-FFF2-40B4-BE49-F238E27FC236}">
                <a16:creationId xmlns:a16="http://schemas.microsoft.com/office/drawing/2014/main" id="{4E24D5D6-0DD6-47C9-A8D2-4468D3407E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4448175"/>
            <a:ext cx="3619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071B3D"/>
                </a:solidFill>
              </a:defRPr>
            </a:pPr>
            <a:r>
              <a:rPr sz="2100" b="1">
                <a:solidFill>
                  <a:srgbClr val="071B3D"/>
                </a:solidFill>
              </a:rPr>
              <a:t>£</a:t>
            </a:r>
          </a:p>
        </p:txBody>
      </p:sp>
      <p:sp>
        <p:nvSpPr>
          <p:cNvPr id="22" name="ellipse-53">
            <a:extLst xmlns:a="http://schemas.openxmlformats.org/drawingml/2006/main">
              <a:ext uri="{FF2B5EF4-FFF2-40B4-BE49-F238E27FC236}">
                <a16:creationId xmlns:a16="http://schemas.microsoft.com/office/drawing/2014/main" id="{84F143C7-5A68-476D-83ED-CAE781BEE5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43225" y="2066925"/>
            <a:ext cx="1123950" cy="1123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0B8687"/>
            </a:solidFill>
            <a:prstDash val="solid"/>
          </a:ln>
        </p:spPr>
      </p:sp>
      <p:sp>
        <p:nvSpPr>
          <p:cNvPr id="23" name="textbox-54">
            <a:extLst xmlns:a="http://schemas.openxmlformats.org/drawingml/2006/main">
              <a:ext uri="{FF2B5EF4-FFF2-40B4-BE49-F238E27FC236}">
                <a16:creationId xmlns:a16="http://schemas.microsoft.com/office/drawing/2014/main" id="{2BA5CAB7-6E17-4D6D-B758-FD2A7D1969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43225" y="2076450"/>
            <a:ext cx="112395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3150" b="1">
                <a:solidFill>
                  <a:srgbClr val="0B8687"/>
                </a:solidFill>
              </a:defRPr>
            </a:pPr>
            <a:r>
              <a:rPr sz="3150" b="1">
                <a:solidFill>
                  <a:srgbClr val="0B8687"/>
                </a:solidFill>
              </a:rPr>
              <a:t>≠</a:t>
            </a:r>
          </a:p>
        </p:txBody>
      </p:sp>
      <p:sp>
        <p:nvSpPr>
          <p:cNvPr id="24" name="ellipse-55">
            <a:extLst xmlns:a="http://schemas.openxmlformats.org/drawingml/2006/main">
              <a:ext uri="{FF2B5EF4-FFF2-40B4-BE49-F238E27FC236}">
                <a16:creationId xmlns:a16="http://schemas.microsoft.com/office/drawing/2014/main" id="{36506698-969F-4B50-9138-A155D51D73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43225" y="3771900"/>
            <a:ext cx="1123950" cy="1123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0B8687"/>
            </a:solidFill>
            <a:prstDash val="solid"/>
          </a:ln>
        </p:spPr>
      </p:sp>
      <p:sp>
        <p:nvSpPr>
          <p:cNvPr id="25" name="textbox-56">
            <a:extLst xmlns:a="http://schemas.openxmlformats.org/drawingml/2006/main">
              <a:ext uri="{FF2B5EF4-FFF2-40B4-BE49-F238E27FC236}">
                <a16:creationId xmlns:a16="http://schemas.microsoft.com/office/drawing/2014/main" id="{A42AB90C-9A14-48FE-9774-C918F8F8F2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43225" y="3781425"/>
            <a:ext cx="112395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3150" b="1">
                <a:solidFill>
                  <a:srgbClr val="0B8687"/>
                </a:solidFill>
              </a:defRPr>
            </a:pPr>
            <a:r>
              <a:rPr sz="3150" b="1">
                <a:solidFill>
                  <a:srgbClr val="0B8687"/>
                </a:solidFill>
              </a:rPr>
              <a:t>◷</a:t>
            </a:r>
          </a:p>
        </p:txBody>
      </p:sp>
      <p:sp>
        <p:nvSpPr>
          <p:cNvPr id="26" name="ellipse-57">
            <a:extLst xmlns:a="http://schemas.openxmlformats.org/drawingml/2006/main">
              <a:ext uri="{FF2B5EF4-FFF2-40B4-BE49-F238E27FC236}">
                <a16:creationId xmlns:a16="http://schemas.microsoft.com/office/drawing/2014/main" id="{B11F5322-8E0B-4571-98EE-8C293AB83F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066925"/>
            <a:ext cx="1123950" cy="1123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0B8687"/>
            </a:solidFill>
            <a:prstDash val="solid"/>
          </a:ln>
        </p:spPr>
      </p:sp>
      <p:sp>
        <p:nvSpPr>
          <p:cNvPr id="27" name="textbox-58">
            <a:extLst xmlns:a="http://schemas.openxmlformats.org/drawingml/2006/main">
              <a:ext uri="{FF2B5EF4-FFF2-40B4-BE49-F238E27FC236}">
                <a16:creationId xmlns:a16="http://schemas.microsoft.com/office/drawing/2014/main" id="{842F256B-8718-490B-B210-1DBCD1A7FD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076450"/>
            <a:ext cx="112395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3150" b="1">
                <a:solidFill>
                  <a:srgbClr val="0B8687"/>
                </a:solidFill>
              </a:defRPr>
            </a:pPr>
            <a:r>
              <a:rPr sz="3150" b="1">
                <a:solidFill>
                  <a:srgbClr val="0B8687"/>
                </a:solidFill>
              </a:rPr>
              <a:t>£</a:t>
            </a:r>
          </a:p>
        </p:txBody>
      </p:sp>
      <p:sp>
        <p:nvSpPr>
          <p:cNvPr id="28" name="ellipse-59">
            <a:extLst xmlns:a="http://schemas.openxmlformats.org/drawingml/2006/main">
              <a:ext uri="{FF2B5EF4-FFF2-40B4-BE49-F238E27FC236}">
                <a16:creationId xmlns:a16="http://schemas.microsoft.com/office/drawing/2014/main" id="{6A3429F8-F117-4410-AF22-B8793EDF77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771900"/>
            <a:ext cx="1123950" cy="1123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E85D4A"/>
            </a:solidFill>
            <a:prstDash val="solid"/>
          </a:ln>
        </p:spPr>
      </p:sp>
      <p:sp>
        <p:nvSpPr>
          <p:cNvPr id="29" name="textbox-60">
            <a:extLst xmlns:a="http://schemas.openxmlformats.org/drawingml/2006/main">
              <a:ext uri="{FF2B5EF4-FFF2-40B4-BE49-F238E27FC236}">
                <a16:creationId xmlns:a16="http://schemas.microsoft.com/office/drawing/2014/main" id="{38D37874-95B1-44B5-8549-BAC07D409B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781425"/>
            <a:ext cx="112395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3300" b="1">
                <a:solidFill>
                  <a:srgbClr val="E85D4A"/>
                </a:solidFill>
              </a:defRPr>
            </a:pPr>
            <a:r>
              <a:rPr sz="3300" b="1">
                <a:solidFill>
                  <a:srgbClr val="E85D4A"/>
                </a:solidFill>
              </a:rPr>
              <a:t>!</a:t>
            </a:r>
          </a:p>
        </p:txBody>
      </p:sp>
      <p:sp>
        <p:nvSpPr>
          <p:cNvPr id="30" name="textbox-61">
            <a:extLst xmlns:a="http://schemas.openxmlformats.org/drawingml/2006/main">
              <a:ext uri="{FF2B5EF4-FFF2-40B4-BE49-F238E27FC236}">
                <a16:creationId xmlns:a16="http://schemas.microsoft.com/office/drawing/2014/main" id="{50381C8C-8297-492F-B966-B05C84630A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190750"/>
            <a:ext cx="238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096C6D"/>
                </a:solidFill>
              </a:defRPr>
            </a:pPr>
            <a:r>
              <a:rPr sz="1650" b="1">
                <a:solidFill>
                  <a:srgbClr val="096C6D"/>
                </a:solidFill>
              </a:rPr>
              <a:t>Inconsistent descriptions</a:t>
            </a:r>
          </a:p>
        </p:txBody>
      </p:sp>
      <p:sp>
        <p:nvSpPr>
          <p:cNvPr id="31" name="textbox-62">
            <a:extLst xmlns:a="http://schemas.openxmlformats.org/drawingml/2006/main">
              <a:ext uri="{FF2B5EF4-FFF2-40B4-BE49-F238E27FC236}">
                <a16:creationId xmlns:a16="http://schemas.microsoft.com/office/drawing/2014/main" id="{581121A6-8F0A-433D-8C93-F688789FAD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533650"/>
            <a:ext cx="2381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071B3D"/>
                </a:solidFill>
              </a:defRPr>
            </a:pPr>
            <a:r>
              <a:rPr sz="1350">
                <a:solidFill>
                  <a:srgbClr val="071B3D"/>
                </a:solidFill>
              </a:rPr>
              <a:t>The same repair can appear</a:t>
            </a:r>
          </a:p>
          <a:p xmlns:a="http://schemas.openxmlformats.org/drawingml/2006/main">
            <a:pPr>
              <a:defRPr sz="1350">
                <a:solidFill>
                  <a:srgbClr val="071B3D"/>
                </a:solidFill>
              </a:defRPr>
            </a:pPr>
            <a:r>
              <a:rPr sz="1350">
                <a:solidFill>
                  <a:srgbClr val="071B3D"/>
                </a:solidFill>
              </a:rPr>
              <a:t>under different names.</a:t>
            </a:r>
          </a:p>
        </p:txBody>
      </p:sp>
      <p:sp>
        <p:nvSpPr>
          <p:cNvPr id="32" name="textbox-63">
            <a:extLst xmlns:a="http://schemas.openxmlformats.org/drawingml/2006/main">
              <a:ext uri="{FF2B5EF4-FFF2-40B4-BE49-F238E27FC236}">
                <a16:creationId xmlns:a16="http://schemas.microsoft.com/office/drawing/2014/main" id="{17C806F0-58FD-4BB3-A003-C8E1B20407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886200"/>
            <a:ext cx="238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096C6D"/>
                </a:solidFill>
              </a:defRPr>
            </a:pPr>
            <a:r>
              <a:rPr sz="1650" b="1">
                <a:solidFill>
                  <a:srgbClr val="096C6D"/>
                </a:solidFill>
              </a:rPr>
              <a:t>Manual review effort</a:t>
            </a:r>
          </a:p>
        </p:txBody>
      </p:sp>
      <p:sp>
        <p:nvSpPr>
          <p:cNvPr id="33" name="textbox-64">
            <a:extLst xmlns:a="http://schemas.openxmlformats.org/drawingml/2006/main">
              <a:ext uri="{FF2B5EF4-FFF2-40B4-BE49-F238E27FC236}">
                <a16:creationId xmlns:a16="http://schemas.microsoft.com/office/drawing/2014/main" id="{EBAD9DA2-0C01-4861-9500-844342B19C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229100"/>
            <a:ext cx="2381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071B3D"/>
                </a:solidFill>
              </a:defRPr>
            </a:pPr>
            <a:r>
              <a:rPr sz="1350">
                <a:solidFill>
                  <a:srgbClr val="071B3D"/>
                </a:solidFill>
              </a:rPr>
              <a:t>Calculation checks and</a:t>
            </a:r>
          </a:p>
          <a:p xmlns:a="http://schemas.openxmlformats.org/drawingml/2006/main">
            <a:pPr>
              <a:defRPr sz="1350">
                <a:solidFill>
                  <a:srgbClr val="071B3D"/>
                </a:solidFill>
              </a:defRPr>
            </a:pPr>
            <a:r>
              <a:rPr sz="1350">
                <a:solidFill>
                  <a:srgbClr val="071B3D"/>
                </a:solidFill>
              </a:rPr>
              <a:t>evidence searches take time.</a:t>
            </a:r>
          </a:p>
        </p:txBody>
      </p:sp>
      <p:sp>
        <p:nvSpPr>
          <p:cNvPr id="34" name="textbox-65">
            <a:extLst xmlns:a="http://schemas.openxmlformats.org/drawingml/2006/main">
              <a:ext uri="{FF2B5EF4-FFF2-40B4-BE49-F238E27FC236}">
                <a16:creationId xmlns:a16="http://schemas.microsoft.com/office/drawing/2014/main" id="{9550B00A-3B3B-40B5-9EE3-7C828E0D10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2190750"/>
            <a:ext cx="23336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096C6D"/>
                </a:solidFill>
              </a:defRPr>
            </a:pPr>
            <a:r>
              <a:rPr sz="1650" b="1">
                <a:solidFill>
                  <a:srgbClr val="096C6D"/>
                </a:solidFill>
              </a:rPr>
              <a:t>Limited price context</a:t>
            </a:r>
          </a:p>
        </p:txBody>
      </p:sp>
      <p:sp>
        <p:nvSpPr>
          <p:cNvPr id="35" name="textbox-66">
            <a:extLst xmlns:a="http://schemas.openxmlformats.org/drawingml/2006/main">
              <a:ext uri="{FF2B5EF4-FFF2-40B4-BE49-F238E27FC236}">
                <a16:creationId xmlns:a16="http://schemas.microsoft.com/office/drawing/2014/main" id="{A5AA30D1-7DCC-45DF-BF8D-2EFC4FE178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2533650"/>
            <a:ext cx="233362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071B3D"/>
                </a:solidFill>
              </a:defRPr>
            </a:pPr>
            <a:r>
              <a:rPr sz="1350">
                <a:solidFill>
                  <a:srgbClr val="071B3D"/>
                </a:solidFill>
              </a:rPr>
              <a:t>Handlers may not immediately see</a:t>
            </a:r>
          </a:p>
          <a:p xmlns:a="http://schemas.openxmlformats.org/drawingml/2006/main">
            <a:pPr>
              <a:defRPr sz="1350">
                <a:solidFill>
                  <a:srgbClr val="071B3D"/>
                </a:solidFill>
              </a:defRPr>
            </a:pPr>
            <a:r>
              <a:rPr sz="1350">
                <a:solidFill>
                  <a:srgbClr val="071B3D"/>
                </a:solidFill>
              </a:rPr>
              <a:t>comparable historical costs.</a:t>
            </a:r>
          </a:p>
        </p:txBody>
      </p:sp>
      <p:sp>
        <p:nvSpPr>
          <p:cNvPr id="36" name="textbox-67">
            <a:extLst xmlns:a="http://schemas.openxmlformats.org/drawingml/2006/main">
              <a:ext uri="{FF2B5EF4-FFF2-40B4-BE49-F238E27FC236}">
                <a16:creationId xmlns:a16="http://schemas.microsoft.com/office/drawing/2014/main" id="{962ED34F-C34D-4446-BE2B-1B78CAB147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3886200"/>
            <a:ext cx="23336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096C6D"/>
                </a:solidFill>
              </a:defRPr>
            </a:pPr>
            <a:r>
              <a:rPr sz="1650" b="1">
                <a:solidFill>
                  <a:srgbClr val="096C6D"/>
                </a:solidFill>
              </a:rPr>
              <a:t>Difficult challenges</a:t>
            </a:r>
          </a:p>
        </p:txBody>
      </p:sp>
      <p:sp>
        <p:nvSpPr>
          <p:cNvPr id="37" name="textbox-68">
            <a:extLst xmlns:a="http://schemas.openxmlformats.org/drawingml/2006/main">
              <a:ext uri="{FF2B5EF4-FFF2-40B4-BE49-F238E27FC236}">
                <a16:creationId xmlns:a16="http://schemas.microsoft.com/office/drawing/2014/main" id="{8D870AE2-B3B5-4CAA-8F9D-060763EF2A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4229100"/>
            <a:ext cx="233362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071B3D"/>
                </a:solidFill>
              </a:defRPr>
            </a:pPr>
            <a:r>
              <a:rPr sz="1350">
                <a:solidFill>
                  <a:srgbClr val="071B3D"/>
                </a:solidFill>
              </a:rPr>
              <a:t>Price challenges are weaker</a:t>
            </a:r>
          </a:p>
          <a:p xmlns:a="http://schemas.openxmlformats.org/drawingml/2006/main">
            <a:pPr>
              <a:defRPr sz="1350">
                <a:solidFill>
                  <a:srgbClr val="071B3D"/>
                </a:solidFill>
              </a:defRPr>
            </a:pPr>
            <a:r>
              <a:rPr sz="1350">
                <a:solidFill>
                  <a:srgbClr val="071B3D"/>
                </a:solidFill>
              </a:rPr>
              <a:t>without clear supporting evidence.</a:t>
            </a:r>
          </a:p>
        </p:txBody>
      </p:sp>
      <p:sp>
        <p:nvSpPr>
          <p:cNvPr id="38" name="rect-69">
            <a:extLst xmlns:a="http://schemas.openxmlformats.org/drawingml/2006/main">
              <a:ext uri="{FF2B5EF4-FFF2-40B4-BE49-F238E27FC236}">
                <a16:creationId xmlns:a16="http://schemas.microsoft.com/office/drawing/2014/main" id="{70063918-BAC5-4C4B-AD96-B4E7E629ED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5829300"/>
            <a:ext cx="10287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8687"/>
          </a:solidFill>
          <a:ln xmlns:a="http://schemas.openxmlformats.org/drawingml/2006/main" w="0">
            <a:solidFill>
              <a:srgbClr val="0B8687"/>
            </a:solidFill>
            <a:prstDash val="solid"/>
          </a:ln>
        </p:spPr>
      </p:sp>
      <p:sp>
        <p:nvSpPr>
          <p:cNvPr id="39" name="ellipse-70">
            <a:extLst xmlns:a="http://schemas.openxmlformats.org/drawingml/2006/main">
              <a:ext uri="{FF2B5EF4-FFF2-40B4-BE49-F238E27FC236}">
                <a16:creationId xmlns:a16="http://schemas.microsoft.com/office/drawing/2014/main" id="{70520C6A-6F77-4677-B110-D005D10E0B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5562600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B8687"/>
          </a:solidFill>
          <a:ln xmlns:a="http://schemas.openxmlformats.org/drawingml/2006/main" w="19050">
            <a:solidFill>
              <a:srgbClr val="0B8687"/>
            </a:solidFill>
            <a:prstDash val="solid"/>
          </a:ln>
        </p:spPr>
      </p:sp>
      <p:sp>
        <p:nvSpPr>
          <p:cNvPr id="40" name="textbox-71">
            <a:extLst xmlns:a="http://schemas.openxmlformats.org/drawingml/2006/main">
              <a:ext uri="{FF2B5EF4-FFF2-40B4-BE49-F238E27FC236}">
                <a16:creationId xmlns:a16="http://schemas.microsoft.com/office/drawing/2014/main" id="{D5ECC028-0FC6-4288-A9C1-FFAC3CA258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5572125"/>
            <a:ext cx="5143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0B8687"/>
                </a:solidFill>
              </a:defRPr>
            </a:pPr>
            <a:r>
              <a:rPr sz="1950" b="1">
                <a:solidFill>
                  <a:srgbClr val="0B8687"/>
                </a:solidFill>
              </a:rPr>
              <a:t>✓</a:t>
            </a:r>
          </a:p>
        </p:txBody>
      </p:sp>
      <p:sp>
        <p:nvSpPr>
          <p:cNvPr id="41" name="textbox-72">
            <a:extLst xmlns:a="http://schemas.openxmlformats.org/drawingml/2006/main">
              <a:ext uri="{FF2B5EF4-FFF2-40B4-BE49-F238E27FC236}">
                <a16:creationId xmlns:a16="http://schemas.microsoft.com/office/drawing/2014/main" id="{D92EC7A3-C7AE-43EA-8706-518C15874C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5972175"/>
            <a:ext cx="9715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071B3D"/>
                </a:solidFill>
              </a:defRPr>
            </a:pPr>
            <a:r>
              <a:rPr sz="2100" b="1">
                <a:solidFill>
                  <a:srgbClr val="071B3D"/>
                </a:solidFill>
              </a:rPr>
              <a:t>Slower handling  •  Inconsistent decisions  •  Avoidable cost leakage</a:t>
            </a:r>
          </a:p>
        </p:txBody>
      </p:sp>
    </p:spTree>
    <p:extLst>
      <p:ext uri="{BB962C8B-B14F-4D97-AF65-F5344CB8AC3E}">
        <p14:creationId xmlns:p14="http://schemas.microsoft.com/office/powerpoint/2010/main" val="1791927687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CFB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3" name="rect-73">
            <a:extLst xmlns:a="http://schemas.openxmlformats.org/drawingml/2006/main">
              <a:ext uri="{FF2B5EF4-FFF2-40B4-BE49-F238E27FC236}">
                <a16:creationId xmlns:a16="http://schemas.microsoft.com/office/drawing/2014/main" id="{A7F609F5-E8AD-4C4E-9580-55A0631BC9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400050"/>
            <a:ext cx="66675" cy="981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8687"/>
          </a:solidFill>
          <a:ln xmlns:a="http://schemas.openxmlformats.org/drawingml/2006/main" w="0">
            <a:solidFill>
              <a:srgbClr val="0B8687"/>
            </a:solidFill>
            <a:prstDash val="solid"/>
          </a:ln>
        </p:spPr>
      </p:sp>
      <p:sp>
        <p:nvSpPr>
          <p:cNvPr id="2" name="textbox-74">
            <a:extLst xmlns:a="http://schemas.openxmlformats.org/drawingml/2006/main">
              <a:ext uri="{FF2B5EF4-FFF2-40B4-BE49-F238E27FC236}">
                <a16:creationId xmlns:a16="http://schemas.microsoft.com/office/drawing/2014/main" id="{E3E9815B-BBE4-4B22-8B53-7C23F81F53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42900"/>
            <a:ext cx="876300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071B3D"/>
                </a:solidFill>
              </a:defRPr>
            </a:pPr>
            <a:r>
              <a:rPr sz="3600" b="1">
                <a:solidFill>
                  <a:srgbClr val="071B3D"/>
                </a:solidFill>
              </a:rPr>
              <a:t>ClaimGuard converts invoices</a:t>
            </a:r>
          </a:p>
          <a:p xmlns:a="http://schemas.openxmlformats.org/drawingml/2006/main">
            <a:pPr>
              <a:defRPr sz="3600" b="1">
                <a:solidFill>
                  <a:srgbClr val="071B3D"/>
                </a:solidFill>
              </a:defRPr>
            </a:pPr>
            <a:r>
              <a:rPr sz="3600" b="1">
                <a:solidFill>
                  <a:srgbClr val="071B3D"/>
                </a:solidFill>
              </a:rPr>
              <a:t>into defensible review decisions</a:t>
            </a:r>
          </a:p>
        </p:txBody>
      </p:sp>
      <p:sp>
        <p:nvSpPr>
          <p:cNvPr id="3" name="rect-75">
            <a:extLst xmlns:a="http://schemas.openxmlformats.org/drawingml/2006/main">
              <a:ext uri="{FF2B5EF4-FFF2-40B4-BE49-F238E27FC236}">
                <a16:creationId xmlns:a16="http://schemas.microsoft.com/office/drawing/2014/main" id="{4BA5153C-D715-45A4-B489-F732DD6BE6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33775" y="3371850"/>
            <a:ext cx="63817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8687"/>
          </a:solidFill>
          <a:ln xmlns:a="http://schemas.openxmlformats.org/drawingml/2006/main" w="0">
            <a:solidFill>
              <a:srgbClr val="0B8687"/>
            </a:solidFill>
            <a:prstDash val="solid"/>
          </a:ln>
        </p:spPr>
      </p:sp>
      <p:sp>
        <p:nvSpPr>
          <p:cNvPr id="4" name="textbox-76">
            <a:extLst xmlns:a="http://schemas.openxmlformats.org/drawingml/2006/main">
              <a:ext uri="{FF2B5EF4-FFF2-40B4-BE49-F238E27FC236}">
                <a16:creationId xmlns:a16="http://schemas.microsoft.com/office/drawing/2014/main" id="{8C43C1A1-5AC0-43C0-BFC2-1B1813C209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3228975"/>
            <a:ext cx="2476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0B8687"/>
                </a:solidFill>
              </a:defRPr>
            </a:pPr>
            <a:r>
              <a:rPr sz="2550" b="1">
                <a:solidFill>
                  <a:srgbClr val="0B8687"/>
                </a:solidFill>
              </a:rPr>
              <a:t>›</a:t>
            </a:r>
          </a:p>
        </p:txBody>
      </p:sp>
      <p:sp>
        <p:nvSpPr>
          <p:cNvPr id="5" name="rect-77">
            <a:extLst xmlns:a="http://schemas.openxmlformats.org/drawingml/2006/main">
              <a:ext uri="{FF2B5EF4-FFF2-40B4-BE49-F238E27FC236}">
                <a16:creationId xmlns:a16="http://schemas.microsoft.com/office/drawing/2014/main" id="{9EF47FA8-13EF-400F-8308-BCF4E12A54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58075" y="3371850"/>
            <a:ext cx="63817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8687"/>
          </a:solidFill>
          <a:ln xmlns:a="http://schemas.openxmlformats.org/drawingml/2006/main" w="0">
            <a:solidFill>
              <a:srgbClr val="0B8687"/>
            </a:solidFill>
            <a:prstDash val="solid"/>
          </a:ln>
        </p:spPr>
      </p:sp>
      <p:sp>
        <p:nvSpPr>
          <p:cNvPr id="6" name="textbox-78">
            <a:extLst xmlns:a="http://schemas.openxmlformats.org/drawingml/2006/main">
              <a:ext uri="{FF2B5EF4-FFF2-40B4-BE49-F238E27FC236}">
                <a16:creationId xmlns:a16="http://schemas.microsoft.com/office/drawing/2014/main" id="{B2457DFD-14EF-4B32-8160-7CF0A74AE9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3228975"/>
            <a:ext cx="2476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0B8687"/>
                </a:solidFill>
              </a:defRPr>
            </a:pPr>
            <a:r>
              <a:rPr sz="2550" b="1">
                <a:solidFill>
                  <a:srgbClr val="0B8687"/>
                </a:solidFill>
              </a:rPr>
              <a:t>›</a:t>
            </a:r>
          </a:p>
        </p:txBody>
      </p:sp>
      <p:sp>
        <p:nvSpPr>
          <p:cNvPr id="7" name="ellipse-79">
            <a:extLst xmlns:a="http://schemas.openxmlformats.org/drawingml/2006/main">
              <a:ext uri="{FF2B5EF4-FFF2-40B4-BE49-F238E27FC236}">
                <a16:creationId xmlns:a16="http://schemas.microsoft.com/office/drawing/2014/main" id="{ACA925AA-A389-4874-B2AE-E6022B3914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1752600"/>
            <a:ext cx="2762250" cy="2762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0B8687"/>
            </a:solidFill>
            <a:prstDash val="solid"/>
          </a:ln>
        </p:spPr>
      </p:sp>
      <p:sp>
        <p:nvSpPr>
          <p:cNvPr id="8" name="ellipse-80">
            <a:extLst xmlns:a="http://schemas.openxmlformats.org/drawingml/2006/main">
              <a:ext uri="{FF2B5EF4-FFF2-40B4-BE49-F238E27FC236}">
                <a16:creationId xmlns:a16="http://schemas.microsoft.com/office/drawing/2014/main" id="{2BC0A34F-C828-48EB-9C2D-B0B376FD20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14875" y="1752600"/>
            <a:ext cx="2762250" cy="2762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0B8687"/>
            </a:solidFill>
            <a:prstDash val="solid"/>
          </a:ln>
        </p:spPr>
      </p:sp>
      <p:sp>
        <p:nvSpPr>
          <p:cNvPr id="9" name="ellipse-81">
            <a:extLst xmlns:a="http://schemas.openxmlformats.org/drawingml/2006/main">
              <a:ext uri="{FF2B5EF4-FFF2-40B4-BE49-F238E27FC236}">
                <a16:creationId xmlns:a16="http://schemas.microsoft.com/office/drawing/2014/main" id="{2BB00281-3DD9-43EB-A883-F10BA1548C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15375" y="1752600"/>
            <a:ext cx="2762250" cy="2762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0B8687"/>
            </a:solidFill>
            <a:prstDash val="solid"/>
          </a:ln>
        </p:spPr>
      </p:sp>
      <p:sp>
        <p:nvSpPr>
          <p:cNvPr id="10" name="roundRect-82">
            <a:extLst xmlns:a="http://schemas.openxmlformats.org/drawingml/2006/main">
              <a:ext uri="{FF2B5EF4-FFF2-40B4-BE49-F238E27FC236}">
                <a16:creationId xmlns:a16="http://schemas.microsoft.com/office/drawing/2014/main" id="{32D69C8B-1511-4BFB-B149-5BEAE75C39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2076450"/>
            <a:ext cx="1428750" cy="2000250"/>
          </a:xfrm>
          <a:prstGeom xmlns:a="http://schemas.openxmlformats.org/drawingml/2006/main" prst="roundRect">
            <a:avLst>
              <a:gd name="adj" fmla="val 1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071B3D"/>
            </a:solidFill>
            <a:prstDash val="solid"/>
          </a:ln>
        </p:spPr>
      </p:sp>
      <p:sp>
        <p:nvSpPr>
          <p:cNvPr id="11" name="textbox-83">
            <a:extLst xmlns:a="http://schemas.openxmlformats.org/drawingml/2006/main">
              <a:ext uri="{FF2B5EF4-FFF2-40B4-BE49-F238E27FC236}">
                <a16:creationId xmlns:a16="http://schemas.microsoft.com/office/drawing/2014/main" id="{71EDAF35-D1C8-4EEC-955A-A94ABB24B0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2266950"/>
            <a:ext cx="1047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12" name="rect-84">
            <a:extLst xmlns:a="http://schemas.openxmlformats.org/drawingml/2006/main">
              <a:ext uri="{FF2B5EF4-FFF2-40B4-BE49-F238E27FC236}">
                <a16:creationId xmlns:a16="http://schemas.microsoft.com/office/drawing/2014/main" id="{AF04DA4E-8DD3-404D-9EB4-2F4DB0C389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2762250"/>
            <a:ext cx="642938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AA6B3"/>
          </a:solidFill>
          <a:ln xmlns:a="http://schemas.openxmlformats.org/drawingml/2006/main" w="0">
            <a:solidFill>
              <a:srgbClr val="9AA6B3"/>
            </a:solidFill>
            <a:prstDash val="solid"/>
          </a:ln>
        </p:spPr>
      </p:sp>
      <p:sp>
        <p:nvSpPr>
          <p:cNvPr id="13" name="rect-85">
            <a:extLst xmlns:a="http://schemas.openxmlformats.org/drawingml/2006/main">
              <a:ext uri="{FF2B5EF4-FFF2-40B4-BE49-F238E27FC236}">
                <a16:creationId xmlns:a16="http://schemas.microsoft.com/office/drawing/2014/main" id="{AFE31C3B-77F7-4F22-AAA2-B45DBE4E0F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2914650"/>
            <a:ext cx="485775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C1C9"/>
          </a:solidFill>
          <a:ln xmlns:a="http://schemas.openxmlformats.org/drawingml/2006/main" w="0">
            <a:solidFill>
              <a:srgbClr val="B9C1C9"/>
            </a:solidFill>
            <a:prstDash val="solid"/>
          </a:ln>
        </p:spPr>
      </p:sp>
      <p:sp>
        <p:nvSpPr>
          <p:cNvPr id="14" name="rect-86">
            <a:extLst xmlns:a="http://schemas.openxmlformats.org/drawingml/2006/main">
              <a:ext uri="{FF2B5EF4-FFF2-40B4-BE49-F238E27FC236}">
                <a16:creationId xmlns:a16="http://schemas.microsoft.com/office/drawing/2014/main" id="{09A0EE41-D827-4395-8A63-5E7024D830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3200400"/>
            <a:ext cx="1009650" cy="72009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BFC"/>
          </a:solidFill>
          <a:ln xmlns:a="http://schemas.openxmlformats.org/drawingml/2006/main" w="9525">
            <a:solidFill>
              <a:srgbClr val="AEB8C2"/>
            </a:solidFill>
            <a:prstDash val="solid"/>
          </a:ln>
        </p:spPr>
      </p:sp>
      <p:sp>
        <p:nvSpPr>
          <p:cNvPr id="15" name="rect-87">
            <a:extLst xmlns:a="http://schemas.openxmlformats.org/drawingml/2006/main">
              <a:ext uri="{FF2B5EF4-FFF2-40B4-BE49-F238E27FC236}">
                <a16:creationId xmlns:a16="http://schemas.microsoft.com/office/drawing/2014/main" id="{3188C189-3017-44BE-B884-BA9EFD463C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3467100"/>
            <a:ext cx="10096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8C2"/>
          </a:solidFill>
          <a:ln xmlns:a="http://schemas.openxmlformats.org/drawingml/2006/main" w="0">
            <a:solidFill>
              <a:srgbClr val="AEB8C2"/>
            </a:solidFill>
            <a:prstDash val="solid"/>
          </a:ln>
        </p:spPr>
      </p:sp>
      <p:sp>
        <p:nvSpPr>
          <p:cNvPr id="16" name="rect-88">
            <a:extLst xmlns:a="http://schemas.openxmlformats.org/drawingml/2006/main">
              <a:ext uri="{FF2B5EF4-FFF2-40B4-BE49-F238E27FC236}">
                <a16:creationId xmlns:a16="http://schemas.microsoft.com/office/drawing/2014/main" id="{BD7C48D7-A63B-4B35-BB18-8226AA452D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47697" y="3200400"/>
            <a:ext cx="9525" cy="72009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8C2"/>
          </a:solidFill>
          <a:ln xmlns:a="http://schemas.openxmlformats.org/drawingml/2006/main" w="0">
            <a:solidFill>
              <a:srgbClr val="AEB8C2"/>
            </a:solidFill>
            <a:prstDash val="solid"/>
          </a:ln>
        </p:spPr>
      </p:sp>
      <p:sp>
        <p:nvSpPr>
          <p:cNvPr id="17" name="rect-89">
            <a:extLst xmlns:a="http://schemas.openxmlformats.org/drawingml/2006/main">
              <a:ext uri="{FF2B5EF4-FFF2-40B4-BE49-F238E27FC236}">
                <a16:creationId xmlns:a16="http://schemas.microsoft.com/office/drawing/2014/main" id="{D8E3CD69-1CF7-420A-A128-1EDDF69BF3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3705225"/>
            <a:ext cx="10096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3D9DE"/>
          </a:solidFill>
          <a:ln xmlns:a="http://schemas.openxmlformats.org/drawingml/2006/main" w="0">
            <a:solidFill>
              <a:srgbClr val="D3D9DE"/>
            </a:solidFill>
            <a:prstDash val="solid"/>
          </a:ln>
        </p:spPr>
      </p:sp>
      <p:sp>
        <p:nvSpPr>
          <p:cNvPr id="18" name="rect-90">
            <a:extLst xmlns:a="http://schemas.openxmlformats.org/drawingml/2006/main">
              <a:ext uri="{FF2B5EF4-FFF2-40B4-BE49-F238E27FC236}">
                <a16:creationId xmlns:a16="http://schemas.microsoft.com/office/drawing/2014/main" id="{3CFA00E5-9245-42D3-A4AC-178D8FA90A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3943350"/>
            <a:ext cx="10096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3D9DE"/>
          </a:solidFill>
          <a:ln xmlns:a="http://schemas.openxmlformats.org/drawingml/2006/main" w="0">
            <a:solidFill>
              <a:srgbClr val="D3D9DE"/>
            </a:solidFill>
            <a:prstDash val="solid"/>
          </a:ln>
        </p:spPr>
      </p:sp>
      <p:sp>
        <p:nvSpPr>
          <p:cNvPr id="19" name="rect-91">
            <a:extLst xmlns:a="http://schemas.openxmlformats.org/drawingml/2006/main">
              <a:ext uri="{FF2B5EF4-FFF2-40B4-BE49-F238E27FC236}">
                <a16:creationId xmlns:a16="http://schemas.microsoft.com/office/drawing/2014/main" id="{F8509464-640B-4EDA-8BFE-9E9E1FAF52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4181475"/>
            <a:ext cx="10096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3D9DE"/>
          </a:solidFill>
          <a:ln xmlns:a="http://schemas.openxmlformats.org/drawingml/2006/main" w="0">
            <a:solidFill>
              <a:srgbClr val="D3D9DE"/>
            </a:solidFill>
            <a:prstDash val="solid"/>
          </a:ln>
        </p:spPr>
      </p:sp>
      <p:sp>
        <p:nvSpPr>
          <p:cNvPr id="20" name="rect-92">
            <a:extLst xmlns:a="http://schemas.openxmlformats.org/drawingml/2006/main">
              <a:ext uri="{FF2B5EF4-FFF2-40B4-BE49-F238E27FC236}">
                <a16:creationId xmlns:a16="http://schemas.microsoft.com/office/drawing/2014/main" id="{08B44F43-D0EE-4DBD-AC57-1CDF517998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3590925"/>
            <a:ext cx="353377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8687"/>
          </a:solidFill>
          <a:ln xmlns:a="http://schemas.openxmlformats.org/drawingml/2006/main" w="0">
            <a:solidFill>
              <a:srgbClr val="0B8687"/>
            </a:solidFill>
            <a:prstDash val="solid"/>
          </a:ln>
        </p:spPr>
      </p:sp>
      <p:sp>
        <p:nvSpPr>
          <p:cNvPr id="21" name="rect-93">
            <a:extLst xmlns:a="http://schemas.openxmlformats.org/drawingml/2006/main">
              <a:ext uri="{FF2B5EF4-FFF2-40B4-BE49-F238E27FC236}">
                <a16:creationId xmlns:a16="http://schemas.microsoft.com/office/drawing/2014/main" id="{CF9D95B6-5ADC-47D2-91F7-A72B7CF8B1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3829050"/>
            <a:ext cx="353377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8C2"/>
          </a:solidFill>
          <a:ln xmlns:a="http://schemas.openxmlformats.org/drawingml/2006/main" w="0">
            <a:solidFill>
              <a:srgbClr val="AEB8C2"/>
            </a:solidFill>
            <a:prstDash val="solid"/>
          </a:ln>
        </p:spPr>
      </p:sp>
      <p:sp>
        <p:nvSpPr>
          <p:cNvPr id="22" name="rect-94">
            <a:extLst xmlns:a="http://schemas.openxmlformats.org/drawingml/2006/main">
              <a:ext uri="{FF2B5EF4-FFF2-40B4-BE49-F238E27FC236}">
                <a16:creationId xmlns:a16="http://schemas.microsoft.com/office/drawing/2014/main" id="{4BF4E1A6-D40C-4EE7-929C-758425CEF8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4067175"/>
            <a:ext cx="353377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8C2"/>
          </a:solidFill>
          <a:ln xmlns:a="http://schemas.openxmlformats.org/drawingml/2006/main" w="0">
            <a:solidFill>
              <a:srgbClr val="AEB8C2"/>
            </a:solidFill>
            <a:prstDash val="solid"/>
          </a:ln>
        </p:spPr>
      </p:sp>
      <p:sp>
        <p:nvSpPr>
          <p:cNvPr id="23" name="rect-95">
            <a:extLst xmlns:a="http://schemas.openxmlformats.org/drawingml/2006/main">
              <a:ext uri="{FF2B5EF4-FFF2-40B4-BE49-F238E27FC236}">
                <a16:creationId xmlns:a16="http://schemas.microsoft.com/office/drawing/2014/main" id="{BEE08B2E-E838-40B1-8B20-06820EE89E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3562350"/>
            <a:ext cx="485775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8C2"/>
          </a:solidFill>
          <a:ln xmlns:a="http://schemas.openxmlformats.org/drawingml/2006/main" w="0">
            <a:solidFill>
              <a:srgbClr val="AEB8C2"/>
            </a:solidFill>
            <a:prstDash val="solid"/>
          </a:ln>
        </p:spPr>
      </p:sp>
      <p:sp>
        <p:nvSpPr>
          <p:cNvPr id="24" name="textbox-96">
            <a:extLst xmlns:a="http://schemas.openxmlformats.org/drawingml/2006/main">
              <a:ext uri="{FF2B5EF4-FFF2-40B4-BE49-F238E27FC236}">
                <a16:creationId xmlns:a16="http://schemas.microsoft.com/office/drawing/2014/main" id="{7D944DBB-A4DC-466B-B9F1-2781094478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28850" y="3333750"/>
            <a:ext cx="3619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071B3D"/>
                </a:solidFill>
              </a:defRPr>
            </a:pPr>
            <a:r>
              <a:rPr sz="2100" b="1">
                <a:solidFill>
                  <a:srgbClr val="071B3D"/>
                </a:solidFill>
              </a:rPr>
              <a:t>£</a:t>
            </a:r>
          </a:p>
        </p:txBody>
      </p:sp>
      <p:sp>
        <p:nvSpPr>
          <p:cNvPr id="25" name="ellipse-97">
            <a:extLst xmlns:a="http://schemas.openxmlformats.org/drawingml/2006/main">
              <a:ext uri="{FF2B5EF4-FFF2-40B4-BE49-F238E27FC236}">
                <a16:creationId xmlns:a16="http://schemas.microsoft.com/office/drawing/2014/main" id="{2A1F8193-30E1-44FC-8535-0F31ABB313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7950" y="3581400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B8687"/>
          </a:solidFill>
          <a:ln xmlns:a="http://schemas.openxmlformats.org/drawingml/2006/main" w="19050">
            <a:solidFill>
              <a:srgbClr val="0B8687"/>
            </a:solidFill>
            <a:prstDash val="solid"/>
          </a:ln>
        </p:spPr>
      </p:sp>
      <p:sp>
        <p:nvSpPr>
          <p:cNvPr id="26" name="textbox-98">
            <a:extLst xmlns:a="http://schemas.openxmlformats.org/drawingml/2006/main">
              <a:ext uri="{FF2B5EF4-FFF2-40B4-BE49-F238E27FC236}">
                <a16:creationId xmlns:a16="http://schemas.microsoft.com/office/drawing/2014/main" id="{A8C76A7D-18A8-46FF-B402-FC8ED96A57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7950" y="3590925"/>
            <a:ext cx="4572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0B8687"/>
                </a:solidFill>
              </a:defRPr>
            </a:pPr>
            <a:r>
              <a:rPr sz="1800" b="1">
                <a:solidFill>
                  <a:srgbClr val="0B8687"/>
                </a:solidFill>
              </a:rPr>
              <a:t>✓</a:t>
            </a:r>
          </a:p>
        </p:txBody>
      </p:sp>
      <p:sp>
        <p:nvSpPr>
          <p:cNvPr id="27" name="roundRect-99">
            <a:extLst xmlns:a="http://schemas.openxmlformats.org/drawingml/2006/main">
              <a:ext uri="{FF2B5EF4-FFF2-40B4-BE49-F238E27FC236}">
                <a16:creationId xmlns:a16="http://schemas.microsoft.com/office/drawing/2014/main" id="{A2F8401B-EFDC-43A8-BE8B-030B7ED073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2476500"/>
            <a:ext cx="1752600" cy="1066800"/>
          </a:xfrm>
          <a:prstGeom xmlns:a="http://schemas.openxmlformats.org/drawingml/2006/main" prst="roundRect">
            <a:avLst>
              <a:gd name="adj" fmla="val 17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071B3D"/>
            </a:solidFill>
            <a:prstDash val="solid"/>
          </a:ln>
        </p:spPr>
      </p:sp>
      <p:sp>
        <p:nvSpPr>
          <p:cNvPr id="28" name="rect-100">
            <a:extLst xmlns:a="http://schemas.openxmlformats.org/drawingml/2006/main">
              <a:ext uri="{FF2B5EF4-FFF2-40B4-BE49-F238E27FC236}">
                <a16:creationId xmlns:a16="http://schemas.microsoft.com/office/drawing/2014/main" id="{0374690E-A8BE-4D3E-92F2-44E4469E7F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2476500"/>
            <a:ext cx="8763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B3D"/>
          </a:solidFill>
          <a:ln xmlns:a="http://schemas.openxmlformats.org/drawingml/2006/main" w="0">
            <a:solidFill>
              <a:srgbClr val="071B3D"/>
            </a:solidFill>
            <a:prstDash val="solid"/>
          </a:ln>
        </p:spPr>
      </p:sp>
      <p:sp>
        <p:nvSpPr>
          <p:cNvPr id="29" name="rect-101">
            <a:extLst xmlns:a="http://schemas.openxmlformats.org/drawingml/2006/main">
              <a:ext uri="{FF2B5EF4-FFF2-40B4-BE49-F238E27FC236}">
                <a16:creationId xmlns:a16="http://schemas.microsoft.com/office/drawing/2014/main" id="{62FADAF0-EB44-4BC6-9C1D-A30C95F7AC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476500"/>
            <a:ext cx="8763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8687"/>
          </a:solidFill>
          <a:ln xmlns:a="http://schemas.openxmlformats.org/drawingml/2006/main" w="0">
            <a:solidFill>
              <a:srgbClr val="0B8687"/>
            </a:solidFill>
            <a:prstDash val="solid"/>
          </a:ln>
        </p:spPr>
      </p:sp>
      <p:sp>
        <p:nvSpPr>
          <p:cNvPr id="30" name="rect-102">
            <a:extLst xmlns:a="http://schemas.openxmlformats.org/drawingml/2006/main">
              <a:ext uri="{FF2B5EF4-FFF2-40B4-BE49-F238E27FC236}">
                <a16:creationId xmlns:a16="http://schemas.microsoft.com/office/drawing/2014/main" id="{ACDBC5F3-545A-4E0E-B1D7-212D7A85CA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72100" y="2867025"/>
            <a:ext cx="5143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C0C8"/>
          </a:solidFill>
          <a:ln xmlns:a="http://schemas.openxmlformats.org/drawingml/2006/main" w="0">
            <a:solidFill>
              <a:srgbClr val="B7C0C8"/>
            </a:solidFill>
            <a:prstDash val="solid"/>
          </a:ln>
        </p:spPr>
      </p:sp>
      <p:sp>
        <p:nvSpPr>
          <p:cNvPr id="31" name="rect-103">
            <a:extLst xmlns:a="http://schemas.openxmlformats.org/drawingml/2006/main">
              <a:ext uri="{FF2B5EF4-FFF2-40B4-BE49-F238E27FC236}">
                <a16:creationId xmlns:a16="http://schemas.microsoft.com/office/drawing/2014/main" id="{7BB749EF-75EA-4146-8EFF-DEADCE3DFA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2867025"/>
            <a:ext cx="3619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8687"/>
          </a:solidFill>
          <a:ln xmlns:a="http://schemas.openxmlformats.org/drawingml/2006/main" w="0">
            <a:solidFill>
              <a:srgbClr val="0B8687"/>
            </a:solidFill>
            <a:prstDash val="solid"/>
          </a:ln>
        </p:spPr>
      </p:sp>
      <p:sp>
        <p:nvSpPr>
          <p:cNvPr id="32" name="rect-104">
            <a:extLst xmlns:a="http://schemas.openxmlformats.org/drawingml/2006/main">
              <a:ext uri="{FF2B5EF4-FFF2-40B4-BE49-F238E27FC236}">
                <a16:creationId xmlns:a16="http://schemas.microsoft.com/office/drawing/2014/main" id="{A40FB420-2544-48F5-87BA-AB843F085D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72100" y="3076575"/>
            <a:ext cx="5143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C0C8"/>
          </a:solidFill>
          <a:ln xmlns:a="http://schemas.openxmlformats.org/drawingml/2006/main" w="0">
            <a:solidFill>
              <a:srgbClr val="B7C0C8"/>
            </a:solidFill>
            <a:prstDash val="solid"/>
          </a:ln>
        </p:spPr>
      </p:sp>
      <p:sp>
        <p:nvSpPr>
          <p:cNvPr id="33" name="rect-105">
            <a:extLst xmlns:a="http://schemas.openxmlformats.org/drawingml/2006/main">
              <a:ext uri="{FF2B5EF4-FFF2-40B4-BE49-F238E27FC236}">
                <a16:creationId xmlns:a16="http://schemas.microsoft.com/office/drawing/2014/main" id="{0A1EAA18-0002-4CF4-909B-D6A7605F68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3076575"/>
            <a:ext cx="3619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8687"/>
          </a:solidFill>
          <a:ln xmlns:a="http://schemas.openxmlformats.org/drawingml/2006/main" w="0">
            <a:solidFill>
              <a:srgbClr val="0B8687"/>
            </a:solidFill>
            <a:prstDash val="solid"/>
          </a:ln>
        </p:spPr>
      </p:sp>
      <p:sp>
        <p:nvSpPr>
          <p:cNvPr id="34" name="rect-106">
            <a:extLst xmlns:a="http://schemas.openxmlformats.org/drawingml/2006/main">
              <a:ext uri="{FF2B5EF4-FFF2-40B4-BE49-F238E27FC236}">
                <a16:creationId xmlns:a16="http://schemas.microsoft.com/office/drawing/2014/main" id="{3F33E5EE-ACD2-4276-BB50-A07A7B1C1C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72100" y="3286125"/>
            <a:ext cx="5143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C0C8"/>
          </a:solidFill>
          <a:ln xmlns:a="http://schemas.openxmlformats.org/drawingml/2006/main" w="0">
            <a:solidFill>
              <a:srgbClr val="B7C0C8"/>
            </a:solidFill>
            <a:prstDash val="solid"/>
          </a:ln>
        </p:spPr>
      </p:sp>
      <p:sp>
        <p:nvSpPr>
          <p:cNvPr id="35" name="rect-107">
            <a:extLst xmlns:a="http://schemas.openxmlformats.org/drawingml/2006/main">
              <a:ext uri="{FF2B5EF4-FFF2-40B4-BE49-F238E27FC236}">
                <a16:creationId xmlns:a16="http://schemas.microsoft.com/office/drawing/2014/main" id="{8976449F-B050-427C-B94C-D4AA83E602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3286125"/>
            <a:ext cx="3619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8687"/>
          </a:solidFill>
          <a:ln xmlns:a="http://schemas.openxmlformats.org/drawingml/2006/main" w="0">
            <a:solidFill>
              <a:srgbClr val="0B8687"/>
            </a:solidFill>
            <a:prstDash val="solid"/>
          </a:ln>
        </p:spPr>
      </p:sp>
      <p:sp>
        <p:nvSpPr>
          <p:cNvPr id="36" name="rect-108">
            <a:extLst xmlns:a="http://schemas.openxmlformats.org/drawingml/2006/main">
              <a:ext uri="{FF2B5EF4-FFF2-40B4-BE49-F238E27FC236}">
                <a16:creationId xmlns:a16="http://schemas.microsoft.com/office/drawing/2014/main" id="{A1E3CC8C-137D-4770-9C9E-EC8A55DC10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95925" y="4200525"/>
            <a:ext cx="12001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D99A5"/>
          </a:solidFill>
          <a:ln xmlns:a="http://schemas.openxmlformats.org/drawingml/2006/main" w="0">
            <a:solidFill>
              <a:srgbClr val="8D99A5"/>
            </a:solidFill>
            <a:prstDash val="solid"/>
          </a:ln>
        </p:spPr>
      </p:sp>
      <p:sp>
        <p:nvSpPr>
          <p:cNvPr id="37" name="rect-109">
            <a:extLst xmlns:a="http://schemas.openxmlformats.org/drawingml/2006/main">
              <a:ext uri="{FF2B5EF4-FFF2-40B4-BE49-F238E27FC236}">
                <a16:creationId xmlns:a16="http://schemas.microsoft.com/office/drawing/2014/main" id="{B7A57F30-CB36-407D-AAED-8E9A095D16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95925" y="4022408"/>
            <a:ext cx="179070" cy="17811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0E4"/>
          </a:solidFill>
          <a:ln xmlns:a="http://schemas.openxmlformats.org/drawingml/2006/main" w="9525">
            <a:solidFill>
              <a:srgbClr val="AEB8C2"/>
            </a:solidFill>
            <a:prstDash val="solid"/>
          </a:ln>
        </p:spPr>
      </p:sp>
      <p:sp>
        <p:nvSpPr>
          <p:cNvPr id="38" name="rect-110">
            <a:extLst xmlns:a="http://schemas.openxmlformats.org/drawingml/2006/main">
              <a:ext uri="{FF2B5EF4-FFF2-40B4-BE49-F238E27FC236}">
                <a16:creationId xmlns:a16="http://schemas.microsoft.com/office/drawing/2014/main" id="{5804096C-24D6-456E-9081-0054D54D0E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1195" y="3886200"/>
            <a:ext cx="179070" cy="3143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0E4"/>
          </a:solidFill>
          <a:ln xmlns:a="http://schemas.openxmlformats.org/drawingml/2006/main" w="9525">
            <a:solidFill>
              <a:srgbClr val="AEB8C2"/>
            </a:solidFill>
            <a:prstDash val="solid"/>
          </a:ln>
        </p:spPr>
      </p:sp>
      <p:sp>
        <p:nvSpPr>
          <p:cNvPr id="39" name="rect-111">
            <a:extLst xmlns:a="http://schemas.openxmlformats.org/drawingml/2006/main">
              <a:ext uri="{FF2B5EF4-FFF2-40B4-BE49-F238E27FC236}">
                <a16:creationId xmlns:a16="http://schemas.microsoft.com/office/drawing/2014/main" id="{F8F45785-FB79-4429-BA16-B30E892C96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6465" y="3964781"/>
            <a:ext cx="179070" cy="23574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0E4"/>
          </a:solidFill>
          <a:ln xmlns:a="http://schemas.openxmlformats.org/drawingml/2006/main" w="9525">
            <a:solidFill>
              <a:srgbClr val="AEB8C2"/>
            </a:solidFill>
            <a:prstDash val="solid"/>
          </a:ln>
        </p:spPr>
      </p:sp>
      <p:sp>
        <p:nvSpPr>
          <p:cNvPr id="40" name="rect-112">
            <a:extLst xmlns:a="http://schemas.openxmlformats.org/drawingml/2006/main">
              <a:ext uri="{FF2B5EF4-FFF2-40B4-BE49-F238E27FC236}">
                <a16:creationId xmlns:a16="http://schemas.microsoft.com/office/drawing/2014/main" id="{76C06C9D-EC70-41D2-83D0-98CF0DD2C4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1735" y="3791903"/>
            <a:ext cx="179070" cy="40862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0E4"/>
          </a:solidFill>
          <a:ln xmlns:a="http://schemas.openxmlformats.org/drawingml/2006/main" w="9525">
            <a:solidFill>
              <a:srgbClr val="AEB8C2"/>
            </a:solidFill>
            <a:prstDash val="solid"/>
          </a:ln>
        </p:spPr>
      </p:sp>
      <p:sp>
        <p:nvSpPr>
          <p:cNvPr id="41" name="rect-113">
            <a:extLst xmlns:a="http://schemas.openxmlformats.org/drawingml/2006/main">
              <a:ext uri="{FF2B5EF4-FFF2-40B4-BE49-F238E27FC236}">
                <a16:creationId xmlns:a16="http://schemas.microsoft.com/office/drawing/2014/main" id="{7CE248A6-6D71-4D4F-BB7F-0A5284C9B0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7005" y="3896678"/>
            <a:ext cx="179070" cy="30384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8687"/>
          </a:solidFill>
          <a:ln xmlns:a="http://schemas.openxmlformats.org/drawingml/2006/main" w="9525">
            <a:solidFill>
              <a:srgbClr val="0B8687"/>
            </a:solidFill>
            <a:prstDash val="solid"/>
          </a:ln>
        </p:spPr>
      </p:sp>
      <p:sp>
        <p:nvSpPr>
          <p:cNvPr id="42" name="ellipse-114">
            <a:extLst xmlns:a="http://schemas.openxmlformats.org/drawingml/2006/main">
              <a:ext uri="{FF2B5EF4-FFF2-40B4-BE49-F238E27FC236}">
                <a16:creationId xmlns:a16="http://schemas.microsoft.com/office/drawing/2014/main" id="{ADE18FD5-1C87-4019-917D-45E8C038FB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2400300"/>
            <a:ext cx="762000" cy="762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B8687"/>
          </a:solidFill>
          <a:ln xmlns:a="http://schemas.openxmlformats.org/drawingml/2006/main" w="19050">
            <a:solidFill>
              <a:srgbClr val="0B8687"/>
            </a:solidFill>
            <a:prstDash val="solid"/>
          </a:ln>
        </p:spPr>
      </p:sp>
      <p:sp>
        <p:nvSpPr>
          <p:cNvPr id="43" name="textbox-115">
            <a:extLst xmlns:a="http://schemas.openxmlformats.org/drawingml/2006/main">
              <a:ext uri="{FF2B5EF4-FFF2-40B4-BE49-F238E27FC236}">
                <a16:creationId xmlns:a16="http://schemas.microsoft.com/office/drawing/2014/main" id="{D3C041CE-961D-4A1B-BCA3-85D8995F0B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2409825"/>
            <a:ext cx="7620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2850" b="1">
                <a:solidFill>
                  <a:srgbClr val="0B8687"/>
                </a:solidFill>
              </a:defRPr>
            </a:pPr>
            <a:r>
              <a:rPr sz="2850" b="1">
                <a:solidFill>
                  <a:srgbClr val="0B8687"/>
                </a:solidFill>
              </a:rPr>
              <a:t>✓</a:t>
            </a:r>
          </a:p>
        </p:txBody>
      </p:sp>
      <p:sp>
        <p:nvSpPr>
          <p:cNvPr id="44" name="roundRect-116">
            <a:extLst xmlns:a="http://schemas.openxmlformats.org/drawingml/2006/main">
              <a:ext uri="{FF2B5EF4-FFF2-40B4-BE49-F238E27FC236}">
                <a16:creationId xmlns:a16="http://schemas.microsoft.com/office/drawing/2014/main" id="{920EC212-D21B-4A0C-847F-9476C73825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3238500"/>
            <a:ext cx="1885950" cy="819150"/>
          </a:xfrm>
          <a:prstGeom xmlns:a="http://schemas.openxmlformats.org/drawingml/2006/main" prst="roundRect">
            <a:avLst>
              <a:gd name="adj" fmla="val 232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071B3D"/>
            </a:solidFill>
            <a:prstDash val="solid"/>
          </a:ln>
        </p:spPr>
      </p:sp>
      <p:sp>
        <p:nvSpPr>
          <p:cNvPr id="45" name="rect-117">
            <a:extLst xmlns:a="http://schemas.openxmlformats.org/drawingml/2006/main">
              <a:ext uri="{FF2B5EF4-FFF2-40B4-BE49-F238E27FC236}">
                <a16:creationId xmlns:a16="http://schemas.microsoft.com/office/drawing/2014/main" id="{2E8592B3-208C-4066-9315-3E491C7711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91675" y="3438525"/>
            <a:ext cx="10668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8687"/>
          </a:solidFill>
          <a:ln xmlns:a="http://schemas.openxmlformats.org/drawingml/2006/main" w="0">
            <a:solidFill>
              <a:srgbClr val="0B8687"/>
            </a:solidFill>
            <a:prstDash val="solid"/>
          </a:ln>
        </p:spPr>
      </p:sp>
      <p:sp>
        <p:nvSpPr>
          <p:cNvPr id="46" name="rect-118">
            <a:extLst xmlns:a="http://schemas.openxmlformats.org/drawingml/2006/main">
              <a:ext uri="{FF2B5EF4-FFF2-40B4-BE49-F238E27FC236}">
                <a16:creationId xmlns:a16="http://schemas.microsoft.com/office/drawing/2014/main" id="{284FE939-4F5F-4DA0-BB0A-8CF8BBF590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91675" y="3648075"/>
            <a:ext cx="8191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8687"/>
          </a:solidFill>
          <a:ln xmlns:a="http://schemas.openxmlformats.org/drawingml/2006/main" w="0">
            <a:solidFill>
              <a:srgbClr val="0B8687"/>
            </a:solidFill>
            <a:prstDash val="solid"/>
          </a:ln>
        </p:spPr>
      </p:sp>
      <p:sp>
        <p:nvSpPr>
          <p:cNvPr id="47" name="rect-119">
            <a:extLst xmlns:a="http://schemas.openxmlformats.org/drawingml/2006/main">
              <a:ext uri="{FF2B5EF4-FFF2-40B4-BE49-F238E27FC236}">
                <a16:creationId xmlns:a16="http://schemas.microsoft.com/office/drawing/2014/main" id="{83466A3B-BD15-47C2-BF06-6AF4C077CF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91675" y="3857625"/>
            <a:ext cx="9144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8687"/>
          </a:solidFill>
          <a:ln xmlns:a="http://schemas.openxmlformats.org/drawingml/2006/main" w="0">
            <a:solidFill>
              <a:srgbClr val="0B8687"/>
            </a:solidFill>
            <a:prstDash val="solid"/>
          </a:ln>
        </p:spPr>
      </p:sp>
      <p:sp>
        <p:nvSpPr>
          <p:cNvPr id="48" name="ellipse-120">
            <a:extLst xmlns:a="http://schemas.openxmlformats.org/drawingml/2006/main">
              <a:ext uri="{FF2B5EF4-FFF2-40B4-BE49-F238E27FC236}">
                <a16:creationId xmlns:a16="http://schemas.microsoft.com/office/drawing/2014/main" id="{99F93248-999D-429B-8100-085CB9ECDD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85950" y="4229100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71B3D"/>
          </a:solidFill>
          <a:ln xmlns:a="http://schemas.openxmlformats.org/drawingml/2006/main" w="0">
            <a:solidFill>
              <a:srgbClr val="071B3D"/>
            </a:solidFill>
            <a:prstDash val="solid"/>
          </a:ln>
        </p:spPr>
      </p:sp>
      <p:sp>
        <p:nvSpPr>
          <p:cNvPr id="49" name="textbox-121">
            <a:extLst xmlns:a="http://schemas.openxmlformats.org/drawingml/2006/main">
              <a:ext uri="{FF2B5EF4-FFF2-40B4-BE49-F238E27FC236}">
                <a16:creationId xmlns:a16="http://schemas.microsoft.com/office/drawing/2014/main" id="{6C15D8B5-ACC0-4B59-A1BE-16FC892BD0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85950" y="4238625"/>
            <a:ext cx="4191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FFFF"/>
                </a:solidFill>
              </a:defRPr>
            </a:pPr>
            <a:r>
              <a:rPr sz="165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50" name="ellipse-122">
            <a:extLst xmlns:a="http://schemas.openxmlformats.org/drawingml/2006/main">
              <a:ext uri="{FF2B5EF4-FFF2-40B4-BE49-F238E27FC236}">
                <a16:creationId xmlns:a16="http://schemas.microsoft.com/office/drawing/2014/main" id="{01CC02E3-551E-44CF-9F87-FCB405495D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6450" y="4229100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71B3D"/>
          </a:solidFill>
          <a:ln xmlns:a="http://schemas.openxmlformats.org/drawingml/2006/main" w="0">
            <a:solidFill>
              <a:srgbClr val="071B3D"/>
            </a:solidFill>
            <a:prstDash val="solid"/>
          </a:ln>
        </p:spPr>
      </p:sp>
      <p:sp>
        <p:nvSpPr>
          <p:cNvPr id="51" name="textbox-123">
            <a:extLst xmlns:a="http://schemas.openxmlformats.org/drawingml/2006/main">
              <a:ext uri="{FF2B5EF4-FFF2-40B4-BE49-F238E27FC236}">
                <a16:creationId xmlns:a16="http://schemas.microsoft.com/office/drawing/2014/main" id="{F3241EB1-A5B5-4222-9C57-66258826CA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6450" y="4238625"/>
            <a:ext cx="4191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FFFF"/>
                </a:solidFill>
              </a:defRPr>
            </a:pPr>
            <a:r>
              <a:rPr sz="165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52" name="ellipse-124">
            <a:extLst xmlns:a="http://schemas.openxmlformats.org/drawingml/2006/main">
              <a:ext uri="{FF2B5EF4-FFF2-40B4-BE49-F238E27FC236}">
                <a16:creationId xmlns:a16="http://schemas.microsoft.com/office/drawing/2014/main" id="{26897515-3193-4734-964C-5A18325A3F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86950" y="4229100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71B3D"/>
          </a:solidFill>
          <a:ln xmlns:a="http://schemas.openxmlformats.org/drawingml/2006/main" w="0">
            <a:solidFill>
              <a:srgbClr val="071B3D"/>
            </a:solidFill>
            <a:prstDash val="solid"/>
          </a:ln>
        </p:spPr>
      </p:sp>
      <p:sp>
        <p:nvSpPr>
          <p:cNvPr id="53" name="textbox-125">
            <a:extLst xmlns:a="http://schemas.openxmlformats.org/drawingml/2006/main">
              <a:ext uri="{FF2B5EF4-FFF2-40B4-BE49-F238E27FC236}">
                <a16:creationId xmlns:a16="http://schemas.microsoft.com/office/drawing/2014/main" id="{433B560D-6A3F-40E1-BA0D-8A29A9072F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86950" y="4238625"/>
            <a:ext cx="4191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FFFF"/>
                </a:solidFill>
              </a:defRPr>
            </a:pPr>
            <a:r>
              <a:rPr sz="165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54" name="textbox-126">
            <a:extLst xmlns:a="http://schemas.openxmlformats.org/drawingml/2006/main">
              <a:ext uri="{FF2B5EF4-FFF2-40B4-BE49-F238E27FC236}">
                <a16:creationId xmlns:a16="http://schemas.microsoft.com/office/drawing/2014/main" id="{44EF115B-F34C-444D-8F15-D008286D9E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4762500"/>
            <a:ext cx="3238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071B3D"/>
                </a:solidFill>
              </a:defRPr>
            </a:pPr>
            <a:r>
              <a:rPr sz="1575" b="1">
                <a:solidFill>
                  <a:srgbClr val="071B3D"/>
                </a:solidFill>
              </a:rPr>
              <a:t>Understand the invoice</a:t>
            </a:r>
          </a:p>
        </p:txBody>
      </p:sp>
      <p:sp>
        <p:nvSpPr>
          <p:cNvPr id="55" name="textbox-127">
            <a:extLst xmlns:a="http://schemas.openxmlformats.org/drawingml/2006/main">
              <a:ext uri="{FF2B5EF4-FFF2-40B4-BE49-F238E27FC236}">
                <a16:creationId xmlns:a16="http://schemas.microsoft.com/office/drawing/2014/main" id="{0C1641A5-3B45-4AEE-9319-5F8F89F5F1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5105400"/>
            <a:ext cx="3333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75">
                <a:solidFill>
                  <a:srgbClr val="071B3D"/>
                </a:solidFill>
              </a:defRPr>
            </a:pPr>
            <a:r>
              <a:rPr sz="1275">
                <a:solidFill>
                  <a:srgbClr val="071B3D"/>
                </a:solidFill>
              </a:rPr>
              <a:t>Extract repair lines, vehicle</a:t>
            </a:r>
          </a:p>
          <a:p xmlns:a="http://schemas.openxmlformats.org/drawingml/2006/main">
            <a:pPr algn="ctr">
              <a:defRPr sz="1275">
                <a:solidFill>
                  <a:srgbClr val="071B3D"/>
                </a:solidFill>
              </a:defRPr>
            </a:pPr>
            <a:r>
              <a:rPr sz="1275">
                <a:solidFill>
                  <a:srgbClr val="071B3D"/>
                </a:solidFill>
              </a:rPr>
              <a:t>details, VAT and totals</a:t>
            </a:r>
          </a:p>
        </p:txBody>
      </p:sp>
      <p:sp>
        <p:nvSpPr>
          <p:cNvPr id="56" name="textbox-128">
            <a:extLst xmlns:a="http://schemas.openxmlformats.org/drawingml/2006/main">
              <a:ext uri="{FF2B5EF4-FFF2-40B4-BE49-F238E27FC236}">
                <a16:creationId xmlns:a16="http://schemas.microsoft.com/office/drawing/2014/main" id="{82EE3D90-87FD-491A-80E2-9C327EAB40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4762500"/>
            <a:ext cx="3238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071B3D"/>
                </a:solidFill>
              </a:defRPr>
            </a:pPr>
            <a:r>
              <a:rPr sz="1575" b="1">
                <a:solidFill>
                  <a:srgbClr val="071B3D"/>
                </a:solidFill>
              </a:rPr>
              <a:t>Create a fair comparison</a:t>
            </a:r>
          </a:p>
        </p:txBody>
      </p:sp>
      <p:sp>
        <p:nvSpPr>
          <p:cNvPr id="57" name="textbox-129">
            <a:extLst xmlns:a="http://schemas.openxmlformats.org/drawingml/2006/main">
              <a:ext uri="{FF2B5EF4-FFF2-40B4-BE49-F238E27FC236}">
                <a16:creationId xmlns:a16="http://schemas.microsoft.com/office/drawing/2014/main" id="{5F6FE171-0C4A-4935-B5C9-3367448BE5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5105400"/>
            <a:ext cx="3333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75">
                <a:solidFill>
                  <a:srgbClr val="071B3D"/>
                </a:solidFill>
              </a:defRPr>
            </a:pPr>
            <a:r>
              <a:rPr sz="1275">
                <a:solidFill>
                  <a:srgbClr val="071B3D"/>
                </a:solidFill>
              </a:rPr>
              <a:t>Standardise descriptions and</a:t>
            </a:r>
          </a:p>
          <a:p xmlns:a="http://schemas.openxmlformats.org/drawingml/2006/main">
            <a:pPr algn="ctr">
              <a:defRPr sz="1275">
                <a:solidFill>
                  <a:srgbClr val="071B3D"/>
                </a:solidFill>
              </a:defRPr>
            </a:pPr>
            <a:r>
              <a:rPr sz="1275">
                <a:solidFill>
                  <a:srgbClr val="071B3D"/>
                </a:solidFill>
              </a:rPr>
              <a:t>compare historical prices</a:t>
            </a:r>
          </a:p>
        </p:txBody>
      </p:sp>
      <p:sp>
        <p:nvSpPr>
          <p:cNvPr id="58" name="textbox-130">
            <a:extLst xmlns:a="http://schemas.openxmlformats.org/drawingml/2006/main">
              <a:ext uri="{FF2B5EF4-FFF2-40B4-BE49-F238E27FC236}">
                <a16:creationId xmlns:a16="http://schemas.microsoft.com/office/drawing/2014/main" id="{C2B82DCC-74F0-4FCD-84F3-39170AEDE7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4762500"/>
            <a:ext cx="3238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071B3D"/>
                </a:solidFill>
              </a:defRPr>
            </a:pPr>
            <a:r>
              <a:rPr sz="1575" b="1">
                <a:solidFill>
                  <a:srgbClr val="071B3D"/>
                </a:solidFill>
              </a:rPr>
              <a:t>Support the handler’s decision</a:t>
            </a:r>
          </a:p>
        </p:txBody>
      </p:sp>
      <p:sp>
        <p:nvSpPr>
          <p:cNvPr id="59" name="textbox-131">
            <a:extLst xmlns:a="http://schemas.openxmlformats.org/drawingml/2006/main">
              <a:ext uri="{FF2B5EF4-FFF2-40B4-BE49-F238E27FC236}">
                <a16:creationId xmlns:a16="http://schemas.microsoft.com/office/drawing/2014/main" id="{B62E7AD1-B191-49A0-8C4B-27139E8D08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5105400"/>
            <a:ext cx="3333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75">
                <a:solidFill>
                  <a:srgbClr val="071B3D"/>
                </a:solidFill>
              </a:defRPr>
            </a:pPr>
            <a:r>
              <a:rPr sz="1275">
                <a:solidFill>
                  <a:srgbClr val="071B3D"/>
                </a:solidFill>
              </a:rPr>
              <a:t>Explain the result, show the evidence</a:t>
            </a:r>
          </a:p>
          <a:p xmlns:a="http://schemas.openxmlformats.org/drawingml/2006/main">
            <a:pPr algn="ctr">
              <a:defRPr sz="1275">
                <a:solidFill>
                  <a:srgbClr val="071B3D"/>
                </a:solidFill>
              </a:defRPr>
            </a:pPr>
            <a:r>
              <a:rPr sz="1275">
                <a:solidFill>
                  <a:srgbClr val="071B3D"/>
                </a:solidFill>
              </a:rPr>
              <a:t>and retain human control</a:t>
            </a:r>
          </a:p>
        </p:txBody>
      </p:sp>
      <p:sp>
        <p:nvSpPr>
          <p:cNvPr id="60" name="rect-132">
            <a:extLst xmlns:a="http://schemas.openxmlformats.org/drawingml/2006/main">
              <a:ext uri="{FF2B5EF4-FFF2-40B4-BE49-F238E27FC236}">
                <a16:creationId xmlns:a16="http://schemas.microsoft.com/office/drawing/2014/main" id="{114425C4-8F47-46D5-A487-5832E6ECB2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6257925"/>
            <a:ext cx="14287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8687"/>
          </a:solidFill>
          <a:ln xmlns:a="http://schemas.openxmlformats.org/drawingml/2006/main" w="0">
            <a:solidFill>
              <a:srgbClr val="0B8687"/>
            </a:solidFill>
            <a:prstDash val="solid"/>
          </a:ln>
        </p:spPr>
      </p:sp>
      <p:sp>
        <p:nvSpPr>
          <p:cNvPr id="61" name="rect-133">
            <a:extLst xmlns:a="http://schemas.openxmlformats.org/drawingml/2006/main">
              <a:ext uri="{FF2B5EF4-FFF2-40B4-BE49-F238E27FC236}">
                <a16:creationId xmlns:a16="http://schemas.microsoft.com/office/drawing/2014/main" id="{E142EAC8-57B9-43D8-A868-257F8ABC75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6257925"/>
            <a:ext cx="14287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8687"/>
          </a:solidFill>
          <a:ln xmlns:a="http://schemas.openxmlformats.org/drawingml/2006/main" w="0">
            <a:solidFill>
              <a:srgbClr val="0B8687"/>
            </a:solidFill>
            <a:prstDash val="solid"/>
          </a:ln>
        </p:spPr>
      </p:sp>
      <p:sp>
        <p:nvSpPr>
          <p:cNvPr id="62" name="textbox-134">
            <a:extLst xmlns:a="http://schemas.openxmlformats.org/drawingml/2006/main">
              <a:ext uri="{FF2B5EF4-FFF2-40B4-BE49-F238E27FC236}">
                <a16:creationId xmlns:a16="http://schemas.microsoft.com/office/drawing/2014/main" id="{B28D3AFD-FFB4-4761-A53D-B333860EA9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2625" y="6010275"/>
            <a:ext cx="8286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71B3D"/>
                </a:solidFill>
              </a:defRPr>
            </a:pPr>
            <a:r>
              <a:rPr sz="1725" b="1">
                <a:solidFill>
                  <a:srgbClr val="071B3D"/>
                </a:solidFill>
              </a:rPr>
              <a:t>ClaimGuard supports the decision — the claims handler remains in control.</a:t>
            </a:r>
          </a:p>
        </p:txBody>
      </p:sp>
    </p:spTree>
    <p:extLst>
      <p:ext uri="{BB962C8B-B14F-4D97-AF65-F5344CB8AC3E}">
        <p14:creationId xmlns:p14="http://schemas.microsoft.com/office/powerpoint/2010/main" val="804418896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CFB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9" name="textbox-135">
            <a:extLst xmlns:a="http://schemas.openxmlformats.org/drawingml/2006/main">
              <a:ext uri="{FF2B5EF4-FFF2-40B4-BE49-F238E27FC236}">
                <a16:creationId xmlns:a16="http://schemas.microsoft.com/office/drawing/2014/main" id="{1CAFB356-F17D-4CD1-9DD0-D099F69B43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400050"/>
            <a:ext cx="93345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071B3D"/>
                </a:solidFill>
              </a:defRPr>
            </a:pPr>
            <a:r>
              <a:rPr sz="3300" b="1">
                <a:solidFill>
                  <a:srgbClr val="071B3D"/>
                </a:solidFill>
              </a:rPr>
              <a:t>One connected workflow takes the</a:t>
            </a:r>
          </a:p>
          <a:p xmlns:a="http://schemas.openxmlformats.org/drawingml/2006/main">
            <a:pPr>
              <a:defRPr sz="3300" b="1">
                <a:solidFill>
                  <a:srgbClr val="071B3D"/>
                </a:solidFill>
              </a:defRPr>
            </a:pPr>
            <a:r>
              <a:rPr sz="3300" b="1">
                <a:solidFill>
                  <a:srgbClr val="071B3D"/>
                </a:solidFill>
              </a:rPr>
              <a:t>invoice from upload to audit</a:t>
            </a:r>
          </a:p>
        </p:txBody>
      </p:sp>
      <p:sp>
        <p:nvSpPr>
          <p:cNvPr id="2" name="rect-136">
            <a:extLst xmlns:a="http://schemas.openxmlformats.org/drawingml/2006/main">
              <a:ext uri="{FF2B5EF4-FFF2-40B4-BE49-F238E27FC236}">
                <a16:creationId xmlns:a16="http://schemas.microsoft.com/office/drawing/2014/main" id="{0C672A7B-1EA4-4694-92BB-3BF36D771E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2150" y="3352800"/>
            <a:ext cx="190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8687"/>
          </a:solidFill>
          <a:ln xmlns:a="http://schemas.openxmlformats.org/drawingml/2006/main" w="0">
            <a:solidFill>
              <a:srgbClr val="0B8687"/>
            </a:solidFill>
            <a:prstDash val="solid"/>
          </a:ln>
        </p:spPr>
      </p:sp>
      <p:sp>
        <p:nvSpPr>
          <p:cNvPr id="3" name="textbox-137">
            <a:extLst xmlns:a="http://schemas.openxmlformats.org/drawingml/2006/main">
              <a:ext uri="{FF2B5EF4-FFF2-40B4-BE49-F238E27FC236}">
                <a16:creationId xmlns:a16="http://schemas.microsoft.com/office/drawing/2014/main" id="{DBCA2FC3-6F89-4F5D-AC76-642F69B69C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76450" y="3209925"/>
            <a:ext cx="2476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0B8687"/>
                </a:solidFill>
              </a:defRPr>
            </a:pPr>
            <a:r>
              <a:rPr sz="2550" b="1">
                <a:solidFill>
                  <a:srgbClr val="0B8687"/>
                </a:solidFill>
              </a:rPr>
              <a:t>›</a:t>
            </a:r>
          </a:p>
        </p:txBody>
      </p:sp>
      <p:sp>
        <p:nvSpPr>
          <p:cNvPr id="4" name="rect-138">
            <a:extLst xmlns:a="http://schemas.openxmlformats.org/drawingml/2006/main">
              <a:ext uri="{FF2B5EF4-FFF2-40B4-BE49-F238E27FC236}">
                <a16:creationId xmlns:a16="http://schemas.microsoft.com/office/drawing/2014/main" id="{A7D0AC92-92B5-4F35-B32F-CB17DC5C3B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3352800"/>
            <a:ext cx="190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8687"/>
          </a:solidFill>
          <a:ln xmlns:a="http://schemas.openxmlformats.org/drawingml/2006/main" w="0">
            <a:solidFill>
              <a:srgbClr val="0B8687"/>
            </a:solidFill>
            <a:prstDash val="solid"/>
          </a:ln>
        </p:spPr>
      </p:sp>
      <p:sp>
        <p:nvSpPr>
          <p:cNvPr id="5" name="textbox-139">
            <a:extLst xmlns:a="http://schemas.openxmlformats.org/drawingml/2006/main">
              <a:ext uri="{FF2B5EF4-FFF2-40B4-BE49-F238E27FC236}">
                <a16:creationId xmlns:a16="http://schemas.microsoft.com/office/drawing/2014/main" id="{06419714-C825-4D74-8023-6504BF6148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71900" y="3209925"/>
            <a:ext cx="2476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0B8687"/>
                </a:solidFill>
              </a:defRPr>
            </a:pPr>
            <a:r>
              <a:rPr sz="2550" b="1">
                <a:solidFill>
                  <a:srgbClr val="0B8687"/>
                </a:solidFill>
              </a:rPr>
              <a:t>›</a:t>
            </a:r>
          </a:p>
        </p:txBody>
      </p:sp>
      <p:sp>
        <p:nvSpPr>
          <p:cNvPr id="6" name="rect-140">
            <a:extLst xmlns:a="http://schemas.openxmlformats.org/drawingml/2006/main">
              <a:ext uri="{FF2B5EF4-FFF2-40B4-BE49-F238E27FC236}">
                <a16:creationId xmlns:a16="http://schemas.microsoft.com/office/drawing/2014/main" id="{523D3F13-A3D5-45B2-A413-A8ED766444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53050" y="3352800"/>
            <a:ext cx="190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8687"/>
          </a:solidFill>
          <a:ln xmlns:a="http://schemas.openxmlformats.org/drawingml/2006/main" w="0">
            <a:solidFill>
              <a:srgbClr val="0B8687"/>
            </a:solidFill>
            <a:prstDash val="solid"/>
          </a:ln>
        </p:spPr>
      </p:sp>
      <p:sp>
        <p:nvSpPr>
          <p:cNvPr id="7" name="textbox-141">
            <a:extLst xmlns:a="http://schemas.openxmlformats.org/drawingml/2006/main">
              <a:ext uri="{FF2B5EF4-FFF2-40B4-BE49-F238E27FC236}">
                <a16:creationId xmlns:a16="http://schemas.microsoft.com/office/drawing/2014/main" id="{C57BC947-F397-4114-89A3-F0A31C5B90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7350" y="3209925"/>
            <a:ext cx="2476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0B8687"/>
                </a:solidFill>
              </a:defRPr>
            </a:pPr>
            <a:r>
              <a:rPr sz="2550" b="1">
                <a:solidFill>
                  <a:srgbClr val="0B8687"/>
                </a:solidFill>
              </a:rPr>
              <a:t>›</a:t>
            </a:r>
          </a:p>
        </p:txBody>
      </p:sp>
      <p:sp>
        <p:nvSpPr>
          <p:cNvPr id="8" name="rect-142">
            <a:extLst xmlns:a="http://schemas.openxmlformats.org/drawingml/2006/main">
              <a:ext uri="{FF2B5EF4-FFF2-40B4-BE49-F238E27FC236}">
                <a16:creationId xmlns:a16="http://schemas.microsoft.com/office/drawing/2014/main" id="{91A4CDEF-9689-4C63-8753-64CDE25DB2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3352800"/>
            <a:ext cx="190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8687"/>
          </a:solidFill>
          <a:ln xmlns:a="http://schemas.openxmlformats.org/drawingml/2006/main" w="0">
            <a:solidFill>
              <a:srgbClr val="0B8687"/>
            </a:solidFill>
            <a:prstDash val="solid"/>
          </a:ln>
        </p:spPr>
      </p:sp>
      <p:sp>
        <p:nvSpPr>
          <p:cNvPr id="9" name="textbox-143">
            <a:extLst xmlns:a="http://schemas.openxmlformats.org/drawingml/2006/main">
              <a:ext uri="{FF2B5EF4-FFF2-40B4-BE49-F238E27FC236}">
                <a16:creationId xmlns:a16="http://schemas.microsoft.com/office/drawing/2014/main" id="{968BC441-C4D2-4C11-9FA9-51439FC2EE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3209925"/>
            <a:ext cx="2476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0B8687"/>
                </a:solidFill>
              </a:defRPr>
            </a:pPr>
            <a:r>
              <a:rPr sz="2550" b="1">
                <a:solidFill>
                  <a:srgbClr val="0B8687"/>
                </a:solidFill>
              </a:rPr>
              <a:t>›</a:t>
            </a:r>
          </a:p>
        </p:txBody>
      </p:sp>
      <p:sp>
        <p:nvSpPr>
          <p:cNvPr id="10" name="rect-144">
            <a:extLst xmlns:a="http://schemas.openxmlformats.org/drawingml/2006/main">
              <a:ext uri="{FF2B5EF4-FFF2-40B4-BE49-F238E27FC236}">
                <a16:creationId xmlns:a16="http://schemas.microsoft.com/office/drawing/2014/main" id="{E19336D5-4CE2-456E-84E8-CD63633011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3352800"/>
            <a:ext cx="190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8687"/>
          </a:solidFill>
          <a:ln xmlns:a="http://schemas.openxmlformats.org/drawingml/2006/main" w="0">
            <a:solidFill>
              <a:srgbClr val="0B8687"/>
            </a:solidFill>
            <a:prstDash val="solid"/>
          </a:ln>
        </p:spPr>
      </p:sp>
      <p:sp>
        <p:nvSpPr>
          <p:cNvPr id="11" name="textbox-145">
            <a:extLst xmlns:a="http://schemas.openxmlformats.org/drawingml/2006/main">
              <a:ext uri="{FF2B5EF4-FFF2-40B4-BE49-F238E27FC236}">
                <a16:creationId xmlns:a16="http://schemas.microsoft.com/office/drawing/2014/main" id="{24DA3F6E-D572-4D96-9E70-F5526ECAF2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3209925"/>
            <a:ext cx="2476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0B8687"/>
                </a:solidFill>
              </a:defRPr>
            </a:pPr>
            <a:r>
              <a:rPr sz="2550" b="1">
                <a:solidFill>
                  <a:srgbClr val="0B8687"/>
                </a:solidFill>
              </a:rPr>
              <a:t>›</a:t>
            </a:r>
          </a:p>
        </p:txBody>
      </p:sp>
      <p:sp>
        <p:nvSpPr>
          <p:cNvPr id="12" name="rect-146">
            <a:extLst xmlns:a="http://schemas.openxmlformats.org/drawingml/2006/main">
              <a:ext uri="{FF2B5EF4-FFF2-40B4-BE49-F238E27FC236}">
                <a16:creationId xmlns:a16="http://schemas.microsoft.com/office/drawing/2014/main" id="{757BD228-A6F0-4D25-9FCC-D66903E1A4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39400" y="3352800"/>
            <a:ext cx="190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8687"/>
          </a:solidFill>
          <a:ln xmlns:a="http://schemas.openxmlformats.org/drawingml/2006/main" w="0">
            <a:solidFill>
              <a:srgbClr val="0B8687"/>
            </a:solidFill>
            <a:prstDash val="solid"/>
          </a:ln>
        </p:spPr>
      </p:sp>
      <p:sp>
        <p:nvSpPr>
          <p:cNvPr id="13" name="textbox-147">
            <a:extLst xmlns:a="http://schemas.openxmlformats.org/drawingml/2006/main">
              <a:ext uri="{FF2B5EF4-FFF2-40B4-BE49-F238E27FC236}">
                <a16:creationId xmlns:a16="http://schemas.microsoft.com/office/drawing/2014/main" id="{C01C10E6-D069-4D87-B158-695D9C347A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53700" y="3209925"/>
            <a:ext cx="2476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0B8687"/>
                </a:solidFill>
              </a:defRPr>
            </a:pPr>
            <a:r>
              <a:rPr sz="2550" b="1">
                <a:solidFill>
                  <a:srgbClr val="0B8687"/>
                </a:solidFill>
              </a:rPr>
              <a:t>›</a:t>
            </a:r>
          </a:p>
        </p:txBody>
      </p:sp>
      <p:sp>
        <p:nvSpPr>
          <p:cNvPr id="14" name="ellipse-148">
            <a:extLst xmlns:a="http://schemas.openxmlformats.org/drawingml/2006/main">
              <a:ext uri="{FF2B5EF4-FFF2-40B4-BE49-F238E27FC236}">
                <a16:creationId xmlns:a16="http://schemas.microsoft.com/office/drawing/2014/main" id="{92BABD7C-E60E-45A9-A4D1-0E64519D2B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" y="2143125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B8687"/>
          </a:solidFill>
          <a:ln xmlns:a="http://schemas.openxmlformats.org/drawingml/2006/main" w="0">
            <a:solidFill>
              <a:srgbClr val="0B8687"/>
            </a:solidFill>
            <a:prstDash val="solid"/>
          </a:ln>
        </p:spPr>
      </p:sp>
      <p:sp>
        <p:nvSpPr>
          <p:cNvPr id="15" name="textbox-149">
            <a:extLst xmlns:a="http://schemas.openxmlformats.org/drawingml/2006/main">
              <a:ext uri="{FF2B5EF4-FFF2-40B4-BE49-F238E27FC236}">
                <a16:creationId xmlns:a16="http://schemas.microsoft.com/office/drawing/2014/main" id="{A10C174D-2209-425A-AD66-6A94100303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" y="2152650"/>
            <a:ext cx="4000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FFFF"/>
                </a:solidFill>
              </a:defRPr>
            </a:pPr>
            <a:r>
              <a:rPr sz="165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16" name="ellipse-150">
            <a:extLst xmlns:a="http://schemas.openxmlformats.org/drawingml/2006/main">
              <a:ext uri="{FF2B5EF4-FFF2-40B4-BE49-F238E27FC236}">
                <a16:creationId xmlns:a16="http://schemas.microsoft.com/office/drawing/2014/main" id="{F280DB31-B54D-4633-BBFE-89497A908E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2714625"/>
            <a:ext cx="781050" cy="781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0B8687"/>
            </a:solidFill>
            <a:prstDash val="solid"/>
          </a:ln>
        </p:spPr>
      </p:sp>
      <p:sp>
        <p:nvSpPr>
          <p:cNvPr id="17" name="textbox-151">
            <a:extLst xmlns:a="http://schemas.openxmlformats.org/drawingml/2006/main">
              <a:ext uri="{FF2B5EF4-FFF2-40B4-BE49-F238E27FC236}">
                <a16:creationId xmlns:a16="http://schemas.microsoft.com/office/drawing/2014/main" id="{104CE735-D7D0-49E3-8E48-047B86C29E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2724150"/>
            <a:ext cx="7810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0B8687"/>
                </a:solidFill>
              </a:defRPr>
            </a:pPr>
            <a:r>
              <a:rPr sz="2400" b="1">
                <a:solidFill>
                  <a:srgbClr val="0B8687"/>
                </a:solidFill>
              </a:rPr>
              <a:t>⇧</a:t>
            </a:r>
          </a:p>
        </p:txBody>
      </p:sp>
      <p:sp>
        <p:nvSpPr>
          <p:cNvPr id="18" name="textbox-152">
            <a:extLst xmlns:a="http://schemas.openxmlformats.org/drawingml/2006/main">
              <a:ext uri="{FF2B5EF4-FFF2-40B4-BE49-F238E27FC236}">
                <a16:creationId xmlns:a16="http://schemas.microsoft.com/office/drawing/2014/main" id="{CE319695-1D47-4054-BF79-344C187761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3619500"/>
            <a:ext cx="16478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071B3D"/>
                </a:solidFill>
              </a:defRPr>
            </a:pPr>
            <a:r>
              <a:rPr sz="1500" b="1">
                <a:solidFill>
                  <a:srgbClr val="071B3D"/>
                </a:solidFill>
              </a:rPr>
              <a:t>1  Upload</a:t>
            </a:r>
          </a:p>
        </p:txBody>
      </p:sp>
      <p:sp>
        <p:nvSpPr>
          <p:cNvPr id="19" name="textbox-153">
            <a:extLst xmlns:a="http://schemas.openxmlformats.org/drawingml/2006/main">
              <a:ext uri="{FF2B5EF4-FFF2-40B4-BE49-F238E27FC236}">
                <a16:creationId xmlns:a16="http://schemas.microsoft.com/office/drawing/2014/main" id="{9A53FD38-FC32-40E9-BBC5-1DC1F41602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3971925"/>
            <a:ext cx="164782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125">
                <a:solidFill>
                  <a:srgbClr val="071B3D"/>
                </a:solidFill>
              </a:defRPr>
            </a:pPr>
            <a:r>
              <a:rPr sz="1125">
                <a:solidFill>
                  <a:srgbClr val="071B3D"/>
                </a:solidFill>
              </a:rPr>
              <a:t>Single, multiple or</a:t>
            </a:r>
          </a:p>
          <a:p xmlns:a="http://schemas.openxmlformats.org/drawingml/2006/main">
            <a:pPr algn="ctr">
              <a:defRPr sz="1125">
                <a:solidFill>
                  <a:srgbClr val="071B3D"/>
                </a:solidFill>
              </a:defRPr>
            </a:pPr>
            <a:r>
              <a:rPr sz="1125">
                <a:solidFill>
                  <a:srgbClr val="071B3D"/>
                </a:solidFill>
              </a:rPr>
              <a:t>folder PDFs</a:t>
            </a:r>
          </a:p>
        </p:txBody>
      </p:sp>
      <p:sp>
        <p:nvSpPr>
          <p:cNvPr id="20" name="rect-154">
            <a:extLst xmlns:a="http://schemas.openxmlformats.org/drawingml/2006/main">
              <a:ext uri="{FF2B5EF4-FFF2-40B4-BE49-F238E27FC236}">
                <a16:creationId xmlns:a16="http://schemas.microsoft.com/office/drawing/2014/main" id="{9B64F451-4557-43AC-9DDE-987478F19F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9775" y="2257425"/>
            <a:ext cx="9525" cy="2428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DADF"/>
          </a:solidFill>
          <a:ln xmlns:a="http://schemas.openxmlformats.org/drawingml/2006/main" w="0">
            <a:solidFill>
              <a:srgbClr val="D5DADF"/>
            </a:solidFill>
            <a:prstDash val="solid"/>
          </a:ln>
        </p:spPr>
      </p:sp>
      <p:sp>
        <p:nvSpPr>
          <p:cNvPr id="21" name="ellipse-155">
            <a:extLst xmlns:a="http://schemas.openxmlformats.org/drawingml/2006/main">
              <a:ext uri="{FF2B5EF4-FFF2-40B4-BE49-F238E27FC236}">
                <a16:creationId xmlns:a16="http://schemas.microsoft.com/office/drawing/2014/main" id="{5044F131-E6B1-4992-997D-97CF5DC14C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19375" y="2143125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B8687"/>
          </a:solidFill>
          <a:ln xmlns:a="http://schemas.openxmlformats.org/drawingml/2006/main" w="0">
            <a:solidFill>
              <a:srgbClr val="0B8687"/>
            </a:solidFill>
            <a:prstDash val="solid"/>
          </a:ln>
        </p:spPr>
      </p:sp>
      <p:sp>
        <p:nvSpPr>
          <p:cNvPr id="22" name="textbox-156">
            <a:extLst xmlns:a="http://schemas.openxmlformats.org/drawingml/2006/main">
              <a:ext uri="{FF2B5EF4-FFF2-40B4-BE49-F238E27FC236}">
                <a16:creationId xmlns:a16="http://schemas.microsoft.com/office/drawing/2014/main" id="{747C80B8-B6AD-4779-BC05-5B6A601BA1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19375" y="2152650"/>
            <a:ext cx="4000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FFFF"/>
                </a:solidFill>
              </a:defRPr>
            </a:pPr>
            <a:r>
              <a:rPr sz="165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23" name="ellipse-157">
            <a:extLst xmlns:a="http://schemas.openxmlformats.org/drawingml/2006/main">
              <a:ext uri="{FF2B5EF4-FFF2-40B4-BE49-F238E27FC236}">
                <a16:creationId xmlns:a16="http://schemas.microsoft.com/office/drawing/2014/main" id="{3CA1A3DC-A747-4CB7-B305-444657495A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28875" y="2714625"/>
            <a:ext cx="781050" cy="781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0B8687"/>
            </a:solidFill>
            <a:prstDash val="solid"/>
          </a:ln>
        </p:spPr>
      </p:sp>
      <p:sp>
        <p:nvSpPr>
          <p:cNvPr id="24" name="textbox-158">
            <a:extLst xmlns:a="http://schemas.openxmlformats.org/drawingml/2006/main">
              <a:ext uri="{FF2B5EF4-FFF2-40B4-BE49-F238E27FC236}">
                <a16:creationId xmlns:a16="http://schemas.microsoft.com/office/drawing/2014/main" id="{220ECBC8-7D39-4A4E-9070-5BF15CB3ED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28875" y="2724150"/>
            <a:ext cx="7810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0B8687"/>
                </a:solidFill>
              </a:defRPr>
            </a:pPr>
            <a:r>
              <a:rPr sz="2400" b="1">
                <a:solidFill>
                  <a:srgbClr val="0B8687"/>
                </a:solidFill>
              </a:rPr>
              <a:t>▤</a:t>
            </a:r>
          </a:p>
        </p:txBody>
      </p:sp>
      <p:sp>
        <p:nvSpPr>
          <p:cNvPr id="25" name="textbox-159">
            <a:extLst xmlns:a="http://schemas.openxmlformats.org/drawingml/2006/main">
              <a:ext uri="{FF2B5EF4-FFF2-40B4-BE49-F238E27FC236}">
                <a16:creationId xmlns:a16="http://schemas.microsoft.com/office/drawing/2014/main" id="{E983D1D1-CD75-4E9D-963E-10D44C6541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76450" y="3619500"/>
            <a:ext cx="16478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071B3D"/>
                </a:solidFill>
              </a:defRPr>
            </a:pPr>
            <a:r>
              <a:rPr sz="1500" b="1">
                <a:solidFill>
                  <a:srgbClr val="071B3D"/>
                </a:solidFill>
              </a:rPr>
              <a:t>2  Extract</a:t>
            </a:r>
          </a:p>
        </p:txBody>
      </p:sp>
      <p:sp>
        <p:nvSpPr>
          <p:cNvPr id="26" name="textbox-160">
            <a:extLst xmlns:a="http://schemas.openxmlformats.org/drawingml/2006/main">
              <a:ext uri="{FF2B5EF4-FFF2-40B4-BE49-F238E27FC236}">
                <a16:creationId xmlns:a16="http://schemas.microsoft.com/office/drawing/2014/main" id="{47A68442-6939-4E7E-AE2F-B6BE08D4E8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76450" y="3971925"/>
            <a:ext cx="164782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125">
                <a:solidFill>
                  <a:srgbClr val="071B3D"/>
                </a:solidFill>
              </a:defRPr>
            </a:pPr>
            <a:r>
              <a:rPr sz="1125">
                <a:solidFill>
                  <a:srgbClr val="071B3D"/>
                </a:solidFill>
              </a:rPr>
              <a:t>Invoice, vehicle,</a:t>
            </a:r>
          </a:p>
          <a:p xmlns:a="http://schemas.openxmlformats.org/drawingml/2006/main">
            <a:pPr algn="ctr">
              <a:defRPr sz="1125">
                <a:solidFill>
                  <a:srgbClr val="071B3D"/>
                </a:solidFill>
              </a:defRPr>
            </a:pPr>
            <a:r>
              <a:rPr sz="1125">
                <a:solidFill>
                  <a:srgbClr val="071B3D"/>
                </a:solidFill>
              </a:rPr>
              <a:t>items and prices</a:t>
            </a:r>
          </a:p>
        </p:txBody>
      </p:sp>
      <p:sp>
        <p:nvSpPr>
          <p:cNvPr id="27" name="rect-161">
            <a:extLst xmlns:a="http://schemas.openxmlformats.org/drawingml/2006/main">
              <a:ext uri="{FF2B5EF4-FFF2-40B4-BE49-F238E27FC236}">
                <a16:creationId xmlns:a16="http://schemas.microsoft.com/office/drawing/2014/main" id="{31A831D8-F674-4539-8F7B-BCFC81026B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05225" y="2257425"/>
            <a:ext cx="9525" cy="2428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DADF"/>
          </a:solidFill>
          <a:ln xmlns:a="http://schemas.openxmlformats.org/drawingml/2006/main" w="0">
            <a:solidFill>
              <a:srgbClr val="D5DADF"/>
            </a:solidFill>
            <a:prstDash val="solid"/>
          </a:ln>
        </p:spPr>
      </p:sp>
      <p:sp>
        <p:nvSpPr>
          <p:cNvPr id="28" name="ellipse-162">
            <a:extLst xmlns:a="http://schemas.openxmlformats.org/drawingml/2006/main">
              <a:ext uri="{FF2B5EF4-FFF2-40B4-BE49-F238E27FC236}">
                <a16:creationId xmlns:a16="http://schemas.microsoft.com/office/drawing/2014/main" id="{5497FB3F-EF7D-4743-89B8-24F1BBDF83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4825" y="2143125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B8687"/>
          </a:solidFill>
          <a:ln xmlns:a="http://schemas.openxmlformats.org/drawingml/2006/main" w="0">
            <a:solidFill>
              <a:srgbClr val="0B8687"/>
            </a:solidFill>
            <a:prstDash val="solid"/>
          </a:ln>
        </p:spPr>
      </p:sp>
      <p:sp>
        <p:nvSpPr>
          <p:cNvPr id="29" name="textbox-163">
            <a:extLst xmlns:a="http://schemas.openxmlformats.org/drawingml/2006/main">
              <a:ext uri="{FF2B5EF4-FFF2-40B4-BE49-F238E27FC236}">
                <a16:creationId xmlns:a16="http://schemas.microsoft.com/office/drawing/2014/main" id="{18E7C680-FBEB-49A5-AC6A-6D249BA93D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4825" y="2152650"/>
            <a:ext cx="4000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FFFF"/>
                </a:solidFill>
              </a:defRPr>
            </a:pPr>
            <a:r>
              <a:rPr sz="165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30" name="ellipse-164">
            <a:extLst xmlns:a="http://schemas.openxmlformats.org/drawingml/2006/main">
              <a:ext uri="{FF2B5EF4-FFF2-40B4-BE49-F238E27FC236}">
                <a16:creationId xmlns:a16="http://schemas.microsoft.com/office/drawing/2014/main" id="{14C69950-7294-42D1-A665-B9CB4340D5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24325" y="2714625"/>
            <a:ext cx="781050" cy="781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0B8687"/>
            </a:solidFill>
            <a:prstDash val="solid"/>
          </a:ln>
        </p:spPr>
      </p:sp>
      <p:sp>
        <p:nvSpPr>
          <p:cNvPr id="31" name="textbox-165">
            <a:extLst xmlns:a="http://schemas.openxmlformats.org/drawingml/2006/main">
              <a:ext uri="{FF2B5EF4-FFF2-40B4-BE49-F238E27FC236}">
                <a16:creationId xmlns:a16="http://schemas.microsoft.com/office/drawing/2014/main" id="{5D394DF6-E095-40F9-AC47-2806CCD8EA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24325" y="2724150"/>
            <a:ext cx="7810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0B8687"/>
                </a:solidFill>
              </a:defRPr>
            </a:pPr>
            <a:r>
              <a:rPr sz="2400" b="1">
                <a:solidFill>
                  <a:srgbClr val="0B8687"/>
                </a:solidFill>
              </a:rPr>
              <a:t>✓</a:t>
            </a:r>
          </a:p>
        </p:txBody>
      </p:sp>
      <p:sp>
        <p:nvSpPr>
          <p:cNvPr id="32" name="textbox-166">
            <a:extLst xmlns:a="http://schemas.openxmlformats.org/drawingml/2006/main">
              <a:ext uri="{FF2B5EF4-FFF2-40B4-BE49-F238E27FC236}">
                <a16:creationId xmlns:a16="http://schemas.microsoft.com/office/drawing/2014/main" id="{B291C267-59F4-41DB-AE9E-9CCC312C06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71900" y="3619500"/>
            <a:ext cx="16478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071B3D"/>
                </a:solidFill>
              </a:defRPr>
            </a:pPr>
            <a:r>
              <a:rPr sz="1500" b="1">
                <a:solidFill>
                  <a:srgbClr val="071B3D"/>
                </a:solidFill>
              </a:rPr>
              <a:t>3  Validate</a:t>
            </a:r>
          </a:p>
        </p:txBody>
      </p:sp>
      <p:sp>
        <p:nvSpPr>
          <p:cNvPr id="33" name="textbox-167">
            <a:extLst xmlns:a="http://schemas.openxmlformats.org/drawingml/2006/main">
              <a:ext uri="{FF2B5EF4-FFF2-40B4-BE49-F238E27FC236}">
                <a16:creationId xmlns:a16="http://schemas.microsoft.com/office/drawing/2014/main" id="{D1CF8AD8-2AEC-4C15-9797-D901CB1B60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71900" y="3971925"/>
            <a:ext cx="164782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125">
                <a:solidFill>
                  <a:srgbClr val="071B3D"/>
                </a:solidFill>
              </a:defRPr>
            </a:pPr>
            <a:r>
              <a:rPr sz="1125">
                <a:solidFill>
                  <a:srgbClr val="071B3D"/>
                </a:solidFill>
              </a:rPr>
              <a:t>Line maths, VAT</a:t>
            </a:r>
          </a:p>
          <a:p xmlns:a="http://schemas.openxmlformats.org/drawingml/2006/main">
            <a:pPr algn="ctr">
              <a:defRPr sz="1125">
                <a:solidFill>
                  <a:srgbClr val="071B3D"/>
                </a:solidFill>
              </a:defRPr>
            </a:pPr>
            <a:r>
              <a:rPr sz="1125">
                <a:solidFill>
                  <a:srgbClr val="071B3D"/>
                </a:solidFill>
              </a:rPr>
              <a:t>and totals</a:t>
            </a:r>
          </a:p>
        </p:txBody>
      </p:sp>
      <p:sp>
        <p:nvSpPr>
          <p:cNvPr id="34" name="rect-168">
            <a:extLst xmlns:a="http://schemas.openxmlformats.org/drawingml/2006/main">
              <a:ext uri="{FF2B5EF4-FFF2-40B4-BE49-F238E27FC236}">
                <a16:creationId xmlns:a16="http://schemas.microsoft.com/office/drawing/2014/main" id="{15407367-4DD9-43ED-81A1-47CE4D498C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00675" y="2257425"/>
            <a:ext cx="9525" cy="2428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DADF"/>
          </a:solidFill>
          <a:ln xmlns:a="http://schemas.openxmlformats.org/drawingml/2006/main" w="0">
            <a:solidFill>
              <a:srgbClr val="D5DADF"/>
            </a:solidFill>
            <a:prstDash val="solid"/>
          </a:ln>
        </p:spPr>
      </p:sp>
      <p:sp>
        <p:nvSpPr>
          <p:cNvPr id="35" name="ellipse-169">
            <a:extLst xmlns:a="http://schemas.openxmlformats.org/drawingml/2006/main">
              <a:ext uri="{FF2B5EF4-FFF2-40B4-BE49-F238E27FC236}">
                <a16:creationId xmlns:a16="http://schemas.microsoft.com/office/drawing/2014/main" id="{DB0706C6-A276-4812-9274-7517FD035F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0275" y="2143125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B8687"/>
          </a:solidFill>
          <a:ln xmlns:a="http://schemas.openxmlformats.org/drawingml/2006/main" w="0">
            <a:solidFill>
              <a:srgbClr val="0B8687"/>
            </a:solidFill>
            <a:prstDash val="solid"/>
          </a:ln>
        </p:spPr>
      </p:sp>
      <p:sp>
        <p:nvSpPr>
          <p:cNvPr id="36" name="textbox-170">
            <a:extLst xmlns:a="http://schemas.openxmlformats.org/drawingml/2006/main">
              <a:ext uri="{FF2B5EF4-FFF2-40B4-BE49-F238E27FC236}">
                <a16:creationId xmlns:a16="http://schemas.microsoft.com/office/drawing/2014/main" id="{2E448B7C-5079-441B-A88A-182A2EBD85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0275" y="2152650"/>
            <a:ext cx="4000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FFFF"/>
                </a:solidFill>
              </a:defRPr>
            </a:pPr>
            <a:r>
              <a:rPr sz="1650" b="1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37" name="ellipse-171">
            <a:extLst xmlns:a="http://schemas.openxmlformats.org/drawingml/2006/main">
              <a:ext uri="{FF2B5EF4-FFF2-40B4-BE49-F238E27FC236}">
                <a16:creationId xmlns:a16="http://schemas.microsoft.com/office/drawing/2014/main" id="{2F9EDA4B-071A-418B-BE41-962CA11D2D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9775" y="2714625"/>
            <a:ext cx="781050" cy="781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0B8687"/>
            </a:solidFill>
            <a:prstDash val="solid"/>
          </a:ln>
        </p:spPr>
      </p:sp>
      <p:sp>
        <p:nvSpPr>
          <p:cNvPr id="38" name="textbox-172">
            <a:extLst xmlns:a="http://schemas.openxmlformats.org/drawingml/2006/main">
              <a:ext uri="{FF2B5EF4-FFF2-40B4-BE49-F238E27FC236}">
                <a16:creationId xmlns:a16="http://schemas.microsoft.com/office/drawing/2014/main" id="{A9309B95-6EC2-4355-B20B-817B85776E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9775" y="2724150"/>
            <a:ext cx="7810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0B8687"/>
                </a:solidFill>
              </a:defRPr>
            </a:pPr>
            <a:r>
              <a:rPr sz="1125" b="1">
                <a:solidFill>
                  <a:srgbClr val="0B8687"/>
                </a:solidFill>
              </a:rPr>
              <a:t>TAG</a:t>
            </a:r>
          </a:p>
        </p:txBody>
      </p:sp>
      <p:sp>
        <p:nvSpPr>
          <p:cNvPr id="39" name="textbox-173">
            <a:extLst xmlns:a="http://schemas.openxmlformats.org/drawingml/2006/main">
              <a:ext uri="{FF2B5EF4-FFF2-40B4-BE49-F238E27FC236}">
                <a16:creationId xmlns:a16="http://schemas.microsoft.com/office/drawing/2014/main" id="{102BF718-D7DC-41DD-8A4E-50166E746D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7350" y="3619500"/>
            <a:ext cx="16478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071B3D"/>
                </a:solidFill>
              </a:defRPr>
            </a:pPr>
            <a:r>
              <a:rPr sz="1500" b="1">
                <a:solidFill>
                  <a:srgbClr val="071B3D"/>
                </a:solidFill>
              </a:rPr>
              <a:t>4  Standardise</a:t>
            </a:r>
          </a:p>
        </p:txBody>
      </p:sp>
      <p:sp>
        <p:nvSpPr>
          <p:cNvPr id="40" name="textbox-174">
            <a:extLst xmlns:a="http://schemas.openxmlformats.org/drawingml/2006/main">
              <a:ext uri="{FF2B5EF4-FFF2-40B4-BE49-F238E27FC236}">
                <a16:creationId xmlns:a16="http://schemas.microsoft.com/office/drawing/2014/main" id="{A789ED49-1566-40D9-95DA-776E119FA8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7350" y="3971925"/>
            <a:ext cx="164782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125">
                <a:solidFill>
                  <a:srgbClr val="071B3D"/>
                </a:solidFill>
              </a:defRPr>
            </a:pPr>
            <a:r>
              <a:rPr sz="1125">
                <a:solidFill>
                  <a:srgbClr val="071B3D"/>
                </a:solidFill>
              </a:rPr>
              <a:t>Map descriptions</a:t>
            </a:r>
          </a:p>
          <a:p xmlns:a="http://schemas.openxmlformats.org/drawingml/2006/main">
            <a:pPr algn="ctr">
              <a:defRPr sz="1125">
                <a:solidFill>
                  <a:srgbClr val="071B3D"/>
                </a:solidFill>
              </a:defRPr>
            </a:pPr>
            <a:r>
              <a:rPr sz="1125">
                <a:solidFill>
                  <a:srgbClr val="071B3D"/>
                </a:solidFill>
              </a:rPr>
              <a:t>to repair items</a:t>
            </a:r>
          </a:p>
        </p:txBody>
      </p:sp>
      <p:sp>
        <p:nvSpPr>
          <p:cNvPr id="41" name="rect-175">
            <a:extLst xmlns:a="http://schemas.openxmlformats.org/drawingml/2006/main">
              <a:ext uri="{FF2B5EF4-FFF2-40B4-BE49-F238E27FC236}">
                <a16:creationId xmlns:a16="http://schemas.microsoft.com/office/drawing/2014/main" id="{C9BCB8B0-6DA2-4CD0-8D0C-62FF00867D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96125" y="2257425"/>
            <a:ext cx="9525" cy="2428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DADF"/>
          </a:solidFill>
          <a:ln xmlns:a="http://schemas.openxmlformats.org/drawingml/2006/main" w="0">
            <a:solidFill>
              <a:srgbClr val="D5DADF"/>
            </a:solidFill>
            <a:prstDash val="solid"/>
          </a:ln>
        </p:spPr>
      </p:sp>
      <p:sp>
        <p:nvSpPr>
          <p:cNvPr id="42" name="ellipse-176">
            <a:extLst xmlns:a="http://schemas.openxmlformats.org/drawingml/2006/main">
              <a:ext uri="{FF2B5EF4-FFF2-40B4-BE49-F238E27FC236}">
                <a16:creationId xmlns:a16="http://schemas.microsoft.com/office/drawing/2014/main" id="{EE42E85B-6EEA-43EA-89A1-0C771ADAA3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05725" y="2143125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B8687"/>
          </a:solidFill>
          <a:ln xmlns:a="http://schemas.openxmlformats.org/drawingml/2006/main" w="0">
            <a:solidFill>
              <a:srgbClr val="0B8687"/>
            </a:solidFill>
            <a:prstDash val="solid"/>
          </a:ln>
        </p:spPr>
      </p:sp>
      <p:sp>
        <p:nvSpPr>
          <p:cNvPr id="43" name="textbox-177">
            <a:extLst xmlns:a="http://schemas.openxmlformats.org/drawingml/2006/main">
              <a:ext uri="{FF2B5EF4-FFF2-40B4-BE49-F238E27FC236}">
                <a16:creationId xmlns:a16="http://schemas.microsoft.com/office/drawing/2014/main" id="{873546A6-7B41-4E08-AF08-F289225919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05725" y="2152650"/>
            <a:ext cx="4000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FFFF"/>
                </a:solidFill>
              </a:defRPr>
            </a:pPr>
            <a:r>
              <a:rPr sz="1650" b="1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44" name="ellipse-178">
            <a:extLst xmlns:a="http://schemas.openxmlformats.org/drawingml/2006/main">
              <a:ext uri="{FF2B5EF4-FFF2-40B4-BE49-F238E27FC236}">
                <a16:creationId xmlns:a16="http://schemas.microsoft.com/office/drawing/2014/main" id="{31E30CB1-A2C9-49B0-830D-9AB222DD63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15225" y="2714625"/>
            <a:ext cx="781050" cy="781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0B8687"/>
            </a:solidFill>
            <a:prstDash val="solid"/>
          </a:ln>
        </p:spPr>
      </p:sp>
      <p:sp>
        <p:nvSpPr>
          <p:cNvPr id="45" name="textbox-179">
            <a:extLst xmlns:a="http://schemas.openxmlformats.org/drawingml/2006/main">
              <a:ext uri="{FF2B5EF4-FFF2-40B4-BE49-F238E27FC236}">
                <a16:creationId xmlns:a16="http://schemas.microsoft.com/office/drawing/2014/main" id="{7044A94E-D091-48BF-A0B8-AC8D9C0940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15225" y="2724150"/>
            <a:ext cx="7810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0B8687"/>
                </a:solidFill>
              </a:defRPr>
            </a:pPr>
            <a:r>
              <a:rPr sz="2400" b="1">
                <a:solidFill>
                  <a:srgbClr val="0B8687"/>
                </a:solidFill>
              </a:rPr>
              <a:t>↗</a:t>
            </a:r>
          </a:p>
        </p:txBody>
      </p:sp>
      <p:sp>
        <p:nvSpPr>
          <p:cNvPr id="46" name="textbox-180">
            <a:extLst xmlns:a="http://schemas.openxmlformats.org/drawingml/2006/main">
              <a:ext uri="{FF2B5EF4-FFF2-40B4-BE49-F238E27FC236}">
                <a16:creationId xmlns:a16="http://schemas.microsoft.com/office/drawing/2014/main" id="{F9A8DB19-0298-404B-BC15-AD6C7037B1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3619500"/>
            <a:ext cx="16478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071B3D"/>
                </a:solidFill>
              </a:defRPr>
            </a:pPr>
            <a:r>
              <a:rPr sz="1500" b="1">
                <a:solidFill>
                  <a:srgbClr val="071B3D"/>
                </a:solidFill>
              </a:rPr>
              <a:t>5  Benchmark</a:t>
            </a:r>
          </a:p>
        </p:txBody>
      </p:sp>
      <p:sp>
        <p:nvSpPr>
          <p:cNvPr id="47" name="textbox-181">
            <a:extLst xmlns:a="http://schemas.openxmlformats.org/drawingml/2006/main">
              <a:ext uri="{FF2B5EF4-FFF2-40B4-BE49-F238E27FC236}">
                <a16:creationId xmlns:a16="http://schemas.microsoft.com/office/drawing/2014/main" id="{C38BF515-26C6-4F26-8EC7-D91E9C4330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3971925"/>
            <a:ext cx="164782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125">
                <a:solidFill>
                  <a:srgbClr val="071B3D"/>
                </a:solidFill>
              </a:defRPr>
            </a:pPr>
            <a:r>
              <a:rPr sz="1125">
                <a:solidFill>
                  <a:srgbClr val="071B3D"/>
                </a:solidFill>
              </a:rPr>
              <a:t>Historical statistics</a:t>
            </a:r>
          </a:p>
          <a:p xmlns:a="http://schemas.openxmlformats.org/drawingml/2006/main">
            <a:pPr algn="ctr">
              <a:defRPr sz="1125">
                <a:solidFill>
                  <a:srgbClr val="071B3D"/>
                </a:solidFill>
              </a:defRPr>
            </a:pPr>
            <a:r>
              <a:rPr sz="1125">
                <a:solidFill>
                  <a:srgbClr val="071B3D"/>
                </a:solidFill>
              </a:rPr>
              <a:t>and P90</a:t>
            </a:r>
          </a:p>
        </p:txBody>
      </p:sp>
      <p:sp>
        <p:nvSpPr>
          <p:cNvPr id="48" name="rect-182">
            <a:extLst xmlns:a="http://schemas.openxmlformats.org/drawingml/2006/main">
              <a:ext uri="{FF2B5EF4-FFF2-40B4-BE49-F238E27FC236}">
                <a16:creationId xmlns:a16="http://schemas.microsoft.com/office/drawing/2014/main" id="{01317FAE-37D3-405E-A252-038108F0E8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91575" y="2257425"/>
            <a:ext cx="9525" cy="2428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DADF"/>
          </a:solidFill>
          <a:ln xmlns:a="http://schemas.openxmlformats.org/drawingml/2006/main" w="0">
            <a:solidFill>
              <a:srgbClr val="D5DADF"/>
            </a:solidFill>
            <a:prstDash val="solid"/>
          </a:ln>
        </p:spPr>
      </p:sp>
      <p:sp>
        <p:nvSpPr>
          <p:cNvPr id="49" name="ellipse-183">
            <a:extLst xmlns:a="http://schemas.openxmlformats.org/drawingml/2006/main">
              <a:ext uri="{FF2B5EF4-FFF2-40B4-BE49-F238E27FC236}">
                <a16:creationId xmlns:a16="http://schemas.microsoft.com/office/drawing/2014/main" id="{F9480158-FD03-45FC-9F23-0DB305DDF5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01175" y="2143125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85D4A"/>
          </a:solidFill>
          <a:ln xmlns:a="http://schemas.openxmlformats.org/drawingml/2006/main" w="0">
            <a:solidFill>
              <a:srgbClr val="E85D4A"/>
            </a:solidFill>
            <a:prstDash val="solid"/>
          </a:ln>
        </p:spPr>
      </p:sp>
      <p:sp>
        <p:nvSpPr>
          <p:cNvPr id="50" name="textbox-184">
            <a:extLst xmlns:a="http://schemas.openxmlformats.org/drawingml/2006/main">
              <a:ext uri="{FF2B5EF4-FFF2-40B4-BE49-F238E27FC236}">
                <a16:creationId xmlns:a16="http://schemas.microsoft.com/office/drawing/2014/main" id="{260AB005-AFDA-4B0F-B57E-F465487976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01175" y="2152650"/>
            <a:ext cx="4000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FFFF"/>
                </a:solidFill>
              </a:defRPr>
            </a:pPr>
            <a:r>
              <a:rPr sz="1650" b="1">
                <a:solidFill>
                  <a:srgbClr val="FFFFFF"/>
                </a:solidFill>
              </a:rPr>
              <a:t>6</a:t>
            </a:r>
          </a:p>
        </p:txBody>
      </p:sp>
      <p:sp>
        <p:nvSpPr>
          <p:cNvPr id="51" name="ellipse-185">
            <a:extLst xmlns:a="http://schemas.openxmlformats.org/drawingml/2006/main">
              <a:ext uri="{FF2B5EF4-FFF2-40B4-BE49-F238E27FC236}">
                <a16:creationId xmlns:a16="http://schemas.microsoft.com/office/drawing/2014/main" id="{C5767593-01FA-41C1-A3ED-8FE611BE47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10675" y="2714625"/>
            <a:ext cx="781050" cy="781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E85D4A"/>
            </a:solidFill>
            <a:prstDash val="solid"/>
          </a:ln>
        </p:spPr>
      </p:sp>
      <p:sp>
        <p:nvSpPr>
          <p:cNvPr id="52" name="textbox-186">
            <a:extLst xmlns:a="http://schemas.openxmlformats.org/drawingml/2006/main">
              <a:ext uri="{FF2B5EF4-FFF2-40B4-BE49-F238E27FC236}">
                <a16:creationId xmlns:a16="http://schemas.microsoft.com/office/drawing/2014/main" id="{4805263A-B1E5-4578-91D5-F5F46F09C4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10675" y="2724150"/>
            <a:ext cx="7810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E85D4A"/>
                </a:solidFill>
              </a:defRPr>
            </a:pPr>
            <a:r>
              <a:rPr sz="2400" b="1">
                <a:solidFill>
                  <a:srgbClr val="E85D4A"/>
                </a:solidFill>
              </a:rPr>
              <a:t>?</a:t>
            </a:r>
          </a:p>
        </p:txBody>
      </p:sp>
      <p:sp>
        <p:nvSpPr>
          <p:cNvPr id="53" name="textbox-187">
            <a:extLst xmlns:a="http://schemas.openxmlformats.org/drawingml/2006/main">
              <a:ext uri="{FF2B5EF4-FFF2-40B4-BE49-F238E27FC236}">
                <a16:creationId xmlns:a16="http://schemas.microsoft.com/office/drawing/2014/main" id="{73880DBD-9633-43C1-9E62-6C7C5F332C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3619500"/>
            <a:ext cx="16478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071B3D"/>
                </a:solidFill>
              </a:defRPr>
            </a:pPr>
            <a:r>
              <a:rPr sz="1500" b="1">
                <a:solidFill>
                  <a:srgbClr val="071B3D"/>
                </a:solidFill>
              </a:rPr>
              <a:t>6  Decide</a:t>
            </a:r>
          </a:p>
        </p:txBody>
      </p:sp>
      <p:sp>
        <p:nvSpPr>
          <p:cNvPr id="54" name="textbox-188">
            <a:extLst xmlns:a="http://schemas.openxmlformats.org/drawingml/2006/main">
              <a:ext uri="{FF2B5EF4-FFF2-40B4-BE49-F238E27FC236}">
                <a16:creationId xmlns:a16="http://schemas.microsoft.com/office/drawing/2014/main" id="{F4715229-A058-4BAD-B7E7-0079D5945C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3971925"/>
            <a:ext cx="164782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125">
                <a:solidFill>
                  <a:srgbClr val="071B3D"/>
                </a:solidFill>
              </a:defRPr>
            </a:pPr>
            <a:r>
              <a:rPr sz="1125">
                <a:solidFill>
                  <a:srgbClr val="071B3D"/>
                </a:solidFill>
              </a:rPr>
              <a:t>Accept, review</a:t>
            </a:r>
          </a:p>
          <a:p xmlns:a="http://schemas.openxmlformats.org/drawingml/2006/main">
            <a:pPr algn="ctr">
              <a:defRPr sz="1125">
                <a:solidFill>
                  <a:srgbClr val="071B3D"/>
                </a:solidFill>
              </a:defRPr>
            </a:pPr>
            <a:r>
              <a:rPr sz="1125">
                <a:solidFill>
                  <a:srgbClr val="071B3D"/>
                </a:solidFill>
              </a:rPr>
              <a:t>or challenge</a:t>
            </a:r>
          </a:p>
        </p:txBody>
      </p:sp>
      <p:sp>
        <p:nvSpPr>
          <p:cNvPr id="55" name="rect-189">
            <a:extLst xmlns:a="http://schemas.openxmlformats.org/drawingml/2006/main">
              <a:ext uri="{FF2B5EF4-FFF2-40B4-BE49-F238E27FC236}">
                <a16:creationId xmlns:a16="http://schemas.microsoft.com/office/drawing/2014/main" id="{08AFC215-E47D-4A28-B397-EC000D0F90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87025" y="2257425"/>
            <a:ext cx="9525" cy="2428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DADF"/>
          </a:solidFill>
          <a:ln xmlns:a="http://schemas.openxmlformats.org/drawingml/2006/main" w="0">
            <a:solidFill>
              <a:srgbClr val="D5DADF"/>
            </a:solidFill>
            <a:prstDash val="solid"/>
          </a:ln>
        </p:spPr>
      </p:sp>
      <p:sp>
        <p:nvSpPr>
          <p:cNvPr id="56" name="ellipse-190">
            <a:extLst xmlns:a="http://schemas.openxmlformats.org/drawingml/2006/main">
              <a:ext uri="{FF2B5EF4-FFF2-40B4-BE49-F238E27FC236}">
                <a16:creationId xmlns:a16="http://schemas.microsoft.com/office/drawing/2014/main" id="{AE2D1CB0-ADC9-4942-9617-1574DBF2CA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2143125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B8687"/>
          </a:solidFill>
          <a:ln xmlns:a="http://schemas.openxmlformats.org/drawingml/2006/main" w="0">
            <a:solidFill>
              <a:srgbClr val="0B8687"/>
            </a:solidFill>
            <a:prstDash val="solid"/>
          </a:ln>
        </p:spPr>
      </p:sp>
      <p:sp>
        <p:nvSpPr>
          <p:cNvPr id="57" name="textbox-191">
            <a:extLst xmlns:a="http://schemas.openxmlformats.org/drawingml/2006/main">
              <a:ext uri="{FF2B5EF4-FFF2-40B4-BE49-F238E27FC236}">
                <a16:creationId xmlns:a16="http://schemas.microsoft.com/office/drawing/2014/main" id="{04160473-2A0B-441E-8323-F7F99DE7FD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2152650"/>
            <a:ext cx="4000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FFFF"/>
                </a:solidFill>
              </a:defRPr>
            </a:pPr>
            <a:r>
              <a:rPr sz="1650" b="1">
                <a:solidFill>
                  <a:srgbClr val="FFFFFF"/>
                </a:solidFill>
              </a:rPr>
              <a:t>7</a:t>
            </a:r>
          </a:p>
        </p:txBody>
      </p:sp>
      <p:sp>
        <p:nvSpPr>
          <p:cNvPr id="58" name="ellipse-192">
            <a:extLst xmlns:a="http://schemas.openxmlformats.org/drawingml/2006/main">
              <a:ext uri="{FF2B5EF4-FFF2-40B4-BE49-F238E27FC236}">
                <a16:creationId xmlns:a16="http://schemas.microsoft.com/office/drawing/2014/main" id="{E3ED5A94-304B-4287-AD77-35D05BDD06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06125" y="2714625"/>
            <a:ext cx="781050" cy="781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0B8687"/>
            </a:solidFill>
            <a:prstDash val="solid"/>
          </a:ln>
        </p:spPr>
      </p:sp>
      <p:sp>
        <p:nvSpPr>
          <p:cNvPr id="59" name="textbox-193">
            <a:extLst xmlns:a="http://schemas.openxmlformats.org/drawingml/2006/main">
              <a:ext uri="{FF2B5EF4-FFF2-40B4-BE49-F238E27FC236}">
                <a16:creationId xmlns:a16="http://schemas.microsoft.com/office/drawing/2014/main" id="{1108EE4C-03B6-42F2-AEA9-C67DF9B286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06125" y="2724150"/>
            <a:ext cx="7810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0B8687"/>
                </a:solidFill>
              </a:defRPr>
            </a:pPr>
            <a:r>
              <a:rPr sz="2400" b="1">
                <a:solidFill>
                  <a:srgbClr val="0B8687"/>
                </a:solidFill>
              </a:rPr>
              <a:t>▧</a:t>
            </a:r>
          </a:p>
        </p:txBody>
      </p:sp>
      <p:sp>
        <p:nvSpPr>
          <p:cNvPr id="60" name="textbox-194">
            <a:extLst xmlns:a="http://schemas.openxmlformats.org/drawingml/2006/main">
              <a:ext uri="{FF2B5EF4-FFF2-40B4-BE49-F238E27FC236}">
                <a16:creationId xmlns:a16="http://schemas.microsoft.com/office/drawing/2014/main" id="{72740CCF-97A3-43BE-BDF6-72D221BF8E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53700" y="3619500"/>
            <a:ext cx="16478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071B3D"/>
                </a:solidFill>
              </a:defRPr>
            </a:pPr>
            <a:r>
              <a:rPr sz="1500" b="1">
                <a:solidFill>
                  <a:srgbClr val="071B3D"/>
                </a:solidFill>
              </a:rPr>
              <a:t>7  Audit</a:t>
            </a:r>
          </a:p>
        </p:txBody>
      </p:sp>
      <p:sp>
        <p:nvSpPr>
          <p:cNvPr id="61" name="textbox-195">
            <a:extLst xmlns:a="http://schemas.openxmlformats.org/drawingml/2006/main">
              <a:ext uri="{FF2B5EF4-FFF2-40B4-BE49-F238E27FC236}">
                <a16:creationId xmlns:a16="http://schemas.microsoft.com/office/drawing/2014/main" id="{54A01F6B-2EE3-4BB1-B152-0D68076799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53700" y="3971925"/>
            <a:ext cx="164782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125">
                <a:solidFill>
                  <a:srgbClr val="071B3D"/>
                </a:solidFill>
              </a:defRPr>
            </a:pPr>
            <a:r>
              <a:rPr sz="1125">
                <a:solidFill>
                  <a:srgbClr val="071B3D"/>
                </a:solidFill>
              </a:rPr>
              <a:t>Evidence, exports</a:t>
            </a:r>
          </a:p>
          <a:p xmlns:a="http://schemas.openxmlformats.org/drawingml/2006/main">
            <a:pPr algn="ctr">
              <a:defRPr sz="1125">
                <a:solidFill>
                  <a:srgbClr val="071B3D"/>
                </a:solidFill>
              </a:defRPr>
            </a:pPr>
            <a:r>
              <a:rPr sz="1125">
                <a:solidFill>
                  <a:srgbClr val="071B3D"/>
                </a:solidFill>
              </a:rPr>
              <a:t>and decision history</a:t>
            </a:r>
          </a:p>
        </p:txBody>
      </p:sp>
      <p:sp>
        <p:nvSpPr>
          <p:cNvPr id="62" name="ellipse-196">
            <a:extLst xmlns:a="http://schemas.openxmlformats.org/drawingml/2006/main">
              <a:ext uri="{FF2B5EF4-FFF2-40B4-BE49-F238E27FC236}">
                <a16:creationId xmlns:a16="http://schemas.microsoft.com/office/drawing/2014/main" id="{F7B523AE-9C94-4A42-B3AE-BB706D4E9D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5200650"/>
            <a:ext cx="628650" cy="6286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0B8687"/>
            </a:solidFill>
            <a:prstDash val="solid"/>
          </a:ln>
        </p:spPr>
      </p:sp>
      <p:sp>
        <p:nvSpPr>
          <p:cNvPr id="63" name="textbox-197">
            <a:extLst xmlns:a="http://schemas.openxmlformats.org/drawingml/2006/main">
              <a:ext uri="{FF2B5EF4-FFF2-40B4-BE49-F238E27FC236}">
                <a16:creationId xmlns:a16="http://schemas.microsoft.com/office/drawing/2014/main" id="{8887033C-EA5D-4DB0-992A-393837646A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5210175"/>
            <a:ext cx="6286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0B8687"/>
                </a:solidFill>
              </a:defRPr>
            </a:pPr>
            <a:r>
              <a:rPr sz="2100" b="1">
                <a:solidFill>
                  <a:srgbClr val="0B8687"/>
                </a:solidFill>
              </a:rPr>
              <a:t>⚙</a:t>
            </a:r>
          </a:p>
        </p:txBody>
      </p:sp>
      <p:sp>
        <p:nvSpPr>
          <p:cNvPr id="64" name="textbox-198">
            <a:extLst xmlns:a="http://schemas.openxmlformats.org/drawingml/2006/main">
              <a:ext uri="{FF2B5EF4-FFF2-40B4-BE49-F238E27FC236}">
                <a16:creationId xmlns:a16="http://schemas.microsoft.com/office/drawing/2014/main" id="{2CEB70CF-7068-4E7B-A177-82F331CC02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43125" y="5267325"/>
            <a:ext cx="37147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071B3D"/>
                </a:solidFill>
              </a:defRPr>
            </a:pPr>
            <a:r>
              <a:rPr sz="1275">
                <a:solidFill>
                  <a:srgbClr val="071B3D"/>
                </a:solidFill>
              </a:rPr>
              <a:t>High-confidence results progress automatically;</a:t>
            </a:r>
          </a:p>
          <a:p xmlns:a="http://schemas.openxmlformats.org/drawingml/2006/main">
            <a:pPr>
              <a:defRPr sz="1275">
                <a:solidFill>
                  <a:srgbClr val="071B3D"/>
                </a:solidFill>
              </a:defRPr>
            </a:pPr>
            <a:r>
              <a:rPr sz="1275">
                <a:solidFill>
                  <a:srgbClr val="071B3D"/>
                </a:solidFill>
              </a:rPr>
              <a:t>uncertain items remain available for human review.</a:t>
            </a:r>
          </a:p>
        </p:txBody>
      </p:sp>
      <p:sp>
        <p:nvSpPr>
          <p:cNvPr id="65" name="rect-199">
            <a:extLst xmlns:a="http://schemas.openxmlformats.org/drawingml/2006/main">
              <a:ext uri="{FF2B5EF4-FFF2-40B4-BE49-F238E27FC236}">
                <a16:creationId xmlns:a16="http://schemas.microsoft.com/office/drawing/2014/main" id="{36FA75C6-18AA-4452-86E6-36137ED06E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5219700"/>
            <a:ext cx="190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8687"/>
          </a:solidFill>
          <a:ln xmlns:a="http://schemas.openxmlformats.org/drawingml/2006/main" w="0">
            <a:solidFill>
              <a:srgbClr val="0B8687"/>
            </a:solidFill>
            <a:prstDash val="solid"/>
          </a:ln>
        </p:spPr>
      </p:sp>
      <p:sp>
        <p:nvSpPr>
          <p:cNvPr id="66" name="ellipse-200">
            <a:extLst xmlns:a="http://schemas.openxmlformats.org/drawingml/2006/main">
              <a:ext uri="{FF2B5EF4-FFF2-40B4-BE49-F238E27FC236}">
                <a16:creationId xmlns:a16="http://schemas.microsoft.com/office/drawing/2014/main" id="{F2E81625-73CA-472F-8A38-A09DD5FEA1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5200650"/>
            <a:ext cx="628650" cy="6286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0B8687"/>
            </a:solidFill>
            <a:prstDash val="solid"/>
          </a:ln>
        </p:spPr>
      </p:sp>
      <p:sp>
        <p:nvSpPr>
          <p:cNvPr id="67" name="textbox-201">
            <a:extLst xmlns:a="http://schemas.openxmlformats.org/drawingml/2006/main">
              <a:ext uri="{FF2B5EF4-FFF2-40B4-BE49-F238E27FC236}">
                <a16:creationId xmlns:a16="http://schemas.microsoft.com/office/drawing/2014/main" id="{27CE07C2-F36F-4B54-B3C5-7547631260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5210175"/>
            <a:ext cx="6286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0B8687"/>
                </a:solidFill>
              </a:defRPr>
            </a:pPr>
            <a:r>
              <a:rPr sz="1425" b="1">
                <a:solidFill>
                  <a:srgbClr val="0B8687"/>
                </a:solidFill>
              </a:rPr>
              <a:t>DB</a:t>
            </a:r>
          </a:p>
        </p:txBody>
      </p:sp>
      <p:sp>
        <p:nvSpPr>
          <p:cNvPr id="68" name="textbox-202">
            <a:extLst xmlns:a="http://schemas.openxmlformats.org/drawingml/2006/main">
              <a:ext uri="{FF2B5EF4-FFF2-40B4-BE49-F238E27FC236}">
                <a16:creationId xmlns:a16="http://schemas.microsoft.com/office/drawing/2014/main" id="{A5442B5C-CEEB-480F-874E-E0A1686FEE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5267325"/>
            <a:ext cx="41910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071B3D"/>
                </a:solidFill>
              </a:defRPr>
            </a:pPr>
            <a:r>
              <a:rPr sz="1275">
                <a:solidFill>
                  <a:srgbClr val="071B3D"/>
                </a:solidFill>
              </a:rPr>
              <a:t>Each invoice remains separate, while approved</a:t>
            </a:r>
          </a:p>
          <a:p xmlns:a="http://schemas.openxmlformats.org/drawingml/2006/main">
            <a:pPr>
              <a:defRPr sz="1275">
                <a:solidFill>
                  <a:srgbClr val="071B3D"/>
                </a:solidFill>
              </a:defRPr>
            </a:pPr>
            <a:r>
              <a:rPr sz="1275">
                <a:solidFill>
                  <a:srgbClr val="071B3D"/>
                </a:solidFill>
              </a:rPr>
              <a:t>history strengthens the shared benchmark database.</a:t>
            </a:r>
          </a:p>
        </p:txBody>
      </p:sp>
    </p:spTree>
    <p:extLst>
      <p:ext uri="{BB962C8B-B14F-4D97-AF65-F5344CB8AC3E}">
        <p14:creationId xmlns:p14="http://schemas.microsoft.com/office/powerpoint/2010/main" val="836660713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CFB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2" name="textbox-203">
            <a:extLst xmlns:a="http://schemas.openxmlformats.org/drawingml/2006/main">
              <a:ext uri="{FF2B5EF4-FFF2-40B4-BE49-F238E27FC236}">
                <a16:creationId xmlns:a16="http://schemas.microsoft.com/office/drawing/2014/main" id="{459F366D-E92B-498D-BFAD-C4D41FA5FD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228600"/>
            <a:ext cx="1138237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2925" b="1">
                <a:solidFill>
                  <a:srgbClr val="071B3D"/>
                </a:solidFill>
              </a:defRPr>
            </a:pPr>
            <a:r>
              <a:rPr sz="2925" b="1">
                <a:solidFill>
                  <a:srgbClr val="071B3D"/>
                </a:solidFill>
              </a:rPr>
              <a:t>Historical evidence determines when a price needs attention</a:t>
            </a:r>
          </a:p>
        </p:txBody>
      </p:sp>
      <p:sp>
        <p:nvSpPr>
          <p:cNvPr id="2" name="textbox-204">
            <a:extLst xmlns:a="http://schemas.openxmlformats.org/drawingml/2006/main">
              <a:ext uri="{FF2B5EF4-FFF2-40B4-BE49-F238E27FC236}">
                <a16:creationId xmlns:a16="http://schemas.microsoft.com/office/drawing/2014/main" id="{3FCB6E80-EDC7-412E-AC31-76EDA33ADB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876300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096C6D"/>
                </a:solidFill>
              </a:defRPr>
            </a:pPr>
            <a:r>
              <a:rPr sz="1500" b="1">
                <a:solidFill>
                  <a:srgbClr val="096C6D"/>
                </a:solidFill>
              </a:rPr>
              <a:t>Different descriptions</a:t>
            </a:r>
          </a:p>
        </p:txBody>
      </p:sp>
      <p:sp>
        <p:nvSpPr>
          <p:cNvPr id="3" name="roundRect-205">
            <a:extLst xmlns:a="http://schemas.openxmlformats.org/drawingml/2006/main">
              <a:ext uri="{FF2B5EF4-FFF2-40B4-BE49-F238E27FC236}">
                <a16:creationId xmlns:a16="http://schemas.microsoft.com/office/drawing/2014/main" id="{51743A2B-682C-401E-BFD8-BBF3010EA9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238250"/>
            <a:ext cx="514350" cy="704850"/>
          </a:xfrm>
          <a:prstGeom xmlns:a="http://schemas.openxmlformats.org/drawingml/2006/main" prst="roundRect">
            <a:avLst>
              <a:gd name="adj" fmla="val 370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071B3D"/>
            </a:solidFill>
            <a:prstDash val="solid"/>
          </a:ln>
        </p:spPr>
      </p:sp>
      <p:sp>
        <p:nvSpPr>
          <p:cNvPr id="4" name="textbox-206">
            <a:extLst xmlns:a="http://schemas.openxmlformats.org/drawingml/2006/main">
              <a:ext uri="{FF2B5EF4-FFF2-40B4-BE49-F238E27FC236}">
                <a16:creationId xmlns:a16="http://schemas.microsoft.com/office/drawing/2014/main" id="{2B138992-F92D-4F9F-97CD-E1FAA8F4C7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" y="1276350"/>
            <a:ext cx="4191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600" b="1">
                <a:solidFill>
                  <a:srgbClr val="0B8687"/>
                </a:solidFill>
              </a:defRPr>
            </a:pPr>
            <a:r>
              <a:rPr sz="600" b="1">
                <a:solidFill>
                  <a:srgbClr val="0B8687"/>
                </a:solidFill>
              </a:rPr>
              <a:t>INV</a:t>
            </a:r>
          </a:p>
        </p:txBody>
      </p:sp>
      <p:sp>
        <p:nvSpPr>
          <p:cNvPr id="5" name="rect-207">
            <a:extLst xmlns:a="http://schemas.openxmlformats.org/drawingml/2006/main">
              <a:ext uri="{FF2B5EF4-FFF2-40B4-BE49-F238E27FC236}">
                <a16:creationId xmlns:a16="http://schemas.microsoft.com/office/drawing/2014/main" id="{69114EE5-F2BE-4D6D-AF5F-40968436E4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495425"/>
            <a:ext cx="2857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8A6B3"/>
          </a:solidFill>
          <a:ln xmlns:a="http://schemas.openxmlformats.org/drawingml/2006/main" w="0">
            <a:solidFill>
              <a:srgbClr val="98A6B3"/>
            </a:solidFill>
            <a:prstDash val="solid"/>
          </a:ln>
        </p:spPr>
      </p:sp>
      <p:sp>
        <p:nvSpPr>
          <p:cNvPr id="6" name="rect-208">
            <a:extLst xmlns:a="http://schemas.openxmlformats.org/drawingml/2006/main">
              <a:ext uri="{FF2B5EF4-FFF2-40B4-BE49-F238E27FC236}">
                <a16:creationId xmlns:a16="http://schemas.microsoft.com/office/drawing/2014/main" id="{E3737C16-24F7-4750-9618-9BD7A2F741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600200"/>
            <a:ext cx="228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C0C8"/>
          </a:solidFill>
          <a:ln xmlns:a="http://schemas.openxmlformats.org/drawingml/2006/main" w="0">
            <a:solidFill>
              <a:srgbClr val="B7C0C8"/>
            </a:solidFill>
            <a:prstDash val="solid"/>
          </a:ln>
        </p:spPr>
      </p:sp>
      <p:sp>
        <p:nvSpPr>
          <p:cNvPr id="7" name="rect-209">
            <a:extLst xmlns:a="http://schemas.openxmlformats.org/drawingml/2006/main">
              <a:ext uri="{FF2B5EF4-FFF2-40B4-BE49-F238E27FC236}">
                <a16:creationId xmlns:a16="http://schemas.microsoft.com/office/drawing/2014/main" id="{07E10BE4-6788-4641-A140-ED6BBB58A9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704975"/>
            <a:ext cx="2667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C0C8"/>
          </a:solidFill>
          <a:ln xmlns:a="http://schemas.openxmlformats.org/drawingml/2006/main" w="0">
            <a:solidFill>
              <a:srgbClr val="B7C0C8"/>
            </a:solidFill>
            <a:prstDash val="solid"/>
          </a:ln>
        </p:spPr>
      </p:sp>
      <p:sp>
        <p:nvSpPr>
          <p:cNvPr id="8" name="textbox-210">
            <a:extLst xmlns:a="http://schemas.openxmlformats.org/drawingml/2006/main">
              <a:ext uri="{FF2B5EF4-FFF2-40B4-BE49-F238E27FC236}">
                <a16:creationId xmlns:a16="http://schemas.microsoft.com/office/drawing/2014/main" id="{225A22E1-E8FC-4B36-8583-CF903B7F6C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1743075"/>
            <a:ext cx="1524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071B3D"/>
                </a:solidFill>
              </a:defRPr>
            </a:pPr>
            <a:r>
              <a:rPr sz="750" b="1">
                <a:solidFill>
                  <a:srgbClr val="071B3D"/>
                </a:solidFill>
              </a:rPr>
              <a:t>£</a:t>
            </a:r>
          </a:p>
        </p:txBody>
      </p:sp>
      <p:sp>
        <p:nvSpPr>
          <p:cNvPr id="9" name="ellipse-211">
            <a:extLst xmlns:a="http://schemas.openxmlformats.org/drawingml/2006/main">
              <a:ext uri="{FF2B5EF4-FFF2-40B4-BE49-F238E27FC236}">
                <a16:creationId xmlns:a16="http://schemas.microsoft.com/office/drawing/2014/main" id="{D1BC8B17-36F6-48D5-8C6F-B40FFE1B28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304925"/>
            <a:ext cx="533400" cy="533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071B3D"/>
            </a:solidFill>
            <a:prstDash val="solid"/>
          </a:ln>
        </p:spPr>
      </p:sp>
      <p:sp>
        <p:nvSpPr>
          <p:cNvPr id="10" name="textbox-212">
            <a:extLst xmlns:a="http://schemas.openxmlformats.org/drawingml/2006/main">
              <a:ext uri="{FF2B5EF4-FFF2-40B4-BE49-F238E27FC236}">
                <a16:creationId xmlns:a16="http://schemas.microsoft.com/office/drawing/2014/main" id="{DBDF2DDC-6E49-4054-849D-8CE897A9C2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314450"/>
            <a:ext cx="533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071B3D"/>
                </a:solidFill>
              </a:defRPr>
            </a:pPr>
            <a:r>
              <a:rPr sz="1200" b="1">
                <a:solidFill>
                  <a:srgbClr val="071B3D"/>
                </a:solidFill>
              </a:rPr>
              <a:t>OIL</a:t>
            </a:r>
          </a:p>
        </p:txBody>
      </p:sp>
      <p:sp>
        <p:nvSpPr>
          <p:cNvPr id="11" name="textbox-213">
            <a:extLst xmlns:a="http://schemas.openxmlformats.org/drawingml/2006/main">
              <a:ext uri="{FF2B5EF4-FFF2-40B4-BE49-F238E27FC236}">
                <a16:creationId xmlns:a16="http://schemas.microsoft.com/office/drawing/2014/main" id="{02FE1FDB-F6A8-47CE-A670-5F8E1846A2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1381125"/>
            <a:ext cx="1524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071B3D"/>
                </a:solidFill>
              </a:defRPr>
            </a:pPr>
            <a:r>
              <a:rPr sz="1200" b="1">
                <a:solidFill>
                  <a:srgbClr val="071B3D"/>
                </a:solidFill>
              </a:rPr>
              <a:t>Oil Filter</a:t>
            </a:r>
          </a:p>
        </p:txBody>
      </p:sp>
      <p:sp>
        <p:nvSpPr>
          <p:cNvPr id="12" name="rect-214">
            <a:extLst xmlns:a="http://schemas.openxmlformats.org/drawingml/2006/main">
              <a:ext uri="{FF2B5EF4-FFF2-40B4-BE49-F238E27FC236}">
                <a16:creationId xmlns:a16="http://schemas.microsoft.com/office/drawing/2014/main" id="{23BE8D96-322D-44DF-A32A-38A56410D5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1571625"/>
            <a:ext cx="666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B3D"/>
          </a:solidFill>
          <a:ln xmlns:a="http://schemas.openxmlformats.org/drawingml/2006/main" w="0">
            <a:solidFill>
              <a:srgbClr val="071B3D"/>
            </a:solidFill>
            <a:prstDash val="solid"/>
          </a:ln>
        </p:spPr>
      </p:sp>
      <p:sp>
        <p:nvSpPr>
          <p:cNvPr id="13" name="roundRect-215">
            <a:extLst xmlns:a="http://schemas.openxmlformats.org/drawingml/2006/main">
              <a:ext uri="{FF2B5EF4-FFF2-40B4-BE49-F238E27FC236}">
                <a16:creationId xmlns:a16="http://schemas.microsoft.com/office/drawing/2014/main" id="{BBD31DFA-1B32-4EA3-B55F-9B2D7918DE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038350"/>
            <a:ext cx="514350" cy="704850"/>
          </a:xfrm>
          <a:prstGeom xmlns:a="http://schemas.openxmlformats.org/drawingml/2006/main" prst="roundRect">
            <a:avLst>
              <a:gd name="adj" fmla="val 370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071B3D"/>
            </a:solidFill>
            <a:prstDash val="solid"/>
          </a:ln>
        </p:spPr>
      </p:sp>
      <p:sp>
        <p:nvSpPr>
          <p:cNvPr id="14" name="textbox-216">
            <a:extLst xmlns:a="http://schemas.openxmlformats.org/drawingml/2006/main">
              <a:ext uri="{FF2B5EF4-FFF2-40B4-BE49-F238E27FC236}">
                <a16:creationId xmlns:a16="http://schemas.microsoft.com/office/drawing/2014/main" id="{92B53E15-B9D9-4DEF-B8B3-A77C8AA188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" y="2076450"/>
            <a:ext cx="4191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600" b="1">
                <a:solidFill>
                  <a:srgbClr val="0B8687"/>
                </a:solidFill>
              </a:defRPr>
            </a:pPr>
            <a:r>
              <a:rPr sz="600" b="1">
                <a:solidFill>
                  <a:srgbClr val="0B8687"/>
                </a:solidFill>
              </a:rPr>
              <a:t>INV</a:t>
            </a:r>
          </a:p>
        </p:txBody>
      </p:sp>
      <p:sp>
        <p:nvSpPr>
          <p:cNvPr id="15" name="rect-217">
            <a:extLst xmlns:a="http://schemas.openxmlformats.org/drawingml/2006/main">
              <a:ext uri="{FF2B5EF4-FFF2-40B4-BE49-F238E27FC236}">
                <a16:creationId xmlns:a16="http://schemas.microsoft.com/office/drawing/2014/main" id="{CADD29C4-EB4A-45DD-BC81-B1D220783D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295525"/>
            <a:ext cx="2857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8A6B3"/>
          </a:solidFill>
          <a:ln xmlns:a="http://schemas.openxmlformats.org/drawingml/2006/main" w="0">
            <a:solidFill>
              <a:srgbClr val="98A6B3"/>
            </a:solidFill>
            <a:prstDash val="solid"/>
          </a:ln>
        </p:spPr>
      </p:sp>
      <p:sp>
        <p:nvSpPr>
          <p:cNvPr id="16" name="rect-218">
            <a:extLst xmlns:a="http://schemas.openxmlformats.org/drawingml/2006/main">
              <a:ext uri="{FF2B5EF4-FFF2-40B4-BE49-F238E27FC236}">
                <a16:creationId xmlns:a16="http://schemas.microsoft.com/office/drawing/2014/main" id="{5962FB59-92E4-4181-913F-078AAF8582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400300"/>
            <a:ext cx="228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C0C8"/>
          </a:solidFill>
          <a:ln xmlns:a="http://schemas.openxmlformats.org/drawingml/2006/main" w="0">
            <a:solidFill>
              <a:srgbClr val="B7C0C8"/>
            </a:solidFill>
            <a:prstDash val="solid"/>
          </a:ln>
        </p:spPr>
      </p:sp>
      <p:sp>
        <p:nvSpPr>
          <p:cNvPr id="17" name="rect-219">
            <a:extLst xmlns:a="http://schemas.openxmlformats.org/drawingml/2006/main">
              <a:ext uri="{FF2B5EF4-FFF2-40B4-BE49-F238E27FC236}">
                <a16:creationId xmlns:a16="http://schemas.microsoft.com/office/drawing/2014/main" id="{CD842C12-D057-49F7-A8FA-62C8444B2C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505075"/>
            <a:ext cx="2667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C0C8"/>
          </a:solidFill>
          <a:ln xmlns:a="http://schemas.openxmlformats.org/drawingml/2006/main" w="0">
            <a:solidFill>
              <a:srgbClr val="B7C0C8"/>
            </a:solidFill>
            <a:prstDash val="solid"/>
          </a:ln>
        </p:spPr>
      </p:sp>
      <p:sp>
        <p:nvSpPr>
          <p:cNvPr id="18" name="textbox-220">
            <a:extLst xmlns:a="http://schemas.openxmlformats.org/drawingml/2006/main">
              <a:ext uri="{FF2B5EF4-FFF2-40B4-BE49-F238E27FC236}">
                <a16:creationId xmlns:a16="http://schemas.microsoft.com/office/drawing/2014/main" id="{83EF9CEA-72A8-4921-88EA-30319DD1D0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2543175"/>
            <a:ext cx="1524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071B3D"/>
                </a:solidFill>
              </a:defRPr>
            </a:pPr>
            <a:r>
              <a:rPr sz="750" b="1">
                <a:solidFill>
                  <a:srgbClr val="071B3D"/>
                </a:solidFill>
              </a:rPr>
              <a:t>£</a:t>
            </a:r>
          </a:p>
        </p:txBody>
      </p:sp>
      <p:sp>
        <p:nvSpPr>
          <p:cNvPr id="19" name="ellipse-221">
            <a:extLst xmlns:a="http://schemas.openxmlformats.org/drawingml/2006/main">
              <a:ext uri="{FF2B5EF4-FFF2-40B4-BE49-F238E27FC236}">
                <a16:creationId xmlns:a16="http://schemas.microsoft.com/office/drawing/2014/main" id="{CA7029F5-B4BF-4AA7-93FB-D92C4B764D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105025"/>
            <a:ext cx="533400" cy="533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071B3D"/>
            </a:solidFill>
            <a:prstDash val="solid"/>
          </a:ln>
        </p:spPr>
      </p:sp>
      <p:sp>
        <p:nvSpPr>
          <p:cNvPr id="20" name="textbox-222">
            <a:extLst xmlns:a="http://schemas.openxmlformats.org/drawingml/2006/main">
              <a:ext uri="{FF2B5EF4-FFF2-40B4-BE49-F238E27FC236}">
                <a16:creationId xmlns:a16="http://schemas.microsoft.com/office/drawing/2014/main" id="{91E9E302-5F4C-4C35-AF4E-970F1BE355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114550"/>
            <a:ext cx="533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071B3D"/>
                </a:solidFill>
              </a:defRPr>
            </a:pPr>
            <a:r>
              <a:rPr sz="1200" b="1">
                <a:solidFill>
                  <a:srgbClr val="071B3D"/>
                </a:solidFill>
              </a:rPr>
              <a:t>OL</a:t>
            </a:r>
          </a:p>
        </p:txBody>
      </p:sp>
      <p:sp>
        <p:nvSpPr>
          <p:cNvPr id="21" name="textbox-223">
            <a:extLst xmlns:a="http://schemas.openxmlformats.org/drawingml/2006/main">
              <a:ext uri="{FF2B5EF4-FFF2-40B4-BE49-F238E27FC236}">
                <a16:creationId xmlns:a16="http://schemas.microsoft.com/office/drawing/2014/main" id="{114E0E52-E397-4278-A9A5-59AAADC1D7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2181225"/>
            <a:ext cx="1524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071B3D"/>
                </a:solidFill>
              </a:defRPr>
            </a:pPr>
            <a:r>
              <a:rPr sz="1200" b="1">
                <a:solidFill>
                  <a:srgbClr val="071B3D"/>
                </a:solidFill>
              </a:rPr>
              <a:t>OL Filter</a:t>
            </a:r>
          </a:p>
        </p:txBody>
      </p:sp>
      <p:sp>
        <p:nvSpPr>
          <p:cNvPr id="22" name="rect-224">
            <a:extLst xmlns:a="http://schemas.openxmlformats.org/drawingml/2006/main">
              <a:ext uri="{FF2B5EF4-FFF2-40B4-BE49-F238E27FC236}">
                <a16:creationId xmlns:a16="http://schemas.microsoft.com/office/drawing/2014/main" id="{98D57696-837D-487F-861F-C7209DDB34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2371725"/>
            <a:ext cx="7048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B3D"/>
          </a:solidFill>
          <a:ln xmlns:a="http://schemas.openxmlformats.org/drawingml/2006/main" w="0">
            <a:solidFill>
              <a:srgbClr val="071B3D"/>
            </a:solidFill>
            <a:prstDash val="solid"/>
          </a:ln>
        </p:spPr>
      </p:sp>
      <p:sp>
        <p:nvSpPr>
          <p:cNvPr id="23" name="roundRect-225">
            <a:extLst xmlns:a="http://schemas.openxmlformats.org/drawingml/2006/main">
              <a:ext uri="{FF2B5EF4-FFF2-40B4-BE49-F238E27FC236}">
                <a16:creationId xmlns:a16="http://schemas.microsoft.com/office/drawing/2014/main" id="{A4ED5C00-3B43-4A2C-BC60-C16E9BB648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838450"/>
            <a:ext cx="514350" cy="704850"/>
          </a:xfrm>
          <a:prstGeom xmlns:a="http://schemas.openxmlformats.org/drawingml/2006/main" prst="roundRect">
            <a:avLst>
              <a:gd name="adj" fmla="val 370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071B3D"/>
            </a:solidFill>
            <a:prstDash val="solid"/>
          </a:ln>
        </p:spPr>
      </p:sp>
      <p:sp>
        <p:nvSpPr>
          <p:cNvPr id="24" name="textbox-226">
            <a:extLst xmlns:a="http://schemas.openxmlformats.org/drawingml/2006/main">
              <a:ext uri="{FF2B5EF4-FFF2-40B4-BE49-F238E27FC236}">
                <a16:creationId xmlns:a16="http://schemas.microsoft.com/office/drawing/2014/main" id="{43CCEB4D-7132-4FB0-8153-56F0AB7E02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" y="2876550"/>
            <a:ext cx="4191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600" b="1">
                <a:solidFill>
                  <a:srgbClr val="0B8687"/>
                </a:solidFill>
              </a:defRPr>
            </a:pPr>
            <a:r>
              <a:rPr sz="600" b="1">
                <a:solidFill>
                  <a:srgbClr val="0B8687"/>
                </a:solidFill>
              </a:rPr>
              <a:t>INV</a:t>
            </a:r>
          </a:p>
        </p:txBody>
      </p:sp>
      <p:sp>
        <p:nvSpPr>
          <p:cNvPr id="25" name="rect-227">
            <a:extLst xmlns:a="http://schemas.openxmlformats.org/drawingml/2006/main">
              <a:ext uri="{FF2B5EF4-FFF2-40B4-BE49-F238E27FC236}">
                <a16:creationId xmlns:a16="http://schemas.microsoft.com/office/drawing/2014/main" id="{8DF1C78D-E199-4861-A6B2-EE07F46944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095625"/>
            <a:ext cx="2857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8A6B3"/>
          </a:solidFill>
          <a:ln xmlns:a="http://schemas.openxmlformats.org/drawingml/2006/main" w="0">
            <a:solidFill>
              <a:srgbClr val="98A6B3"/>
            </a:solidFill>
            <a:prstDash val="solid"/>
          </a:ln>
        </p:spPr>
      </p:sp>
      <p:sp>
        <p:nvSpPr>
          <p:cNvPr id="26" name="rect-228">
            <a:extLst xmlns:a="http://schemas.openxmlformats.org/drawingml/2006/main">
              <a:ext uri="{FF2B5EF4-FFF2-40B4-BE49-F238E27FC236}">
                <a16:creationId xmlns:a16="http://schemas.microsoft.com/office/drawing/2014/main" id="{7E76AA41-6A70-44E4-AEAF-49A51ADFE5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200400"/>
            <a:ext cx="228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C0C8"/>
          </a:solidFill>
          <a:ln xmlns:a="http://schemas.openxmlformats.org/drawingml/2006/main" w="0">
            <a:solidFill>
              <a:srgbClr val="B7C0C8"/>
            </a:solidFill>
            <a:prstDash val="solid"/>
          </a:ln>
        </p:spPr>
      </p:sp>
      <p:sp>
        <p:nvSpPr>
          <p:cNvPr id="27" name="rect-229">
            <a:extLst xmlns:a="http://schemas.openxmlformats.org/drawingml/2006/main">
              <a:ext uri="{FF2B5EF4-FFF2-40B4-BE49-F238E27FC236}">
                <a16:creationId xmlns:a16="http://schemas.microsoft.com/office/drawing/2014/main" id="{753B1740-710C-4833-B3B8-0A121F62AE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305175"/>
            <a:ext cx="2667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C0C8"/>
          </a:solidFill>
          <a:ln xmlns:a="http://schemas.openxmlformats.org/drawingml/2006/main" w="0">
            <a:solidFill>
              <a:srgbClr val="B7C0C8"/>
            </a:solidFill>
            <a:prstDash val="solid"/>
          </a:ln>
        </p:spPr>
      </p:sp>
      <p:sp>
        <p:nvSpPr>
          <p:cNvPr id="28" name="textbox-230">
            <a:extLst xmlns:a="http://schemas.openxmlformats.org/drawingml/2006/main">
              <a:ext uri="{FF2B5EF4-FFF2-40B4-BE49-F238E27FC236}">
                <a16:creationId xmlns:a16="http://schemas.microsoft.com/office/drawing/2014/main" id="{2D28884C-E4C2-444A-A2C1-D0E60A1CA0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3343275"/>
            <a:ext cx="1524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071B3D"/>
                </a:solidFill>
              </a:defRPr>
            </a:pPr>
            <a:r>
              <a:rPr sz="750" b="1">
                <a:solidFill>
                  <a:srgbClr val="071B3D"/>
                </a:solidFill>
              </a:rPr>
              <a:t>£</a:t>
            </a:r>
          </a:p>
        </p:txBody>
      </p:sp>
      <p:sp>
        <p:nvSpPr>
          <p:cNvPr id="29" name="ellipse-231">
            <a:extLst xmlns:a="http://schemas.openxmlformats.org/drawingml/2006/main">
              <a:ext uri="{FF2B5EF4-FFF2-40B4-BE49-F238E27FC236}">
                <a16:creationId xmlns:a16="http://schemas.microsoft.com/office/drawing/2014/main" id="{B3EF249C-9303-439E-98F2-7725AFB619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905125"/>
            <a:ext cx="533400" cy="533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071B3D"/>
            </a:solidFill>
            <a:prstDash val="solid"/>
          </a:ln>
        </p:spPr>
      </p:sp>
      <p:sp>
        <p:nvSpPr>
          <p:cNvPr id="30" name="textbox-232">
            <a:extLst xmlns:a="http://schemas.openxmlformats.org/drawingml/2006/main">
              <a:ext uri="{FF2B5EF4-FFF2-40B4-BE49-F238E27FC236}">
                <a16:creationId xmlns:a16="http://schemas.microsoft.com/office/drawing/2014/main" id="{F9460387-78C3-4B7F-9F15-7AC13146F8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914650"/>
            <a:ext cx="533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071B3D"/>
                </a:solidFill>
              </a:defRPr>
            </a:pPr>
            <a:r>
              <a:rPr sz="1200" b="1">
                <a:solidFill>
                  <a:srgbClr val="071B3D"/>
                </a:solidFill>
              </a:rPr>
              <a:t>FIL</a:t>
            </a:r>
          </a:p>
        </p:txBody>
      </p:sp>
      <p:sp>
        <p:nvSpPr>
          <p:cNvPr id="31" name="textbox-233">
            <a:extLst xmlns:a="http://schemas.openxmlformats.org/drawingml/2006/main">
              <a:ext uri="{FF2B5EF4-FFF2-40B4-BE49-F238E27FC236}">
                <a16:creationId xmlns:a16="http://schemas.microsoft.com/office/drawing/2014/main" id="{000E1AF9-65BE-4E05-8D17-9FA7E4207B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2981325"/>
            <a:ext cx="1524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071B3D"/>
                </a:solidFill>
              </a:defRPr>
            </a:pPr>
            <a:r>
              <a:rPr sz="1200" b="1">
                <a:solidFill>
                  <a:srgbClr val="071B3D"/>
                </a:solidFill>
              </a:rPr>
              <a:t>Oil_Fil</a:t>
            </a:r>
          </a:p>
        </p:txBody>
      </p:sp>
      <p:sp>
        <p:nvSpPr>
          <p:cNvPr id="32" name="rect-234">
            <a:extLst xmlns:a="http://schemas.openxmlformats.org/drawingml/2006/main">
              <a:ext uri="{FF2B5EF4-FFF2-40B4-BE49-F238E27FC236}">
                <a16:creationId xmlns:a16="http://schemas.microsoft.com/office/drawing/2014/main" id="{70EF8B14-FB05-4CD0-878B-D3980F4A32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3171825"/>
            <a:ext cx="742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B3D"/>
          </a:solidFill>
          <a:ln xmlns:a="http://schemas.openxmlformats.org/drawingml/2006/main" w="0">
            <a:solidFill>
              <a:srgbClr val="071B3D"/>
            </a:solidFill>
            <a:prstDash val="solid"/>
          </a:ln>
        </p:spPr>
      </p:sp>
      <p:sp>
        <p:nvSpPr>
          <p:cNvPr id="33" name="roundRect-235">
            <a:extLst xmlns:a="http://schemas.openxmlformats.org/drawingml/2006/main">
              <a:ext uri="{FF2B5EF4-FFF2-40B4-BE49-F238E27FC236}">
                <a16:creationId xmlns:a16="http://schemas.microsoft.com/office/drawing/2014/main" id="{BD2AD628-0C57-4303-B7F5-D2EF64DEBA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638550"/>
            <a:ext cx="514350" cy="704850"/>
          </a:xfrm>
          <a:prstGeom xmlns:a="http://schemas.openxmlformats.org/drawingml/2006/main" prst="roundRect">
            <a:avLst>
              <a:gd name="adj" fmla="val 370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071B3D"/>
            </a:solidFill>
            <a:prstDash val="solid"/>
          </a:ln>
        </p:spPr>
      </p:sp>
      <p:sp>
        <p:nvSpPr>
          <p:cNvPr id="34" name="textbox-236">
            <a:extLst xmlns:a="http://schemas.openxmlformats.org/drawingml/2006/main">
              <a:ext uri="{FF2B5EF4-FFF2-40B4-BE49-F238E27FC236}">
                <a16:creationId xmlns:a16="http://schemas.microsoft.com/office/drawing/2014/main" id="{2F918E7A-2C71-4B62-A2B5-281B303836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" y="3676650"/>
            <a:ext cx="4191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600" b="1">
                <a:solidFill>
                  <a:srgbClr val="0B8687"/>
                </a:solidFill>
              </a:defRPr>
            </a:pPr>
            <a:r>
              <a:rPr sz="600" b="1">
                <a:solidFill>
                  <a:srgbClr val="0B8687"/>
                </a:solidFill>
              </a:rPr>
              <a:t>INV</a:t>
            </a:r>
          </a:p>
        </p:txBody>
      </p:sp>
      <p:sp>
        <p:nvSpPr>
          <p:cNvPr id="35" name="rect-237">
            <a:extLst xmlns:a="http://schemas.openxmlformats.org/drawingml/2006/main">
              <a:ext uri="{FF2B5EF4-FFF2-40B4-BE49-F238E27FC236}">
                <a16:creationId xmlns:a16="http://schemas.microsoft.com/office/drawing/2014/main" id="{3C138C1B-B379-4C32-8A48-0734A80B74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895725"/>
            <a:ext cx="2857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8A6B3"/>
          </a:solidFill>
          <a:ln xmlns:a="http://schemas.openxmlformats.org/drawingml/2006/main" w="0">
            <a:solidFill>
              <a:srgbClr val="98A6B3"/>
            </a:solidFill>
            <a:prstDash val="solid"/>
          </a:ln>
        </p:spPr>
      </p:sp>
      <p:sp>
        <p:nvSpPr>
          <p:cNvPr id="36" name="rect-238">
            <a:extLst xmlns:a="http://schemas.openxmlformats.org/drawingml/2006/main">
              <a:ext uri="{FF2B5EF4-FFF2-40B4-BE49-F238E27FC236}">
                <a16:creationId xmlns:a16="http://schemas.microsoft.com/office/drawing/2014/main" id="{5507C152-C276-4A92-B8BD-E9653BA1E5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000500"/>
            <a:ext cx="228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C0C8"/>
          </a:solidFill>
          <a:ln xmlns:a="http://schemas.openxmlformats.org/drawingml/2006/main" w="0">
            <a:solidFill>
              <a:srgbClr val="B7C0C8"/>
            </a:solidFill>
            <a:prstDash val="solid"/>
          </a:ln>
        </p:spPr>
      </p:sp>
      <p:sp>
        <p:nvSpPr>
          <p:cNvPr id="37" name="rect-239">
            <a:extLst xmlns:a="http://schemas.openxmlformats.org/drawingml/2006/main">
              <a:ext uri="{FF2B5EF4-FFF2-40B4-BE49-F238E27FC236}">
                <a16:creationId xmlns:a16="http://schemas.microsoft.com/office/drawing/2014/main" id="{3D004EE4-8180-42F9-B9C7-B5A5C8A314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105275"/>
            <a:ext cx="2667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C0C8"/>
          </a:solidFill>
          <a:ln xmlns:a="http://schemas.openxmlformats.org/drawingml/2006/main" w="0">
            <a:solidFill>
              <a:srgbClr val="B7C0C8"/>
            </a:solidFill>
            <a:prstDash val="solid"/>
          </a:ln>
        </p:spPr>
      </p:sp>
      <p:sp>
        <p:nvSpPr>
          <p:cNvPr id="38" name="textbox-240">
            <a:extLst xmlns:a="http://schemas.openxmlformats.org/drawingml/2006/main">
              <a:ext uri="{FF2B5EF4-FFF2-40B4-BE49-F238E27FC236}">
                <a16:creationId xmlns:a16="http://schemas.microsoft.com/office/drawing/2014/main" id="{4174D216-535A-4842-BB77-244D0F44F8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4143375"/>
            <a:ext cx="1524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071B3D"/>
                </a:solidFill>
              </a:defRPr>
            </a:pPr>
            <a:r>
              <a:rPr sz="750" b="1">
                <a:solidFill>
                  <a:srgbClr val="071B3D"/>
                </a:solidFill>
              </a:rPr>
              <a:t>£</a:t>
            </a:r>
          </a:p>
        </p:txBody>
      </p:sp>
      <p:sp>
        <p:nvSpPr>
          <p:cNvPr id="39" name="ellipse-241">
            <a:extLst xmlns:a="http://schemas.openxmlformats.org/drawingml/2006/main">
              <a:ext uri="{FF2B5EF4-FFF2-40B4-BE49-F238E27FC236}">
                <a16:creationId xmlns:a16="http://schemas.microsoft.com/office/drawing/2014/main" id="{A2382CBA-5B71-4EAE-9719-067D2D5124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705225"/>
            <a:ext cx="533400" cy="533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071B3D"/>
            </a:solidFill>
            <a:prstDash val="solid"/>
          </a:ln>
        </p:spPr>
      </p:sp>
      <p:sp>
        <p:nvSpPr>
          <p:cNvPr id="40" name="textbox-242">
            <a:extLst xmlns:a="http://schemas.openxmlformats.org/drawingml/2006/main">
              <a:ext uri="{FF2B5EF4-FFF2-40B4-BE49-F238E27FC236}">
                <a16:creationId xmlns:a16="http://schemas.microsoft.com/office/drawing/2014/main" id="{00843173-60E1-4C11-A076-F04BC0D4A8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714750"/>
            <a:ext cx="533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071B3D"/>
                </a:solidFill>
              </a:defRPr>
            </a:pPr>
            <a:r>
              <a:rPr sz="1200" b="1">
                <a:solidFill>
                  <a:srgbClr val="071B3D"/>
                </a:solidFill>
              </a:rPr>
              <a:t>ELM</a:t>
            </a:r>
          </a:p>
        </p:txBody>
      </p:sp>
      <p:sp>
        <p:nvSpPr>
          <p:cNvPr id="41" name="textbox-243">
            <a:extLst xmlns:a="http://schemas.openxmlformats.org/drawingml/2006/main">
              <a:ext uri="{FF2B5EF4-FFF2-40B4-BE49-F238E27FC236}">
                <a16:creationId xmlns:a16="http://schemas.microsoft.com/office/drawing/2014/main" id="{14261CCC-9F88-43CA-BCAE-7FBB507A2B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3781425"/>
            <a:ext cx="1524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071B3D"/>
                </a:solidFill>
              </a:defRPr>
            </a:pPr>
            <a:r>
              <a:rPr sz="1200" b="1">
                <a:solidFill>
                  <a:srgbClr val="071B3D"/>
                </a:solidFill>
              </a:rPr>
              <a:t>Oil Filter Element</a:t>
            </a:r>
          </a:p>
        </p:txBody>
      </p:sp>
      <p:sp>
        <p:nvSpPr>
          <p:cNvPr id="42" name="rect-244">
            <a:extLst xmlns:a="http://schemas.openxmlformats.org/drawingml/2006/main">
              <a:ext uri="{FF2B5EF4-FFF2-40B4-BE49-F238E27FC236}">
                <a16:creationId xmlns:a16="http://schemas.microsoft.com/office/drawing/2014/main" id="{B4A18FD3-C809-4BD2-B2AD-96C6F7DA0F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3971925"/>
            <a:ext cx="7810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B3D"/>
          </a:solidFill>
          <a:ln xmlns:a="http://schemas.openxmlformats.org/drawingml/2006/main" w="0">
            <a:solidFill>
              <a:srgbClr val="071B3D"/>
            </a:solidFill>
            <a:prstDash val="solid"/>
          </a:ln>
        </p:spPr>
      </p:sp>
      <p:sp>
        <p:nvSpPr>
          <p:cNvPr id="43" name="rect-245">
            <a:extLst xmlns:a="http://schemas.openxmlformats.org/drawingml/2006/main">
              <a:ext uri="{FF2B5EF4-FFF2-40B4-BE49-F238E27FC236}">
                <a16:creationId xmlns:a16="http://schemas.microsoft.com/office/drawing/2014/main" id="{EF194374-8617-4726-B0A2-8D4B20C551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2990850"/>
            <a:ext cx="2857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B3D"/>
          </a:solidFill>
          <a:ln xmlns:a="http://schemas.openxmlformats.org/drawingml/2006/main" w="0">
            <a:solidFill>
              <a:srgbClr val="071B3D"/>
            </a:solidFill>
            <a:prstDash val="solid"/>
          </a:ln>
        </p:spPr>
      </p:sp>
      <p:sp>
        <p:nvSpPr>
          <p:cNvPr id="44" name="textbox-246">
            <a:extLst xmlns:a="http://schemas.openxmlformats.org/drawingml/2006/main">
              <a:ext uri="{FF2B5EF4-FFF2-40B4-BE49-F238E27FC236}">
                <a16:creationId xmlns:a16="http://schemas.microsoft.com/office/drawing/2014/main" id="{717250BB-F1FB-43D9-8342-8C6758E8EE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24300" y="2847975"/>
            <a:ext cx="2476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071B3D"/>
                </a:solidFill>
              </a:defRPr>
            </a:pPr>
            <a:r>
              <a:rPr sz="2550" b="1">
                <a:solidFill>
                  <a:srgbClr val="071B3D"/>
                </a:solidFill>
              </a:rPr>
              <a:t>›</a:t>
            </a:r>
          </a:p>
        </p:txBody>
      </p:sp>
      <p:sp>
        <p:nvSpPr>
          <p:cNvPr id="45" name="textbox-247">
            <a:extLst xmlns:a="http://schemas.openxmlformats.org/drawingml/2006/main">
              <a:ext uri="{FF2B5EF4-FFF2-40B4-BE49-F238E27FC236}">
                <a16:creationId xmlns:a16="http://schemas.microsoft.com/office/drawing/2014/main" id="{7DEBCFED-3792-4237-BFCF-6D2193F60D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9050" y="1619250"/>
            <a:ext cx="11239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96C6D"/>
                </a:solidFill>
              </a:defRPr>
            </a:pPr>
            <a:r>
              <a:rPr sz="1350" b="1">
                <a:solidFill>
                  <a:srgbClr val="096C6D"/>
                </a:solidFill>
              </a:rPr>
              <a:t>Standard</a:t>
            </a:r>
          </a:p>
          <a:p xmlns:a="http://schemas.openxmlformats.org/drawingml/2006/main">
            <a:pPr algn="ctr">
              <a:defRPr sz="1350" b="1">
                <a:solidFill>
                  <a:srgbClr val="096C6D"/>
                </a:solidFill>
              </a:defRPr>
            </a:pPr>
            <a:r>
              <a:rPr sz="1350" b="1">
                <a:solidFill>
                  <a:srgbClr val="096C6D"/>
                </a:solidFill>
              </a:rPr>
              <a:t>repair item</a:t>
            </a:r>
          </a:p>
        </p:txBody>
      </p:sp>
      <p:sp>
        <p:nvSpPr>
          <p:cNvPr id="46" name="ellipse-248">
            <a:extLst xmlns:a="http://schemas.openxmlformats.org/drawingml/2006/main">
              <a:ext uri="{FF2B5EF4-FFF2-40B4-BE49-F238E27FC236}">
                <a16:creationId xmlns:a16="http://schemas.microsoft.com/office/drawing/2014/main" id="{1EA2C876-EF3D-4658-A758-F106C8B373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2190750"/>
            <a:ext cx="1066800" cy="1066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0B8687"/>
            </a:solidFill>
            <a:prstDash val="solid"/>
          </a:ln>
        </p:spPr>
      </p:sp>
      <p:sp>
        <p:nvSpPr>
          <p:cNvPr id="47" name="textbox-249">
            <a:extLst xmlns:a="http://schemas.openxmlformats.org/drawingml/2006/main">
              <a:ext uri="{FF2B5EF4-FFF2-40B4-BE49-F238E27FC236}">
                <a16:creationId xmlns:a16="http://schemas.microsoft.com/office/drawing/2014/main" id="{BD86C670-CDF6-4024-9A3E-F12AD6E9F1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2200275"/>
            <a:ext cx="10668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0B8687"/>
                </a:solidFill>
              </a:defRPr>
            </a:pPr>
            <a:r>
              <a:rPr sz="1275" b="1">
                <a:solidFill>
                  <a:srgbClr val="0B8687"/>
                </a:solidFill>
              </a:rPr>
              <a:t>OIL</a:t>
            </a:r>
          </a:p>
          <a:p xmlns:a="http://schemas.openxmlformats.org/drawingml/2006/main">
            <a:pPr algn="ctr">
              <a:defRPr sz="1275" b="1">
                <a:solidFill>
                  <a:srgbClr val="0B8687"/>
                </a:solidFill>
              </a:defRPr>
            </a:pPr>
            <a:r>
              <a:rPr sz="1275" b="1">
                <a:solidFill>
                  <a:srgbClr val="0B8687"/>
                </a:solidFill>
              </a:rPr>
              <a:t>FILTER</a:t>
            </a:r>
          </a:p>
        </p:txBody>
      </p:sp>
      <p:sp>
        <p:nvSpPr>
          <p:cNvPr id="48" name="rect-250">
            <a:extLst xmlns:a="http://schemas.openxmlformats.org/drawingml/2006/main">
              <a:ext uri="{FF2B5EF4-FFF2-40B4-BE49-F238E27FC236}">
                <a16:creationId xmlns:a16="http://schemas.microsoft.com/office/drawing/2014/main" id="{2A727A87-9A9E-4E58-A0F9-CDA9AF16D6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2990850"/>
            <a:ext cx="2857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B3D"/>
          </a:solidFill>
          <a:ln xmlns:a="http://schemas.openxmlformats.org/drawingml/2006/main" w="0">
            <a:solidFill>
              <a:srgbClr val="071B3D"/>
            </a:solidFill>
            <a:prstDash val="solid"/>
          </a:ln>
        </p:spPr>
      </p:sp>
      <p:sp>
        <p:nvSpPr>
          <p:cNvPr id="49" name="textbox-251">
            <a:extLst xmlns:a="http://schemas.openxmlformats.org/drawingml/2006/main">
              <a:ext uri="{FF2B5EF4-FFF2-40B4-BE49-F238E27FC236}">
                <a16:creationId xmlns:a16="http://schemas.microsoft.com/office/drawing/2014/main" id="{8BBD7378-E2FA-4A72-BFCE-0DFD408767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2847975"/>
            <a:ext cx="2476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071B3D"/>
                </a:solidFill>
              </a:defRPr>
            </a:pPr>
            <a:r>
              <a:rPr sz="2550" b="1">
                <a:solidFill>
                  <a:srgbClr val="071B3D"/>
                </a:solidFill>
              </a:rPr>
              <a:t>›</a:t>
            </a:r>
          </a:p>
        </p:txBody>
      </p:sp>
      <p:sp>
        <p:nvSpPr>
          <p:cNvPr id="50" name="textbox-252">
            <a:extLst xmlns:a="http://schemas.openxmlformats.org/drawingml/2006/main">
              <a:ext uri="{FF2B5EF4-FFF2-40B4-BE49-F238E27FC236}">
                <a16:creationId xmlns:a16="http://schemas.microsoft.com/office/drawing/2014/main" id="{A598AEC6-E49B-4574-ABCA-16E90F9A86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981075"/>
            <a:ext cx="1619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096C6D"/>
                </a:solidFill>
              </a:defRPr>
            </a:pPr>
            <a:r>
              <a:rPr sz="1500" b="1">
                <a:solidFill>
                  <a:srgbClr val="096C6D"/>
                </a:solidFill>
              </a:rPr>
              <a:t>Earlier invoices</a:t>
            </a:r>
          </a:p>
        </p:txBody>
      </p:sp>
      <p:sp>
        <p:nvSpPr>
          <p:cNvPr id="51" name="roundRect-253">
            <a:extLst xmlns:a="http://schemas.openxmlformats.org/drawingml/2006/main">
              <a:ext uri="{FF2B5EF4-FFF2-40B4-BE49-F238E27FC236}">
                <a16:creationId xmlns:a16="http://schemas.microsoft.com/office/drawing/2014/main" id="{9A488609-8B11-41A2-9296-52D923FAC4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3125" y="1476375"/>
            <a:ext cx="514350" cy="704850"/>
          </a:xfrm>
          <a:prstGeom xmlns:a="http://schemas.openxmlformats.org/drawingml/2006/main" prst="roundRect">
            <a:avLst>
              <a:gd name="adj" fmla="val 370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071B3D"/>
            </a:solidFill>
            <a:prstDash val="solid"/>
          </a:ln>
        </p:spPr>
      </p:sp>
      <p:sp>
        <p:nvSpPr>
          <p:cNvPr id="52" name="textbox-254">
            <a:extLst xmlns:a="http://schemas.openxmlformats.org/drawingml/2006/main">
              <a:ext uri="{FF2B5EF4-FFF2-40B4-BE49-F238E27FC236}">
                <a16:creationId xmlns:a16="http://schemas.microsoft.com/office/drawing/2014/main" id="{B945F348-12EE-4F1C-9506-0D017D5ECE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1514475"/>
            <a:ext cx="4191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600" b="1">
                <a:solidFill>
                  <a:srgbClr val="0B8687"/>
                </a:solidFill>
              </a:defRPr>
            </a:pPr>
            <a:r>
              <a:rPr sz="600" b="1">
                <a:solidFill>
                  <a:srgbClr val="0B8687"/>
                </a:solidFill>
              </a:rPr>
              <a:t>INV-1001</a:t>
            </a:r>
          </a:p>
        </p:txBody>
      </p:sp>
      <p:sp>
        <p:nvSpPr>
          <p:cNvPr id="53" name="rect-255">
            <a:extLst xmlns:a="http://schemas.openxmlformats.org/drawingml/2006/main">
              <a:ext uri="{FF2B5EF4-FFF2-40B4-BE49-F238E27FC236}">
                <a16:creationId xmlns:a16="http://schemas.microsoft.com/office/drawing/2014/main" id="{1ED2A0ED-156D-466B-A37C-E097E48A4C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8375" y="1733550"/>
            <a:ext cx="2857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8A6B3"/>
          </a:solidFill>
          <a:ln xmlns:a="http://schemas.openxmlformats.org/drawingml/2006/main" w="0">
            <a:solidFill>
              <a:srgbClr val="98A6B3"/>
            </a:solidFill>
            <a:prstDash val="solid"/>
          </a:ln>
        </p:spPr>
      </p:sp>
      <p:sp>
        <p:nvSpPr>
          <p:cNvPr id="54" name="rect-256">
            <a:extLst xmlns:a="http://schemas.openxmlformats.org/drawingml/2006/main">
              <a:ext uri="{FF2B5EF4-FFF2-40B4-BE49-F238E27FC236}">
                <a16:creationId xmlns:a16="http://schemas.microsoft.com/office/drawing/2014/main" id="{C9A222C6-4EB0-416E-8B31-A584FB3822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8375" y="1838325"/>
            <a:ext cx="228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C0C8"/>
          </a:solidFill>
          <a:ln xmlns:a="http://schemas.openxmlformats.org/drawingml/2006/main" w="0">
            <a:solidFill>
              <a:srgbClr val="B7C0C8"/>
            </a:solidFill>
            <a:prstDash val="solid"/>
          </a:ln>
        </p:spPr>
      </p:sp>
      <p:sp>
        <p:nvSpPr>
          <p:cNvPr id="55" name="rect-257">
            <a:extLst xmlns:a="http://schemas.openxmlformats.org/drawingml/2006/main">
              <a:ext uri="{FF2B5EF4-FFF2-40B4-BE49-F238E27FC236}">
                <a16:creationId xmlns:a16="http://schemas.microsoft.com/office/drawing/2014/main" id="{AC7A19FA-6206-46C6-8829-2AB48931AB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8375" y="1943100"/>
            <a:ext cx="2667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C0C8"/>
          </a:solidFill>
          <a:ln xmlns:a="http://schemas.openxmlformats.org/drawingml/2006/main" w="0">
            <a:solidFill>
              <a:srgbClr val="B7C0C8"/>
            </a:solidFill>
            <a:prstDash val="solid"/>
          </a:ln>
        </p:spPr>
      </p:sp>
      <p:sp>
        <p:nvSpPr>
          <p:cNvPr id="56" name="textbox-258">
            <a:extLst xmlns:a="http://schemas.openxmlformats.org/drawingml/2006/main">
              <a:ext uri="{FF2B5EF4-FFF2-40B4-BE49-F238E27FC236}">
                <a16:creationId xmlns:a16="http://schemas.microsoft.com/office/drawing/2014/main" id="{6EF4CCE6-E681-4F03-9EC5-2BA70F0F24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1981200"/>
            <a:ext cx="1524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071B3D"/>
                </a:solidFill>
              </a:defRPr>
            </a:pPr>
            <a:r>
              <a:rPr sz="750" b="1">
                <a:solidFill>
                  <a:srgbClr val="071B3D"/>
                </a:solidFill>
              </a:rPr>
              <a:t>£</a:t>
            </a:r>
          </a:p>
        </p:txBody>
      </p:sp>
      <p:sp>
        <p:nvSpPr>
          <p:cNvPr id="57" name="roundRect-259">
            <a:extLst xmlns:a="http://schemas.openxmlformats.org/drawingml/2006/main">
              <a:ext uri="{FF2B5EF4-FFF2-40B4-BE49-F238E27FC236}">
                <a16:creationId xmlns:a16="http://schemas.microsoft.com/office/drawing/2014/main" id="{359EBBE0-FC1D-4570-BDF0-FA31B001C1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1609725"/>
            <a:ext cx="514350" cy="704850"/>
          </a:xfrm>
          <a:prstGeom xmlns:a="http://schemas.openxmlformats.org/drawingml/2006/main" prst="roundRect">
            <a:avLst>
              <a:gd name="adj" fmla="val 370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071B3D"/>
            </a:solidFill>
            <a:prstDash val="solid"/>
          </a:ln>
        </p:spPr>
      </p:sp>
      <p:sp>
        <p:nvSpPr>
          <p:cNvPr id="58" name="textbox-260">
            <a:extLst xmlns:a="http://schemas.openxmlformats.org/drawingml/2006/main">
              <a:ext uri="{FF2B5EF4-FFF2-40B4-BE49-F238E27FC236}">
                <a16:creationId xmlns:a16="http://schemas.microsoft.com/office/drawing/2014/main" id="{FB345F8B-A074-4B8F-9837-62E3F9295B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05525" y="1647825"/>
            <a:ext cx="4191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600" b="1">
                <a:solidFill>
                  <a:srgbClr val="0B8687"/>
                </a:solidFill>
              </a:defRPr>
            </a:pPr>
            <a:r>
              <a:rPr sz="600" b="1">
                <a:solidFill>
                  <a:srgbClr val="0B8687"/>
                </a:solidFill>
              </a:rPr>
              <a:t>INV-1002</a:t>
            </a:r>
          </a:p>
        </p:txBody>
      </p:sp>
      <p:sp>
        <p:nvSpPr>
          <p:cNvPr id="59" name="rect-261">
            <a:extLst xmlns:a="http://schemas.openxmlformats.org/drawingml/2006/main">
              <a:ext uri="{FF2B5EF4-FFF2-40B4-BE49-F238E27FC236}">
                <a16:creationId xmlns:a16="http://schemas.microsoft.com/office/drawing/2014/main" id="{535162ED-2865-48D3-B858-EAE7A5A62E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1866900"/>
            <a:ext cx="2857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8A6B3"/>
          </a:solidFill>
          <a:ln xmlns:a="http://schemas.openxmlformats.org/drawingml/2006/main" w="0">
            <a:solidFill>
              <a:srgbClr val="98A6B3"/>
            </a:solidFill>
            <a:prstDash val="solid"/>
          </a:ln>
        </p:spPr>
      </p:sp>
      <p:sp>
        <p:nvSpPr>
          <p:cNvPr id="60" name="rect-262">
            <a:extLst xmlns:a="http://schemas.openxmlformats.org/drawingml/2006/main">
              <a:ext uri="{FF2B5EF4-FFF2-40B4-BE49-F238E27FC236}">
                <a16:creationId xmlns:a16="http://schemas.microsoft.com/office/drawing/2014/main" id="{B265EB0E-D344-44C6-AD58-4B3E058A3C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1971675"/>
            <a:ext cx="228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C0C8"/>
          </a:solidFill>
          <a:ln xmlns:a="http://schemas.openxmlformats.org/drawingml/2006/main" w="0">
            <a:solidFill>
              <a:srgbClr val="B7C0C8"/>
            </a:solidFill>
            <a:prstDash val="solid"/>
          </a:ln>
        </p:spPr>
      </p:sp>
      <p:sp>
        <p:nvSpPr>
          <p:cNvPr id="61" name="rect-263">
            <a:extLst xmlns:a="http://schemas.openxmlformats.org/drawingml/2006/main">
              <a:ext uri="{FF2B5EF4-FFF2-40B4-BE49-F238E27FC236}">
                <a16:creationId xmlns:a16="http://schemas.microsoft.com/office/drawing/2014/main" id="{35017B87-FA48-4FF1-9881-16B50F30D4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2076450"/>
            <a:ext cx="2667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C0C8"/>
          </a:solidFill>
          <a:ln xmlns:a="http://schemas.openxmlformats.org/drawingml/2006/main" w="0">
            <a:solidFill>
              <a:srgbClr val="B7C0C8"/>
            </a:solidFill>
            <a:prstDash val="solid"/>
          </a:ln>
        </p:spPr>
      </p:sp>
      <p:sp>
        <p:nvSpPr>
          <p:cNvPr id="62" name="textbox-264">
            <a:extLst xmlns:a="http://schemas.openxmlformats.org/drawingml/2006/main">
              <a:ext uri="{FF2B5EF4-FFF2-40B4-BE49-F238E27FC236}">
                <a16:creationId xmlns:a16="http://schemas.microsoft.com/office/drawing/2014/main" id="{DB4EC3A2-5BCF-4F1F-AF2B-4236DC3A71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72225" y="2114550"/>
            <a:ext cx="1524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071B3D"/>
                </a:solidFill>
              </a:defRPr>
            </a:pPr>
            <a:r>
              <a:rPr sz="750" b="1">
                <a:solidFill>
                  <a:srgbClr val="071B3D"/>
                </a:solidFill>
              </a:rPr>
              <a:t>£</a:t>
            </a:r>
          </a:p>
        </p:txBody>
      </p:sp>
      <p:sp>
        <p:nvSpPr>
          <p:cNvPr id="63" name="roundRect-265">
            <a:extLst xmlns:a="http://schemas.openxmlformats.org/drawingml/2006/main">
              <a:ext uri="{FF2B5EF4-FFF2-40B4-BE49-F238E27FC236}">
                <a16:creationId xmlns:a16="http://schemas.microsoft.com/office/drawing/2014/main" id="{ADE112DD-F1BC-4E14-815C-7E33D8A942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2675" y="1743075"/>
            <a:ext cx="514350" cy="704850"/>
          </a:xfrm>
          <a:prstGeom xmlns:a="http://schemas.openxmlformats.org/drawingml/2006/main" prst="roundRect">
            <a:avLst>
              <a:gd name="adj" fmla="val 370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071B3D"/>
            </a:solidFill>
            <a:prstDash val="solid"/>
          </a:ln>
        </p:spPr>
      </p:sp>
      <p:sp>
        <p:nvSpPr>
          <p:cNvPr id="64" name="textbox-266">
            <a:extLst xmlns:a="http://schemas.openxmlformats.org/drawingml/2006/main">
              <a:ext uri="{FF2B5EF4-FFF2-40B4-BE49-F238E27FC236}">
                <a16:creationId xmlns:a16="http://schemas.microsoft.com/office/drawing/2014/main" id="{ABC17676-B5AA-4611-9F13-2DCB5BCCD1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1781175"/>
            <a:ext cx="4191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600" b="1">
                <a:solidFill>
                  <a:srgbClr val="0B8687"/>
                </a:solidFill>
              </a:defRPr>
            </a:pPr>
            <a:r>
              <a:rPr sz="600" b="1">
                <a:solidFill>
                  <a:srgbClr val="0B8687"/>
                </a:solidFill>
              </a:rPr>
              <a:t>INV-1003</a:t>
            </a:r>
          </a:p>
        </p:txBody>
      </p:sp>
      <p:sp>
        <p:nvSpPr>
          <p:cNvPr id="65" name="rect-267">
            <a:extLst xmlns:a="http://schemas.openxmlformats.org/drawingml/2006/main">
              <a:ext uri="{FF2B5EF4-FFF2-40B4-BE49-F238E27FC236}">
                <a16:creationId xmlns:a16="http://schemas.microsoft.com/office/drawing/2014/main" id="{AFC7B321-1877-4EEA-AC31-692B034335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7925" y="2000250"/>
            <a:ext cx="2857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8A6B3"/>
          </a:solidFill>
          <a:ln xmlns:a="http://schemas.openxmlformats.org/drawingml/2006/main" w="0">
            <a:solidFill>
              <a:srgbClr val="98A6B3"/>
            </a:solidFill>
            <a:prstDash val="solid"/>
          </a:ln>
        </p:spPr>
      </p:sp>
      <p:sp>
        <p:nvSpPr>
          <p:cNvPr id="66" name="rect-268">
            <a:extLst xmlns:a="http://schemas.openxmlformats.org/drawingml/2006/main">
              <a:ext uri="{FF2B5EF4-FFF2-40B4-BE49-F238E27FC236}">
                <a16:creationId xmlns:a16="http://schemas.microsoft.com/office/drawing/2014/main" id="{9FB6F2A9-7FE3-4C15-B74C-8091651E29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7925" y="2105025"/>
            <a:ext cx="228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C0C8"/>
          </a:solidFill>
          <a:ln xmlns:a="http://schemas.openxmlformats.org/drawingml/2006/main" w="0">
            <a:solidFill>
              <a:srgbClr val="B7C0C8"/>
            </a:solidFill>
            <a:prstDash val="solid"/>
          </a:ln>
        </p:spPr>
      </p:sp>
      <p:sp>
        <p:nvSpPr>
          <p:cNvPr id="67" name="rect-269">
            <a:extLst xmlns:a="http://schemas.openxmlformats.org/drawingml/2006/main">
              <a:ext uri="{FF2B5EF4-FFF2-40B4-BE49-F238E27FC236}">
                <a16:creationId xmlns:a16="http://schemas.microsoft.com/office/drawing/2014/main" id="{33830C13-7C71-4CDA-AAB3-E66ABDE579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7925" y="2209800"/>
            <a:ext cx="2667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C0C8"/>
          </a:solidFill>
          <a:ln xmlns:a="http://schemas.openxmlformats.org/drawingml/2006/main" w="0">
            <a:solidFill>
              <a:srgbClr val="B7C0C8"/>
            </a:solidFill>
            <a:prstDash val="solid"/>
          </a:ln>
        </p:spPr>
      </p:sp>
      <p:sp>
        <p:nvSpPr>
          <p:cNvPr id="68" name="textbox-270">
            <a:extLst xmlns:a="http://schemas.openxmlformats.org/drawingml/2006/main">
              <a:ext uri="{FF2B5EF4-FFF2-40B4-BE49-F238E27FC236}">
                <a16:creationId xmlns:a16="http://schemas.microsoft.com/office/drawing/2014/main" id="{1DF3046F-454F-439B-9FD5-C6334085D4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247900"/>
            <a:ext cx="1524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071B3D"/>
                </a:solidFill>
              </a:defRPr>
            </a:pPr>
            <a:r>
              <a:rPr sz="750" b="1">
                <a:solidFill>
                  <a:srgbClr val="071B3D"/>
                </a:solidFill>
              </a:rPr>
              <a:t>£</a:t>
            </a:r>
          </a:p>
        </p:txBody>
      </p:sp>
      <p:sp>
        <p:nvSpPr>
          <p:cNvPr id="69" name="roundRect-271">
            <a:extLst xmlns:a="http://schemas.openxmlformats.org/drawingml/2006/main">
              <a:ext uri="{FF2B5EF4-FFF2-40B4-BE49-F238E27FC236}">
                <a16:creationId xmlns:a16="http://schemas.microsoft.com/office/drawing/2014/main" id="{E12DB4CB-607D-4315-ADA5-EE0129E7BA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1876425"/>
            <a:ext cx="514350" cy="704850"/>
          </a:xfrm>
          <a:prstGeom xmlns:a="http://schemas.openxmlformats.org/drawingml/2006/main" prst="roundRect">
            <a:avLst>
              <a:gd name="adj" fmla="val 370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071B3D"/>
            </a:solidFill>
            <a:prstDash val="solid"/>
          </a:ln>
        </p:spPr>
      </p:sp>
      <p:sp>
        <p:nvSpPr>
          <p:cNvPr id="70" name="textbox-272">
            <a:extLst xmlns:a="http://schemas.openxmlformats.org/drawingml/2006/main">
              <a:ext uri="{FF2B5EF4-FFF2-40B4-BE49-F238E27FC236}">
                <a16:creationId xmlns:a16="http://schemas.microsoft.com/office/drawing/2014/main" id="{96013D72-A8AC-4ABC-857A-3D530E93D4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15075" y="1914525"/>
            <a:ext cx="4191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600" b="1">
                <a:solidFill>
                  <a:srgbClr val="0B8687"/>
                </a:solidFill>
              </a:defRPr>
            </a:pPr>
            <a:r>
              <a:rPr sz="600" b="1">
                <a:solidFill>
                  <a:srgbClr val="0B8687"/>
                </a:solidFill>
              </a:rPr>
              <a:t>INV-1004</a:t>
            </a:r>
          </a:p>
        </p:txBody>
      </p:sp>
      <p:sp>
        <p:nvSpPr>
          <p:cNvPr id="71" name="rect-273">
            <a:extLst xmlns:a="http://schemas.openxmlformats.org/drawingml/2006/main">
              <a:ext uri="{FF2B5EF4-FFF2-40B4-BE49-F238E27FC236}">
                <a16:creationId xmlns:a16="http://schemas.microsoft.com/office/drawing/2014/main" id="{4A975EAD-FE51-479B-927E-A719A900FB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2133600"/>
            <a:ext cx="2857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8A6B3"/>
          </a:solidFill>
          <a:ln xmlns:a="http://schemas.openxmlformats.org/drawingml/2006/main" w="0">
            <a:solidFill>
              <a:srgbClr val="98A6B3"/>
            </a:solidFill>
            <a:prstDash val="solid"/>
          </a:ln>
        </p:spPr>
      </p:sp>
      <p:sp>
        <p:nvSpPr>
          <p:cNvPr id="72" name="rect-274">
            <a:extLst xmlns:a="http://schemas.openxmlformats.org/drawingml/2006/main">
              <a:ext uri="{FF2B5EF4-FFF2-40B4-BE49-F238E27FC236}">
                <a16:creationId xmlns:a16="http://schemas.microsoft.com/office/drawing/2014/main" id="{05C411CA-0BCA-407C-8E51-A2F3E7A106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2238375"/>
            <a:ext cx="228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C0C8"/>
          </a:solidFill>
          <a:ln xmlns:a="http://schemas.openxmlformats.org/drawingml/2006/main" w="0">
            <a:solidFill>
              <a:srgbClr val="B7C0C8"/>
            </a:solidFill>
            <a:prstDash val="solid"/>
          </a:ln>
        </p:spPr>
      </p:sp>
      <p:sp>
        <p:nvSpPr>
          <p:cNvPr id="73" name="rect-275">
            <a:extLst xmlns:a="http://schemas.openxmlformats.org/drawingml/2006/main">
              <a:ext uri="{FF2B5EF4-FFF2-40B4-BE49-F238E27FC236}">
                <a16:creationId xmlns:a16="http://schemas.microsoft.com/office/drawing/2014/main" id="{2FFC4FD2-D946-4220-9788-A5C0B7092F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2343150"/>
            <a:ext cx="2667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C0C8"/>
          </a:solidFill>
          <a:ln xmlns:a="http://schemas.openxmlformats.org/drawingml/2006/main" w="0">
            <a:solidFill>
              <a:srgbClr val="B7C0C8"/>
            </a:solidFill>
            <a:prstDash val="solid"/>
          </a:ln>
        </p:spPr>
      </p:sp>
      <p:sp>
        <p:nvSpPr>
          <p:cNvPr id="74" name="textbox-276">
            <a:extLst xmlns:a="http://schemas.openxmlformats.org/drawingml/2006/main">
              <a:ext uri="{FF2B5EF4-FFF2-40B4-BE49-F238E27FC236}">
                <a16:creationId xmlns:a16="http://schemas.microsoft.com/office/drawing/2014/main" id="{BF5B6EB3-40FA-490F-832F-D1526ACBDF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1775" y="2381250"/>
            <a:ext cx="1524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071B3D"/>
                </a:solidFill>
              </a:defRPr>
            </a:pPr>
            <a:r>
              <a:rPr sz="750" b="1">
                <a:solidFill>
                  <a:srgbClr val="071B3D"/>
                </a:solidFill>
              </a:rPr>
              <a:t>£</a:t>
            </a:r>
          </a:p>
        </p:txBody>
      </p:sp>
      <p:sp>
        <p:nvSpPr>
          <p:cNvPr id="75" name="roundRect-277">
            <a:extLst xmlns:a="http://schemas.openxmlformats.org/drawingml/2006/main">
              <a:ext uri="{FF2B5EF4-FFF2-40B4-BE49-F238E27FC236}">
                <a16:creationId xmlns:a16="http://schemas.microsoft.com/office/drawing/2014/main" id="{186EEACA-80A3-4B5F-B005-4F29EC8806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72225" y="2009775"/>
            <a:ext cx="514350" cy="704850"/>
          </a:xfrm>
          <a:prstGeom xmlns:a="http://schemas.openxmlformats.org/drawingml/2006/main" prst="roundRect">
            <a:avLst>
              <a:gd name="adj" fmla="val 370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071B3D"/>
            </a:solidFill>
            <a:prstDash val="solid"/>
          </a:ln>
        </p:spPr>
      </p:sp>
      <p:sp>
        <p:nvSpPr>
          <p:cNvPr id="76" name="textbox-278">
            <a:extLst xmlns:a="http://schemas.openxmlformats.org/drawingml/2006/main">
              <a:ext uri="{FF2B5EF4-FFF2-40B4-BE49-F238E27FC236}">
                <a16:creationId xmlns:a16="http://schemas.microsoft.com/office/drawing/2014/main" id="{DFC19B1E-E636-44E6-8500-8796DFF5F0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2047875"/>
            <a:ext cx="4191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600" b="1">
                <a:solidFill>
                  <a:srgbClr val="0B8687"/>
                </a:solidFill>
              </a:defRPr>
            </a:pPr>
            <a:r>
              <a:rPr sz="600" b="1">
                <a:solidFill>
                  <a:srgbClr val="0B8687"/>
                </a:solidFill>
              </a:rPr>
              <a:t>INV-1005</a:t>
            </a:r>
          </a:p>
        </p:txBody>
      </p:sp>
      <p:sp>
        <p:nvSpPr>
          <p:cNvPr id="77" name="rect-279">
            <a:extLst xmlns:a="http://schemas.openxmlformats.org/drawingml/2006/main">
              <a:ext uri="{FF2B5EF4-FFF2-40B4-BE49-F238E27FC236}">
                <a16:creationId xmlns:a16="http://schemas.microsoft.com/office/drawing/2014/main" id="{104E8079-47F7-400B-A0B3-087CAB1598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67475" y="2266950"/>
            <a:ext cx="2857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8A6B3"/>
          </a:solidFill>
          <a:ln xmlns:a="http://schemas.openxmlformats.org/drawingml/2006/main" w="0">
            <a:solidFill>
              <a:srgbClr val="98A6B3"/>
            </a:solidFill>
            <a:prstDash val="solid"/>
          </a:ln>
        </p:spPr>
      </p:sp>
      <p:sp>
        <p:nvSpPr>
          <p:cNvPr id="78" name="rect-280">
            <a:extLst xmlns:a="http://schemas.openxmlformats.org/drawingml/2006/main">
              <a:ext uri="{FF2B5EF4-FFF2-40B4-BE49-F238E27FC236}">
                <a16:creationId xmlns:a16="http://schemas.microsoft.com/office/drawing/2014/main" id="{714E826C-C370-42AB-8F25-03052EB8A2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67475" y="2371725"/>
            <a:ext cx="228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C0C8"/>
          </a:solidFill>
          <a:ln xmlns:a="http://schemas.openxmlformats.org/drawingml/2006/main" w="0">
            <a:solidFill>
              <a:srgbClr val="B7C0C8"/>
            </a:solidFill>
            <a:prstDash val="solid"/>
          </a:ln>
        </p:spPr>
      </p:sp>
      <p:sp>
        <p:nvSpPr>
          <p:cNvPr id="79" name="rect-281">
            <a:extLst xmlns:a="http://schemas.openxmlformats.org/drawingml/2006/main">
              <a:ext uri="{FF2B5EF4-FFF2-40B4-BE49-F238E27FC236}">
                <a16:creationId xmlns:a16="http://schemas.microsoft.com/office/drawing/2014/main" id="{5B2ED989-EBA4-4C46-8D3D-D6DAAA6B78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67475" y="2476500"/>
            <a:ext cx="2667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C0C8"/>
          </a:solidFill>
          <a:ln xmlns:a="http://schemas.openxmlformats.org/drawingml/2006/main" w="0">
            <a:solidFill>
              <a:srgbClr val="B7C0C8"/>
            </a:solidFill>
            <a:prstDash val="solid"/>
          </a:ln>
        </p:spPr>
      </p:sp>
      <p:sp>
        <p:nvSpPr>
          <p:cNvPr id="80" name="textbox-282">
            <a:extLst xmlns:a="http://schemas.openxmlformats.org/drawingml/2006/main">
              <a:ext uri="{FF2B5EF4-FFF2-40B4-BE49-F238E27FC236}">
                <a16:creationId xmlns:a16="http://schemas.microsoft.com/office/drawing/2014/main" id="{F01C888C-1CFA-4A30-A8DD-ED622EC4B0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2514600"/>
            <a:ext cx="1524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071B3D"/>
                </a:solidFill>
              </a:defRPr>
            </a:pPr>
            <a:r>
              <a:rPr sz="750" b="1">
                <a:solidFill>
                  <a:srgbClr val="071B3D"/>
                </a:solidFill>
              </a:rPr>
              <a:t>£</a:t>
            </a:r>
          </a:p>
        </p:txBody>
      </p:sp>
      <p:sp>
        <p:nvSpPr>
          <p:cNvPr id="81" name="rect-283">
            <a:extLst xmlns:a="http://schemas.openxmlformats.org/drawingml/2006/main">
              <a:ext uri="{FF2B5EF4-FFF2-40B4-BE49-F238E27FC236}">
                <a16:creationId xmlns:a16="http://schemas.microsoft.com/office/drawing/2014/main" id="{274CE971-8DB8-4297-AB75-4B16A1349F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2686050"/>
            <a:ext cx="476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B3D"/>
          </a:solidFill>
          <a:ln xmlns:a="http://schemas.openxmlformats.org/drawingml/2006/main" w="0">
            <a:solidFill>
              <a:srgbClr val="071B3D"/>
            </a:solidFill>
            <a:prstDash val="solid"/>
          </a:ln>
        </p:spPr>
      </p:sp>
      <p:sp>
        <p:nvSpPr>
          <p:cNvPr id="82" name="textbox-284">
            <a:extLst xmlns:a="http://schemas.openxmlformats.org/drawingml/2006/main">
              <a:ext uri="{FF2B5EF4-FFF2-40B4-BE49-F238E27FC236}">
                <a16:creationId xmlns:a16="http://schemas.microsoft.com/office/drawing/2014/main" id="{3AF9C4DB-7173-4C7F-B4E4-194DB6E64A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2543175"/>
            <a:ext cx="2476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071B3D"/>
                </a:solidFill>
              </a:defRPr>
            </a:pPr>
            <a:r>
              <a:rPr sz="2550" b="1">
                <a:solidFill>
                  <a:srgbClr val="071B3D"/>
                </a:solidFill>
              </a:rPr>
              <a:t>›</a:t>
            </a:r>
          </a:p>
        </p:txBody>
      </p:sp>
      <p:sp>
        <p:nvSpPr>
          <p:cNvPr id="83" name="textbox-285">
            <a:extLst xmlns:a="http://schemas.openxmlformats.org/drawingml/2006/main">
              <a:ext uri="{FF2B5EF4-FFF2-40B4-BE49-F238E27FC236}">
                <a16:creationId xmlns:a16="http://schemas.microsoft.com/office/drawing/2014/main" id="{7B973409-F267-4334-A26C-5D35822374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1200150"/>
            <a:ext cx="1619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96C6D"/>
                </a:solidFill>
              </a:defRPr>
            </a:pPr>
            <a:r>
              <a:rPr sz="1350" b="1">
                <a:solidFill>
                  <a:srgbClr val="096C6D"/>
                </a:solidFill>
              </a:rPr>
              <a:t>P90 benchmark</a:t>
            </a:r>
          </a:p>
        </p:txBody>
      </p:sp>
      <p:sp>
        <p:nvSpPr>
          <p:cNvPr id="84" name="hexagon-286">
            <a:extLst xmlns:a="http://schemas.openxmlformats.org/drawingml/2006/main">
              <a:ext uri="{FF2B5EF4-FFF2-40B4-BE49-F238E27FC236}">
                <a16:creationId xmlns:a16="http://schemas.microsoft.com/office/drawing/2014/main" id="{8556DB9A-F9D4-435D-9CF2-AE3FE0F220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1695450"/>
            <a:ext cx="876300" cy="800100"/>
          </a:xfrm>
          <a:prstGeom xmlns:a="http://schemas.openxmlformats.org/drawingml/2006/main" prst="hexagon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071B3D"/>
            </a:solidFill>
            <a:prstDash val="solid"/>
          </a:ln>
        </p:spPr>
      </p:sp>
      <p:sp>
        <p:nvSpPr>
          <p:cNvPr id="85" name="textbox-287">
            <a:extLst xmlns:a="http://schemas.openxmlformats.org/drawingml/2006/main">
              <a:ext uri="{FF2B5EF4-FFF2-40B4-BE49-F238E27FC236}">
                <a16:creationId xmlns:a16="http://schemas.microsoft.com/office/drawing/2014/main" id="{E5490752-3693-43B8-BC09-36AB77E932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1857375"/>
            <a:ext cx="8763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096C6D"/>
                </a:solidFill>
              </a:defRPr>
            </a:pPr>
            <a:r>
              <a:rPr sz="2025" b="1">
                <a:solidFill>
                  <a:srgbClr val="096C6D"/>
                </a:solidFill>
              </a:rPr>
              <a:t>P90</a:t>
            </a:r>
          </a:p>
        </p:txBody>
      </p:sp>
      <p:sp>
        <p:nvSpPr>
          <p:cNvPr id="86" name="textbox-288">
            <a:extLst xmlns:a="http://schemas.openxmlformats.org/drawingml/2006/main">
              <a:ext uri="{FF2B5EF4-FFF2-40B4-BE49-F238E27FC236}">
                <a16:creationId xmlns:a16="http://schemas.microsoft.com/office/drawing/2014/main" id="{C56A48FE-C1CA-42CB-AB95-FD2A44C9F8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34625" y="1000125"/>
            <a:ext cx="1428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096C6D"/>
                </a:solidFill>
              </a:defRPr>
            </a:pPr>
            <a:r>
              <a:rPr sz="1425" b="1">
                <a:solidFill>
                  <a:srgbClr val="096C6D"/>
                </a:solidFill>
              </a:rPr>
              <a:t>Current invoice</a:t>
            </a:r>
          </a:p>
        </p:txBody>
      </p:sp>
      <p:sp>
        <p:nvSpPr>
          <p:cNvPr id="87" name="roundRect-289">
            <a:extLst xmlns:a="http://schemas.openxmlformats.org/drawingml/2006/main">
              <a:ext uri="{FF2B5EF4-FFF2-40B4-BE49-F238E27FC236}">
                <a16:creationId xmlns:a16="http://schemas.microsoft.com/office/drawing/2014/main" id="{99D88EE9-F8C9-4701-8CF4-1BB62F6940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1476375"/>
            <a:ext cx="514350" cy="704850"/>
          </a:xfrm>
          <a:prstGeom xmlns:a="http://schemas.openxmlformats.org/drawingml/2006/main" prst="roundRect">
            <a:avLst>
              <a:gd name="adj" fmla="val 370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071B3D"/>
            </a:solidFill>
            <a:prstDash val="solid"/>
          </a:ln>
        </p:spPr>
      </p:sp>
      <p:sp>
        <p:nvSpPr>
          <p:cNvPr id="88" name="textbox-290">
            <a:extLst xmlns:a="http://schemas.openxmlformats.org/drawingml/2006/main">
              <a:ext uri="{FF2B5EF4-FFF2-40B4-BE49-F238E27FC236}">
                <a16:creationId xmlns:a16="http://schemas.microsoft.com/office/drawing/2014/main" id="{0B13E078-24AC-4E35-99F8-AD14871D61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10875" y="1514475"/>
            <a:ext cx="4191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600" b="1">
                <a:solidFill>
                  <a:srgbClr val="0B8687"/>
                </a:solidFill>
              </a:defRPr>
            </a:pPr>
            <a:r>
              <a:rPr sz="600" b="1">
                <a:solidFill>
                  <a:srgbClr val="0B8687"/>
                </a:solidFill>
              </a:rPr>
              <a:t>INV-2001</a:t>
            </a:r>
          </a:p>
        </p:txBody>
      </p:sp>
      <p:sp>
        <p:nvSpPr>
          <p:cNvPr id="89" name="rect-291">
            <a:extLst xmlns:a="http://schemas.openxmlformats.org/drawingml/2006/main">
              <a:ext uri="{FF2B5EF4-FFF2-40B4-BE49-F238E27FC236}">
                <a16:creationId xmlns:a16="http://schemas.microsoft.com/office/drawing/2014/main" id="{3F158388-BE35-4634-B112-09F48FB7B9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1733550"/>
            <a:ext cx="2857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8A6B3"/>
          </a:solidFill>
          <a:ln xmlns:a="http://schemas.openxmlformats.org/drawingml/2006/main" w="0">
            <a:solidFill>
              <a:srgbClr val="98A6B3"/>
            </a:solidFill>
            <a:prstDash val="solid"/>
          </a:ln>
        </p:spPr>
      </p:sp>
      <p:sp>
        <p:nvSpPr>
          <p:cNvPr id="90" name="rect-292">
            <a:extLst xmlns:a="http://schemas.openxmlformats.org/drawingml/2006/main">
              <a:ext uri="{FF2B5EF4-FFF2-40B4-BE49-F238E27FC236}">
                <a16:creationId xmlns:a16="http://schemas.microsoft.com/office/drawing/2014/main" id="{6234FA4B-33EC-41AA-8C03-EC2AFBD7E4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1838325"/>
            <a:ext cx="228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C0C8"/>
          </a:solidFill>
          <a:ln xmlns:a="http://schemas.openxmlformats.org/drawingml/2006/main" w="0">
            <a:solidFill>
              <a:srgbClr val="B7C0C8"/>
            </a:solidFill>
            <a:prstDash val="solid"/>
          </a:ln>
        </p:spPr>
      </p:sp>
      <p:sp>
        <p:nvSpPr>
          <p:cNvPr id="91" name="rect-293">
            <a:extLst xmlns:a="http://schemas.openxmlformats.org/drawingml/2006/main">
              <a:ext uri="{FF2B5EF4-FFF2-40B4-BE49-F238E27FC236}">
                <a16:creationId xmlns:a16="http://schemas.microsoft.com/office/drawing/2014/main" id="{BCE8E204-AA45-43EE-AB7C-0F13EE9B8D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1943100"/>
            <a:ext cx="2667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C0C8"/>
          </a:solidFill>
          <a:ln xmlns:a="http://schemas.openxmlformats.org/drawingml/2006/main" w="0">
            <a:solidFill>
              <a:srgbClr val="B7C0C8"/>
            </a:solidFill>
            <a:prstDash val="solid"/>
          </a:ln>
        </p:spPr>
      </p:sp>
      <p:sp>
        <p:nvSpPr>
          <p:cNvPr id="92" name="textbox-294">
            <a:extLst xmlns:a="http://schemas.openxmlformats.org/drawingml/2006/main">
              <a:ext uri="{FF2B5EF4-FFF2-40B4-BE49-F238E27FC236}">
                <a16:creationId xmlns:a16="http://schemas.microsoft.com/office/drawing/2014/main" id="{607E27D2-AFD7-4F87-BE67-1A842E97FF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77575" y="1981200"/>
            <a:ext cx="1524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071B3D"/>
                </a:solidFill>
              </a:defRPr>
            </a:pPr>
            <a:r>
              <a:rPr sz="750" b="1">
                <a:solidFill>
                  <a:srgbClr val="071B3D"/>
                </a:solidFill>
              </a:rPr>
              <a:t>£</a:t>
            </a:r>
          </a:p>
        </p:txBody>
      </p:sp>
      <p:sp>
        <p:nvSpPr>
          <p:cNvPr id="93" name="textbox-295">
            <a:extLst xmlns:a="http://schemas.openxmlformats.org/drawingml/2006/main">
              <a:ext uri="{FF2B5EF4-FFF2-40B4-BE49-F238E27FC236}">
                <a16:creationId xmlns:a16="http://schemas.microsoft.com/office/drawing/2014/main" id="{A58EBA0C-89A7-4F0E-B8F5-C1DB5C2108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86950" y="1809750"/>
            <a:ext cx="381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3300" b="1">
                <a:solidFill>
                  <a:srgbClr val="E85D4A"/>
                </a:solidFill>
              </a:defRPr>
            </a:pPr>
            <a:r>
              <a:rPr sz="3300" b="1">
                <a:solidFill>
                  <a:srgbClr val="E85D4A"/>
                </a:solidFill>
              </a:rPr>
              <a:t>×</a:t>
            </a:r>
          </a:p>
        </p:txBody>
      </p:sp>
      <p:sp>
        <p:nvSpPr>
          <p:cNvPr id="94" name="textbox-296">
            <a:extLst xmlns:a="http://schemas.openxmlformats.org/drawingml/2006/main">
              <a:ext uri="{FF2B5EF4-FFF2-40B4-BE49-F238E27FC236}">
                <a16:creationId xmlns:a16="http://schemas.microsoft.com/office/drawing/2014/main" id="{806FB81A-9CB8-4948-AFD2-5729EEB0B4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2200275"/>
            <a:ext cx="95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E85D4A"/>
                </a:solidFill>
              </a:defRPr>
            </a:pPr>
            <a:r>
              <a:rPr sz="900" b="1">
                <a:solidFill>
                  <a:srgbClr val="E85D4A"/>
                </a:solidFill>
              </a:rPr>
              <a:t>EXCLUDED</a:t>
            </a:r>
          </a:p>
        </p:txBody>
      </p:sp>
      <p:sp>
        <p:nvSpPr>
          <p:cNvPr id="95" name="rect-297">
            <a:extLst xmlns:a="http://schemas.openxmlformats.org/drawingml/2006/main">
              <a:ext uri="{FF2B5EF4-FFF2-40B4-BE49-F238E27FC236}">
                <a16:creationId xmlns:a16="http://schemas.microsoft.com/office/drawing/2014/main" id="{3AF0BF4B-549F-43C2-A023-A49176796C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72525" y="2495550"/>
            <a:ext cx="19050" cy="714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B3D"/>
          </a:solidFill>
          <a:ln xmlns:a="http://schemas.openxmlformats.org/drawingml/2006/main" w="0">
            <a:solidFill>
              <a:srgbClr val="071B3D"/>
            </a:solidFill>
            <a:prstDash val="solid"/>
          </a:ln>
        </p:spPr>
      </p:sp>
      <p:sp>
        <p:nvSpPr>
          <p:cNvPr id="96" name="rect-298">
            <a:extLst xmlns:a="http://schemas.openxmlformats.org/drawingml/2006/main">
              <a:ext uri="{FF2B5EF4-FFF2-40B4-BE49-F238E27FC236}">
                <a16:creationId xmlns:a16="http://schemas.microsoft.com/office/drawing/2014/main" id="{A0B11C05-F203-4404-9237-EF82EA65F9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200400"/>
            <a:ext cx="31051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B3D"/>
          </a:solidFill>
          <a:ln xmlns:a="http://schemas.openxmlformats.org/drawingml/2006/main" w="0">
            <a:solidFill>
              <a:srgbClr val="071B3D"/>
            </a:solidFill>
            <a:prstDash val="solid"/>
          </a:ln>
        </p:spPr>
      </p:sp>
      <p:sp>
        <p:nvSpPr>
          <p:cNvPr id="97" name="rect-299">
            <a:extLst xmlns:a="http://schemas.openxmlformats.org/drawingml/2006/main">
              <a:ext uri="{FF2B5EF4-FFF2-40B4-BE49-F238E27FC236}">
                <a16:creationId xmlns:a16="http://schemas.microsoft.com/office/drawing/2014/main" id="{FC571373-FC85-4010-8B1D-5BA6574780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200400"/>
            <a:ext cx="190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B3D"/>
          </a:solidFill>
          <a:ln xmlns:a="http://schemas.openxmlformats.org/drawingml/2006/main" w="0">
            <a:solidFill>
              <a:srgbClr val="071B3D"/>
            </a:solidFill>
            <a:prstDash val="solid"/>
          </a:ln>
        </p:spPr>
      </p:sp>
      <p:sp>
        <p:nvSpPr>
          <p:cNvPr id="98" name="rect-300">
            <a:extLst xmlns:a="http://schemas.openxmlformats.org/drawingml/2006/main">
              <a:ext uri="{FF2B5EF4-FFF2-40B4-BE49-F238E27FC236}">
                <a16:creationId xmlns:a16="http://schemas.microsoft.com/office/drawing/2014/main" id="{E9E2885D-1B0E-406D-A17A-CE47389455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25100" y="3200400"/>
            <a:ext cx="190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B3D"/>
          </a:solidFill>
          <a:ln xmlns:a="http://schemas.openxmlformats.org/drawingml/2006/main" w="0">
            <a:solidFill>
              <a:srgbClr val="071B3D"/>
            </a:solidFill>
            <a:prstDash val="solid"/>
          </a:ln>
        </p:spPr>
      </p:sp>
      <p:sp>
        <p:nvSpPr>
          <p:cNvPr id="99" name="roundRect-301">
            <a:extLst xmlns:a="http://schemas.openxmlformats.org/drawingml/2006/main">
              <a:ext uri="{FF2B5EF4-FFF2-40B4-BE49-F238E27FC236}">
                <a16:creationId xmlns:a16="http://schemas.microsoft.com/office/drawing/2014/main" id="{15829AFD-73A8-4B56-8395-41D213D7A3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3524250"/>
            <a:ext cx="3143250" cy="1000125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EFF7EC"/>
          </a:solidFill>
          <a:ln xmlns:a="http://schemas.openxmlformats.org/drawingml/2006/main" w="9525">
            <a:solidFill>
              <a:srgbClr val="EFF7EC"/>
            </a:solidFill>
            <a:prstDash val="solid"/>
          </a:ln>
        </p:spPr>
      </p:sp>
      <p:sp>
        <p:nvSpPr>
          <p:cNvPr id="100" name="ellipse-302">
            <a:extLst xmlns:a="http://schemas.openxmlformats.org/drawingml/2006/main">
              <a:ext uri="{FF2B5EF4-FFF2-40B4-BE49-F238E27FC236}">
                <a16:creationId xmlns:a16="http://schemas.microsoft.com/office/drawing/2014/main" id="{71E0A259-E99C-4C14-9B06-3646BA6744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3705225"/>
            <a:ext cx="571500" cy="571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DEECB"/>
          </a:solidFill>
          <a:ln xmlns:a="http://schemas.openxmlformats.org/drawingml/2006/main" w="19050">
            <a:solidFill>
              <a:srgbClr val="2E7D5B"/>
            </a:solidFill>
            <a:prstDash val="solid"/>
          </a:ln>
        </p:spPr>
      </p:sp>
      <p:sp>
        <p:nvSpPr>
          <p:cNvPr id="101" name="textbox-303">
            <a:extLst xmlns:a="http://schemas.openxmlformats.org/drawingml/2006/main">
              <a:ext uri="{FF2B5EF4-FFF2-40B4-BE49-F238E27FC236}">
                <a16:creationId xmlns:a16="http://schemas.microsoft.com/office/drawing/2014/main" id="{7A489484-67C2-4BBB-BE5F-3FFE9EDE86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3714750"/>
            <a:ext cx="571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2E7D5B"/>
                </a:solidFill>
              </a:defRPr>
            </a:pPr>
            <a:r>
              <a:rPr sz="2100" b="1">
                <a:solidFill>
                  <a:srgbClr val="2E7D5B"/>
                </a:solidFill>
              </a:rPr>
              <a:t>✓</a:t>
            </a:r>
          </a:p>
        </p:txBody>
      </p:sp>
      <p:sp>
        <p:nvSpPr>
          <p:cNvPr id="102" name="textbox-304">
            <a:extLst xmlns:a="http://schemas.openxmlformats.org/drawingml/2006/main">
              <a:ext uri="{FF2B5EF4-FFF2-40B4-BE49-F238E27FC236}">
                <a16:creationId xmlns:a16="http://schemas.microsoft.com/office/drawing/2014/main" id="{631AC54E-7685-4D82-B0A4-2915D35C90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3695700"/>
            <a:ext cx="190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2E7D5B"/>
                </a:solidFill>
              </a:defRPr>
            </a:pPr>
            <a:r>
              <a:rPr sz="1500" b="1">
                <a:solidFill>
                  <a:srgbClr val="2E7D5B"/>
                </a:solidFill>
              </a:rPr>
              <a:t>Within benchmark</a:t>
            </a:r>
          </a:p>
        </p:txBody>
      </p:sp>
      <p:sp>
        <p:nvSpPr>
          <p:cNvPr id="103" name="textbox-305">
            <a:extLst xmlns:a="http://schemas.openxmlformats.org/drawingml/2006/main">
              <a:ext uri="{FF2B5EF4-FFF2-40B4-BE49-F238E27FC236}">
                <a16:creationId xmlns:a16="http://schemas.microsoft.com/office/drawing/2014/main" id="{E5A88BB8-E3B2-40EA-ACBD-8D2CFACA14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3971925"/>
            <a:ext cx="2000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071B3D"/>
                </a:solidFill>
              </a:defRPr>
            </a:pPr>
            <a:r>
              <a:rPr sz="1200">
                <a:solidFill>
                  <a:srgbClr val="071B3D"/>
                </a:solidFill>
              </a:rPr>
              <a:t>Current price does not</a:t>
            </a:r>
          </a:p>
          <a:p xmlns:a="http://schemas.openxmlformats.org/drawingml/2006/main">
            <a:pPr>
              <a:defRPr sz="1200">
                <a:solidFill>
                  <a:srgbClr val="071B3D"/>
                </a:solidFill>
              </a:defRPr>
            </a:pPr>
            <a:r>
              <a:rPr sz="1200">
                <a:solidFill>
                  <a:srgbClr val="071B3D"/>
                </a:solidFill>
              </a:rPr>
              <a:t>materially exceed P90</a:t>
            </a:r>
          </a:p>
        </p:txBody>
      </p:sp>
      <p:sp>
        <p:nvSpPr>
          <p:cNvPr id="104" name="roundRect-306">
            <a:extLst xmlns:a="http://schemas.openxmlformats.org/drawingml/2006/main">
              <a:ext uri="{FF2B5EF4-FFF2-40B4-BE49-F238E27FC236}">
                <a16:creationId xmlns:a16="http://schemas.microsoft.com/office/drawing/2014/main" id="{7E415391-8A07-4D03-A442-FEF2B849EE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3524250"/>
            <a:ext cx="2762250" cy="1000125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FFF0ED"/>
          </a:solidFill>
          <a:ln xmlns:a="http://schemas.openxmlformats.org/drawingml/2006/main" w="9525">
            <a:solidFill>
              <a:srgbClr val="FFF0ED"/>
            </a:solidFill>
            <a:prstDash val="solid"/>
          </a:ln>
        </p:spPr>
      </p:sp>
      <p:sp>
        <p:nvSpPr>
          <p:cNvPr id="105" name="ellipse-307">
            <a:extLst xmlns:a="http://schemas.openxmlformats.org/drawingml/2006/main">
              <a:ext uri="{FF2B5EF4-FFF2-40B4-BE49-F238E27FC236}">
                <a16:creationId xmlns:a16="http://schemas.microsoft.com/office/drawing/2014/main" id="{B568B03D-196C-4AA9-8498-140F11BC8C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300" y="3705225"/>
            <a:ext cx="571500" cy="571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D9D2"/>
          </a:solidFill>
          <a:ln xmlns:a="http://schemas.openxmlformats.org/drawingml/2006/main" w="19050">
            <a:solidFill>
              <a:srgbClr val="E85D4A"/>
            </a:solidFill>
            <a:prstDash val="solid"/>
          </a:ln>
        </p:spPr>
      </p:sp>
      <p:sp>
        <p:nvSpPr>
          <p:cNvPr id="106" name="textbox-308">
            <a:extLst xmlns:a="http://schemas.openxmlformats.org/drawingml/2006/main">
              <a:ext uri="{FF2B5EF4-FFF2-40B4-BE49-F238E27FC236}">
                <a16:creationId xmlns:a16="http://schemas.microsoft.com/office/drawing/2014/main" id="{CF0DA409-D13A-4656-B876-1A0E0FD81A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300" y="3714750"/>
            <a:ext cx="571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E85D4A"/>
                </a:solidFill>
              </a:defRPr>
            </a:pPr>
            <a:r>
              <a:rPr sz="2100" b="1">
                <a:solidFill>
                  <a:srgbClr val="E85D4A"/>
                </a:solidFill>
              </a:rPr>
              <a:t>!</a:t>
            </a:r>
          </a:p>
        </p:txBody>
      </p:sp>
      <p:sp>
        <p:nvSpPr>
          <p:cNvPr id="107" name="textbox-309">
            <a:extLst xmlns:a="http://schemas.openxmlformats.org/drawingml/2006/main">
              <a:ext uri="{FF2B5EF4-FFF2-40B4-BE49-F238E27FC236}">
                <a16:creationId xmlns:a16="http://schemas.microsoft.com/office/drawing/2014/main" id="{2725E380-60F6-4C48-94D8-FA37E0929B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58375" y="3638550"/>
            <a:ext cx="1809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E85D4A"/>
                </a:solidFill>
              </a:defRPr>
            </a:pPr>
            <a:r>
              <a:rPr sz="1275" b="1">
                <a:solidFill>
                  <a:srgbClr val="E85D4A"/>
                </a:solidFill>
              </a:rPr>
              <a:t>Review challenge</a:t>
            </a:r>
          </a:p>
        </p:txBody>
      </p:sp>
      <p:sp>
        <p:nvSpPr>
          <p:cNvPr id="108" name="textbox-310">
            <a:extLst xmlns:a="http://schemas.openxmlformats.org/drawingml/2006/main">
              <a:ext uri="{FF2B5EF4-FFF2-40B4-BE49-F238E27FC236}">
                <a16:creationId xmlns:a16="http://schemas.microsoft.com/office/drawing/2014/main" id="{6B504421-96EF-48F0-B495-3C22F3057A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58375" y="4057650"/>
            <a:ext cx="18573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071B3D"/>
                </a:solidFill>
              </a:defRPr>
            </a:pPr>
            <a:r>
              <a:rPr sz="975">
                <a:solidFill>
                  <a:srgbClr val="071B3D"/>
                </a:solidFill>
              </a:rPr>
              <a:t>Current price exceeds the</a:t>
            </a:r>
          </a:p>
          <a:p xmlns:a="http://schemas.openxmlformats.org/drawingml/2006/main">
            <a:pPr>
              <a:defRPr sz="975">
                <a:solidFill>
                  <a:srgbClr val="071B3D"/>
                </a:solidFill>
              </a:defRPr>
            </a:pPr>
            <a:r>
              <a:rPr sz="975">
                <a:solidFill>
                  <a:srgbClr val="071B3D"/>
                </a:solidFill>
              </a:rPr>
              <a:t>materiality threshold</a:t>
            </a:r>
          </a:p>
        </p:txBody>
      </p:sp>
      <p:sp>
        <p:nvSpPr>
          <p:cNvPr id="109" name="roundRect-311">
            <a:extLst xmlns:a="http://schemas.openxmlformats.org/drawingml/2006/main">
              <a:ext uri="{FF2B5EF4-FFF2-40B4-BE49-F238E27FC236}">
                <a16:creationId xmlns:a16="http://schemas.microsoft.com/office/drawing/2014/main" id="{15D94748-446C-4073-8B30-1F6E1C6230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4829175"/>
            <a:ext cx="11430000" cy="1000125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0B8687"/>
            </a:solidFill>
            <a:prstDash val="solid"/>
          </a:ln>
        </p:spPr>
      </p:sp>
      <p:sp>
        <p:nvSpPr>
          <p:cNvPr id="110" name="textbox-312">
            <a:extLst xmlns:a="http://schemas.openxmlformats.org/drawingml/2006/main">
              <a:ext uri="{FF2B5EF4-FFF2-40B4-BE49-F238E27FC236}">
                <a16:creationId xmlns:a16="http://schemas.microsoft.com/office/drawing/2014/main" id="{E00E00BF-1D72-4E6A-8D32-1348E58114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000625"/>
            <a:ext cx="17621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096C6D"/>
                </a:solidFill>
              </a:defRPr>
            </a:pPr>
            <a:r>
              <a:rPr sz="1275" b="1">
                <a:solidFill>
                  <a:srgbClr val="096C6D"/>
                </a:solidFill>
              </a:rPr>
              <a:t>Evidence retained:</a:t>
            </a:r>
          </a:p>
        </p:txBody>
      </p:sp>
      <p:sp>
        <p:nvSpPr>
          <p:cNvPr id="111" name="textbox-313">
            <a:extLst xmlns:a="http://schemas.openxmlformats.org/drawingml/2006/main">
              <a:ext uri="{FF2B5EF4-FFF2-40B4-BE49-F238E27FC236}">
                <a16:creationId xmlns:a16="http://schemas.microsoft.com/office/drawing/2014/main" id="{07263EC7-AE83-4BD3-B0F5-AE4C8FA0C0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238750"/>
            <a:ext cx="2762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071B3D"/>
                </a:solidFill>
              </a:defRPr>
            </a:pPr>
            <a:r>
              <a:rPr sz="975">
                <a:solidFill>
                  <a:srgbClr val="071B3D"/>
                </a:solidFill>
              </a:rPr>
              <a:t>invoice number • original description • price</a:t>
            </a:r>
          </a:p>
        </p:txBody>
      </p:sp>
      <p:sp>
        <p:nvSpPr>
          <p:cNvPr id="112" name="roundRect-314">
            <a:extLst xmlns:a="http://schemas.openxmlformats.org/drawingml/2006/main">
              <a:ext uri="{FF2B5EF4-FFF2-40B4-BE49-F238E27FC236}">
                <a16:creationId xmlns:a16="http://schemas.microsoft.com/office/drawing/2014/main" id="{339F4188-68B1-4000-BAA0-43F37068B8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4981575"/>
            <a:ext cx="514350" cy="704850"/>
          </a:xfrm>
          <a:prstGeom xmlns:a="http://schemas.openxmlformats.org/drawingml/2006/main" prst="roundRect">
            <a:avLst>
              <a:gd name="adj" fmla="val 370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071B3D"/>
            </a:solidFill>
            <a:prstDash val="solid"/>
          </a:ln>
        </p:spPr>
      </p:sp>
      <p:sp>
        <p:nvSpPr>
          <p:cNvPr id="113" name="textbox-315">
            <a:extLst xmlns:a="http://schemas.openxmlformats.org/drawingml/2006/main">
              <a:ext uri="{FF2B5EF4-FFF2-40B4-BE49-F238E27FC236}">
                <a16:creationId xmlns:a16="http://schemas.microsoft.com/office/drawing/2014/main" id="{4C5F9019-2A7F-41D3-AC7C-B830E2EE43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62375" y="5019675"/>
            <a:ext cx="4191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600" b="1">
                <a:solidFill>
                  <a:srgbClr val="0B8687"/>
                </a:solidFill>
              </a:defRPr>
            </a:pPr>
            <a:r>
              <a:rPr sz="600" b="1">
                <a:solidFill>
                  <a:srgbClr val="0B8687"/>
                </a:solidFill>
              </a:rPr>
              <a:t>INV-1001</a:t>
            </a:r>
          </a:p>
        </p:txBody>
      </p:sp>
      <p:sp>
        <p:nvSpPr>
          <p:cNvPr id="114" name="rect-316">
            <a:extLst xmlns:a="http://schemas.openxmlformats.org/drawingml/2006/main">
              <a:ext uri="{FF2B5EF4-FFF2-40B4-BE49-F238E27FC236}">
                <a16:creationId xmlns:a16="http://schemas.microsoft.com/office/drawing/2014/main" id="{10724D1B-7A2A-470A-B992-E6D584A600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5238750"/>
            <a:ext cx="2857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8A6B3"/>
          </a:solidFill>
          <a:ln xmlns:a="http://schemas.openxmlformats.org/drawingml/2006/main" w="0">
            <a:solidFill>
              <a:srgbClr val="98A6B3"/>
            </a:solidFill>
            <a:prstDash val="solid"/>
          </a:ln>
        </p:spPr>
      </p:sp>
      <p:sp>
        <p:nvSpPr>
          <p:cNvPr id="115" name="rect-317">
            <a:extLst xmlns:a="http://schemas.openxmlformats.org/drawingml/2006/main">
              <a:ext uri="{FF2B5EF4-FFF2-40B4-BE49-F238E27FC236}">
                <a16:creationId xmlns:a16="http://schemas.microsoft.com/office/drawing/2014/main" id="{FF59B081-BF92-4928-AF9C-69E89EDBFA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5343525"/>
            <a:ext cx="228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C0C8"/>
          </a:solidFill>
          <a:ln xmlns:a="http://schemas.openxmlformats.org/drawingml/2006/main" w="0">
            <a:solidFill>
              <a:srgbClr val="B7C0C8"/>
            </a:solidFill>
            <a:prstDash val="solid"/>
          </a:ln>
        </p:spPr>
      </p:sp>
      <p:sp>
        <p:nvSpPr>
          <p:cNvPr id="116" name="rect-318">
            <a:extLst xmlns:a="http://schemas.openxmlformats.org/drawingml/2006/main">
              <a:ext uri="{FF2B5EF4-FFF2-40B4-BE49-F238E27FC236}">
                <a16:creationId xmlns:a16="http://schemas.microsoft.com/office/drawing/2014/main" id="{FE6D5540-0F29-489E-B108-FE594B0FA0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5448300"/>
            <a:ext cx="2667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C0C8"/>
          </a:solidFill>
          <a:ln xmlns:a="http://schemas.openxmlformats.org/drawingml/2006/main" w="0">
            <a:solidFill>
              <a:srgbClr val="B7C0C8"/>
            </a:solidFill>
            <a:prstDash val="solid"/>
          </a:ln>
        </p:spPr>
      </p:sp>
      <p:sp>
        <p:nvSpPr>
          <p:cNvPr id="117" name="textbox-319">
            <a:extLst xmlns:a="http://schemas.openxmlformats.org/drawingml/2006/main">
              <a:ext uri="{FF2B5EF4-FFF2-40B4-BE49-F238E27FC236}">
                <a16:creationId xmlns:a16="http://schemas.microsoft.com/office/drawing/2014/main" id="{F523D805-A7C4-4B0C-BEF4-FC4E2B9A1D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29075" y="5486400"/>
            <a:ext cx="1524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071B3D"/>
                </a:solidFill>
              </a:defRPr>
            </a:pPr>
            <a:r>
              <a:rPr sz="750" b="1">
                <a:solidFill>
                  <a:srgbClr val="071B3D"/>
                </a:solidFill>
              </a:rPr>
              <a:t>£</a:t>
            </a:r>
          </a:p>
        </p:txBody>
      </p:sp>
      <p:sp>
        <p:nvSpPr>
          <p:cNvPr id="118" name="textbox-320">
            <a:extLst xmlns:a="http://schemas.openxmlformats.org/drawingml/2006/main">
              <a:ext uri="{FF2B5EF4-FFF2-40B4-BE49-F238E27FC236}">
                <a16:creationId xmlns:a16="http://schemas.microsoft.com/office/drawing/2014/main" id="{3170F72D-522E-43E7-AA65-96B031B5BE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5086350"/>
            <a:ext cx="11906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071B3D"/>
                </a:solidFill>
              </a:defRPr>
            </a:pPr>
            <a:r>
              <a:rPr sz="975" b="1">
                <a:solidFill>
                  <a:srgbClr val="071B3D"/>
                </a:solidFill>
              </a:rPr>
              <a:t>Oil Filter</a:t>
            </a:r>
          </a:p>
        </p:txBody>
      </p:sp>
      <p:sp>
        <p:nvSpPr>
          <p:cNvPr id="119" name="roundRect-321">
            <a:extLst xmlns:a="http://schemas.openxmlformats.org/drawingml/2006/main">
              <a:ext uri="{FF2B5EF4-FFF2-40B4-BE49-F238E27FC236}">
                <a16:creationId xmlns:a16="http://schemas.microsoft.com/office/drawing/2014/main" id="{6F796608-62F5-492E-B67B-14FF184352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5381625"/>
            <a:ext cx="685800" cy="2286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3F6F7"/>
          </a:solidFill>
          <a:ln xmlns:a="http://schemas.openxmlformats.org/drawingml/2006/main" w="9525">
            <a:solidFill>
              <a:srgbClr val="F3F6F7"/>
            </a:solidFill>
            <a:prstDash val="solid"/>
          </a:ln>
        </p:spPr>
      </p:sp>
      <p:sp>
        <p:nvSpPr>
          <p:cNvPr id="120" name="textbox-322">
            <a:extLst xmlns:a="http://schemas.openxmlformats.org/drawingml/2006/main">
              <a:ext uri="{FF2B5EF4-FFF2-40B4-BE49-F238E27FC236}">
                <a16:creationId xmlns:a16="http://schemas.microsoft.com/office/drawing/2014/main" id="{27CC173E-22A7-4737-9423-08F19BCF6D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91025" y="5391150"/>
            <a:ext cx="571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071B3D"/>
                </a:solidFill>
              </a:defRPr>
            </a:pPr>
            <a:r>
              <a:rPr sz="825" b="1">
                <a:solidFill>
                  <a:srgbClr val="071B3D"/>
                </a:solidFill>
              </a:rPr>
              <a:t>price</a:t>
            </a:r>
          </a:p>
        </p:txBody>
      </p:sp>
      <p:sp>
        <p:nvSpPr>
          <p:cNvPr id="121" name="roundRect-323">
            <a:extLst xmlns:a="http://schemas.openxmlformats.org/drawingml/2006/main">
              <a:ext uri="{FF2B5EF4-FFF2-40B4-BE49-F238E27FC236}">
                <a16:creationId xmlns:a16="http://schemas.microsoft.com/office/drawing/2014/main" id="{3AE3220D-65E6-4942-B212-F53A09171C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7375" y="4981575"/>
            <a:ext cx="514350" cy="704850"/>
          </a:xfrm>
          <a:prstGeom xmlns:a="http://schemas.openxmlformats.org/drawingml/2006/main" prst="roundRect">
            <a:avLst>
              <a:gd name="adj" fmla="val 370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071B3D"/>
            </a:solidFill>
            <a:prstDash val="solid"/>
          </a:ln>
        </p:spPr>
      </p:sp>
      <p:sp>
        <p:nvSpPr>
          <p:cNvPr id="122" name="textbox-324">
            <a:extLst xmlns:a="http://schemas.openxmlformats.org/drawingml/2006/main">
              <a:ext uri="{FF2B5EF4-FFF2-40B4-BE49-F238E27FC236}">
                <a16:creationId xmlns:a16="http://schemas.microsoft.com/office/drawing/2014/main" id="{F77F62BB-822F-4F01-8053-A5B2D3A6A3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5019675"/>
            <a:ext cx="4191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600" b="1">
                <a:solidFill>
                  <a:srgbClr val="0B8687"/>
                </a:solidFill>
              </a:defRPr>
            </a:pPr>
            <a:r>
              <a:rPr sz="600" b="1">
                <a:solidFill>
                  <a:srgbClr val="0B8687"/>
                </a:solidFill>
              </a:rPr>
              <a:t>INV-1002</a:t>
            </a:r>
          </a:p>
        </p:txBody>
      </p:sp>
      <p:sp>
        <p:nvSpPr>
          <p:cNvPr id="123" name="rect-325">
            <a:extLst xmlns:a="http://schemas.openxmlformats.org/drawingml/2006/main">
              <a:ext uri="{FF2B5EF4-FFF2-40B4-BE49-F238E27FC236}">
                <a16:creationId xmlns:a16="http://schemas.microsoft.com/office/drawing/2014/main" id="{E94B8B8E-9068-418E-B355-9853D2E612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62625" y="5238750"/>
            <a:ext cx="2857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8A6B3"/>
          </a:solidFill>
          <a:ln xmlns:a="http://schemas.openxmlformats.org/drawingml/2006/main" w="0">
            <a:solidFill>
              <a:srgbClr val="98A6B3"/>
            </a:solidFill>
            <a:prstDash val="solid"/>
          </a:ln>
        </p:spPr>
      </p:sp>
      <p:sp>
        <p:nvSpPr>
          <p:cNvPr id="124" name="rect-326">
            <a:extLst xmlns:a="http://schemas.openxmlformats.org/drawingml/2006/main">
              <a:ext uri="{FF2B5EF4-FFF2-40B4-BE49-F238E27FC236}">
                <a16:creationId xmlns:a16="http://schemas.microsoft.com/office/drawing/2014/main" id="{936C8F0B-520E-44F8-B409-9BBAF8B46E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62625" y="5343525"/>
            <a:ext cx="228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C0C8"/>
          </a:solidFill>
          <a:ln xmlns:a="http://schemas.openxmlformats.org/drawingml/2006/main" w="0">
            <a:solidFill>
              <a:srgbClr val="B7C0C8"/>
            </a:solidFill>
            <a:prstDash val="solid"/>
          </a:ln>
        </p:spPr>
      </p:sp>
      <p:sp>
        <p:nvSpPr>
          <p:cNvPr id="125" name="rect-327">
            <a:extLst xmlns:a="http://schemas.openxmlformats.org/drawingml/2006/main">
              <a:ext uri="{FF2B5EF4-FFF2-40B4-BE49-F238E27FC236}">
                <a16:creationId xmlns:a16="http://schemas.microsoft.com/office/drawing/2014/main" id="{B66B4B8D-F08A-4FA1-B818-3723D7DC21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62625" y="5448300"/>
            <a:ext cx="2667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C0C8"/>
          </a:solidFill>
          <a:ln xmlns:a="http://schemas.openxmlformats.org/drawingml/2006/main" w="0">
            <a:solidFill>
              <a:srgbClr val="B7C0C8"/>
            </a:solidFill>
            <a:prstDash val="solid"/>
          </a:ln>
        </p:spPr>
      </p:sp>
      <p:sp>
        <p:nvSpPr>
          <p:cNvPr id="126" name="textbox-328">
            <a:extLst xmlns:a="http://schemas.openxmlformats.org/drawingml/2006/main">
              <a:ext uri="{FF2B5EF4-FFF2-40B4-BE49-F238E27FC236}">
                <a16:creationId xmlns:a16="http://schemas.microsoft.com/office/drawing/2014/main" id="{E834175F-A49C-474C-AB7C-21155F8614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5486400"/>
            <a:ext cx="1524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071B3D"/>
                </a:solidFill>
              </a:defRPr>
            </a:pPr>
            <a:r>
              <a:rPr sz="750" b="1">
                <a:solidFill>
                  <a:srgbClr val="071B3D"/>
                </a:solidFill>
              </a:rPr>
              <a:t>£</a:t>
            </a:r>
          </a:p>
        </p:txBody>
      </p:sp>
      <p:sp>
        <p:nvSpPr>
          <p:cNvPr id="127" name="textbox-329">
            <a:extLst xmlns:a="http://schemas.openxmlformats.org/drawingml/2006/main">
              <a:ext uri="{FF2B5EF4-FFF2-40B4-BE49-F238E27FC236}">
                <a16:creationId xmlns:a16="http://schemas.microsoft.com/office/drawing/2014/main" id="{03AA3C10-10E9-4FA5-9FD9-DB84C3DFC6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5086350"/>
            <a:ext cx="11906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071B3D"/>
                </a:solidFill>
              </a:defRPr>
            </a:pPr>
            <a:r>
              <a:rPr sz="975" b="1">
                <a:solidFill>
                  <a:srgbClr val="071B3D"/>
                </a:solidFill>
              </a:rPr>
              <a:t>OL Filter</a:t>
            </a:r>
          </a:p>
        </p:txBody>
      </p:sp>
      <p:sp>
        <p:nvSpPr>
          <p:cNvPr id="128" name="roundRect-330">
            <a:extLst xmlns:a="http://schemas.openxmlformats.org/drawingml/2006/main">
              <a:ext uri="{FF2B5EF4-FFF2-40B4-BE49-F238E27FC236}">
                <a16:creationId xmlns:a16="http://schemas.microsoft.com/office/drawing/2014/main" id="{57B0C244-F4EE-44CF-8066-73CEF53A46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5381625"/>
            <a:ext cx="685800" cy="2286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3F6F7"/>
          </a:solidFill>
          <a:ln xmlns:a="http://schemas.openxmlformats.org/drawingml/2006/main" w="9525">
            <a:solidFill>
              <a:srgbClr val="F3F6F7"/>
            </a:solidFill>
            <a:prstDash val="solid"/>
          </a:ln>
        </p:spPr>
      </p:sp>
      <p:sp>
        <p:nvSpPr>
          <p:cNvPr id="129" name="textbox-331">
            <a:extLst xmlns:a="http://schemas.openxmlformats.org/drawingml/2006/main">
              <a:ext uri="{FF2B5EF4-FFF2-40B4-BE49-F238E27FC236}">
                <a16:creationId xmlns:a16="http://schemas.microsoft.com/office/drawing/2014/main" id="{7C9595C1-7D2B-4A1C-8945-8C929EB823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5391150"/>
            <a:ext cx="571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071B3D"/>
                </a:solidFill>
              </a:defRPr>
            </a:pPr>
            <a:r>
              <a:rPr sz="825" b="1">
                <a:solidFill>
                  <a:srgbClr val="071B3D"/>
                </a:solidFill>
              </a:rPr>
              <a:t>price</a:t>
            </a:r>
          </a:p>
        </p:txBody>
      </p:sp>
      <p:sp>
        <p:nvSpPr>
          <p:cNvPr id="130" name="roundRect-332">
            <a:extLst xmlns:a="http://schemas.openxmlformats.org/drawingml/2006/main">
              <a:ext uri="{FF2B5EF4-FFF2-40B4-BE49-F238E27FC236}">
                <a16:creationId xmlns:a16="http://schemas.microsoft.com/office/drawing/2014/main" id="{C282272C-D4F4-44E0-8C4B-C4F17FFAFF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4981575"/>
            <a:ext cx="514350" cy="704850"/>
          </a:xfrm>
          <a:prstGeom xmlns:a="http://schemas.openxmlformats.org/drawingml/2006/main" prst="roundRect">
            <a:avLst>
              <a:gd name="adj" fmla="val 370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071B3D"/>
            </a:solidFill>
            <a:prstDash val="solid"/>
          </a:ln>
        </p:spPr>
      </p:sp>
      <p:sp>
        <p:nvSpPr>
          <p:cNvPr id="131" name="textbox-333">
            <a:extLst xmlns:a="http://schemas.openxmlformats.org/drawingml/2006/main">
              <a:ext uri="{FF2B5EF4-FFF2-40B4-BE49-F238E27FC236}">
                <a16:creationId xmlns:a16="http://schemas.microsoft.com/office/drawing/2014/main" id="{589E5F87-17BE-4BF3-BA89-32A65B902A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5019675"/>
            <a:ext cx="4191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600" b="1">
                <a:solidFill>
                  <a:srgbClr val="0B8687"/>
                </a:solidFill>
              </a:defRPr>
            </a:pPr>
            <a:r>
              <a:rPr sz="600" b="1">
                <a:solidFill>
                  <a:srgbClr val="0B8687"/>
                </a:solidFill>
              </a:rPr>
              <a:t>INV-1003</a:t>
            </a:r>
          </a:p>
        </p:txBody>
      </p:sp>
      <p:sp>
        <p:nvSpPr>
          <p:cNvPr id="132" name="rect-334">
            <a:extLst xmlns:a="http://schemas.openxmlformats.org/drawingml/2006/main">
              <a:ext uri="{FF2B5EF4-FFF2-40B4-BE49-F238E27FC236}">
                <a16:creationId xmlns:a16="http://schemas.microsoft.com/office/drawing/2014/main" id="{D68D0935-5391-4CB4-A914-DE64FA8880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5238750"/>
            <a:ext cx="2857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8A6B3"/>
          </a:solidFill>
          <a:ln xmlns:a="http://schemas.openxmlformats.org/drawingml/2006/main" w="0">
            <a:solidFill>
              <a:srgbClr val="98A6B3"/>
            </a:solidFill>
            <a:prstDash val="solid"/>
          </a:ln>
        </p:spPr>
      </p:sp>
      <p:sp>
        <p:nvSpPr>
          <p:cNvPr id="133" name="rect-335">
            <a:extLst xmlns:a="http://schemas.openxmlformats.org/drawingml/2006/main">
              <a:ext uri="{FF2B5EF4-FFF2-40B4-BE49-F238E27FC236}">
                <a16:creationId xmlns:a16="http://schemas.microsoft.com/office/drawing/2014/main" id="{BB09323B-0F83-4E28-A01E-7CFC4A3F67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5343525"/>
            <a:ext cx="228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C0C8"/>
          </a:solidFill>
          <a:ln xmlns:a="http://schemas.openxmlformats.org/drawingml/2006/main" w="0">
            <a:solidFill>
              <a:srgbClr val="B7C0C8"/>
            </a:solidFill>
            <a:prstDash val="solid"/>
          </a:ln>
        </p:spPr>
      </p:sp>
      <p:sp>
        <p:nvSpPr>
          <p:cNvPr id="134" name="rect-336">
            <a:extLst xmlns:a="http://schemas.openxmlformats.org/drawingml/2006/main">
              <a:ext uri="{FF2B5EF4-FFF2-40B4-BE49-F238E27FC236}">
                <a16:creationId xmlns:a16="http://schemas.microsoft.com/office/drawing/2014/main" id="{97B2E8F6-9658-4DF6-A106-A4B9BB0A91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5448300"/>
            <a:ext cx="2667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C0C8"/>
          </a:solidFill>
          <a:ln xmlns:a="http://schemas.openxmlformats.org/drawingml/2006/main" w="0">
            <a:solidFill>
              <a:srgbClr val="B7C0C8"/>
            </a:solidFill>
            <a:prstDash val="solid"/>
          </a:ln>
        </p:spPr>
      </p:sp>
      <p:sp>
        <p:nvSpPr>
          <p:cNvPr id="135" name="textbox-337">
            <a:extLst xmlns:a="http://schemas.openxmlformats.org/drawingml/2006/main">
              <a:ext uri="{FF2B5EF4-FFF2-40B4-BE49-F238E27FC236}">
                <a16:creationId xmlns:a16="http://schemas.microsoft.com/office/drawing/2014/main" id="{A49D54CA-8140-448D-AC4B-71F86C3B8A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34325" y="5486400"/>
            <a:ext cx="1524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071B3D"/>
                </a:solidFill>
              </a:defRPr>
            </a:pPr>
            <a:r>
              <a:rPr sz="750" b="1">
                <a:solidFill>
                  <a:srgbClr val="071B3D"/>
                </a:solidFill>
              </a:rPr>
              <a:t>£</a:t>
            </a:r>
          </a:p>
        </p:txBody>
      </p:sp>
      <p:sp>
        <p:nvSpPr>
          <p:cNvPr id="136" name="textbox-338">
            <a:extLst xmlns:a="http://schemas.openxmlformats.org/drawingml/2006/main">
              <a:ext uri="{FF2B5EF4-FFF2-40B4-BE49-F238E27FC236}">
                <a16:creationId xmlns:a16="http://schemas.microsoft.com/office/drawing/2014/main" id="{0BF883AD-6D2A-4EF2-AD57-1C76FADD90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5086350"/>
            <a:ext cx="11906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071B3D"/>
                </a:solidFill>
              </a:defRPr>
            </a:pPr>
            <a:r>
              <a:rPr sz="975" b="1">
                <a:solidFill>
                  <a:srgbClr val="071B3D"/>
                </a:solidFill>
              </a:rPr>
              <a:t>Oil_Fil</a:t>
            </a:r>
          </a:p>
        </p:txBody>
      </p:sp>
      <p:sp>
        <p:nvSpPr>
          <p:cNvPr id="137" name="roundRect-339">
            <a:extLst xmlns:a="http://schemas.openxmlformats.org/drawingml/2006/main">
              <a:ext uri="{FF2B5EF4-FFF2-40B4-BE49-F238E27FC236}">
                <a16:creationId xmlns:a16="http://schemas.microsoft.com/office/drawing/2014/main" id="{10668CEA-2DB3-4B7C-8523-E8D7BFB0A8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5381625"/>
            <a:ext cx="685800" cy="2286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3F6F7"/>
          </a:solidFill>
          <a:ln xmlns:a="http://schemas.openxmlformats.org/drawingml/2006/main" w="9525">
            <a:solidFill>
              <a:srgbClr val="F3F6F7"/>
            </a:solidFill>
            <a:prstDash val="solid"/>
          </a:ln>
        </p:spPr>
      </p:sp>
      <p:sp>
        <p:nvSpPr>
          <p:cNvPr id="138" name="textbox-340">
            <a:extLst xmlns:a="http://schemas.openxmlformats.org/drawingml/2006/main">
              <a:ext uri="{FF2B5EF4-FFF2-40B4-BE49-F238E27FC236}">
                <a16:creationId xmlns:a16="http://schemas.microsoft.com/office/drawing/2014/main" id="{18668773-9ADE-495B-B1D0-DE5ABB1779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96275" y="5391150"/>
            <a:ext cx="571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071B3D"/>
                </a:solidFill>
              </a:defRPr>
            </a:pPr>
            <a:r>
              <a:rPr sz="825" b="1">
                <a:solidFill>
                  <a:srgbClr val="071B3D"/>
                </a:solidFill>
              </a:rPr>
              <a:t>price</a:t>
            </a:r>
          </a:p>
        </p:txBody>
      </p:sp>
      <p:sp>
        <p:nvSpPr>
          <p:cNvPr id="139" name="roundRect-341">
            <a:extLst xmlns:a="http://schemas.openxmlformats.org/drawingml/2006/main">
              <a:ext uri="{FF2B5EF4-FFF2-40B4-BE49-F238E27FC236}">
                <a16:creationId xmlns:a16="http://schemas.microsoft.com/office/drawing/2014/main" id="{EA50A5FE-BCFC-47D8-A323-AEC274435E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72625" y="4981575"/>
            <a:ext cx="514350" cy="704850"/>
          </a:xfrm>
          <a:prstGeom xmlns:a="http://schemas.openxmlformats.org/drawingml/2006/main" prst="roundRect">
            <a:avLst>
              <a:gd name="adj" fmla="val 370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071B3D"/>
            </a:solidFill>
            <a:prstDash val="solid"/>
          </a:ln>
        </p:spPr>
      </p:sp>
      <p:sp>
        <p:nvSpPr>
          <p:cNvPr id="140" name="textbox-342">
            <a:extLst xmlns:a="http://schemas.openxmlformats.org/drawingml/2006/main">
              <a:ext uri="{FF2B5EF4-FFF2-40B4-BE49-F238E27FC236}">
                <a16:creationId xmlns:a16="http://schemas.microsoft.com/office/drawing/2014/main" id="{CAC0FE3E-C6AD-4EAC-B7CA-B97AF717FF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5019675"/>
            <a:ext cx="4191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600" b="1">
                <a:solidFill>
                  <a:srgbClr val="0B8687"/>
                </a:solidFill>
              </a:defRPr>
            </a:pPr>
            <a:r>
              <a:rPr sz="600" b="1">
                <a:solidFill>
                  <a:srgbClr val="0B8687"/>
                </a:solidFill>
              </a:rPr>
              <a:t>INV-1004</a:t>
            </a:r>
          </a:p>
        </p:txBody>
      </p:sp>
      <p:sp>
        <p:nvSpPr>
          <p:cNvPr id="141" name="rect-343">
            <a:extLst xmlns:a="http://schemas.openxmlformats.org/drawingml/2006/main">
              <a:ext uri="{FF2B5EF4-FFF2-40B4-BE49-F238E27FC236}">
                <a16:creationId xmlns:a16="http://schemas.microsoft.com/office/drawing/2014/main" id="{22A14D27-F71A-449B-B5C0-340348EE4A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67875" y="5238750"/>
            <a:ext cx="2857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8A6B3"/>
          </a:solidFill>
          <a:ln xmlns:a="http://schemas.openxmlformats.org/drawingml/2006/main" w="0">
            <a:solidFill>
              <a:srgbClr val="98A6B3"/>
            </a:solidFill>
            <a:prstDash val="solid"/>
          </a:ln>
        </p:spPr>
      </p:sp>
      <p:sp>
        <p:nvSpPr>
          <p:cNvPr id="142" name="rect-344">
            <a:extLst xmlns:a="http://schemas.openxmlformats.org/drawingml/2006/main">
              <a:ext uri="{FF2B5EF4-FFF2-40B4-BE49-F238E27FC236}">
                <a16:creationId xmlns:a16="http://schemas.microsoft.com/office/drawing/2014/main" id="{D61FBAA5-1E3F-4D09-AC07-E724D73D81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67875" y="5343525"/>
            <a:ext cx="228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C0C8"/>
          </a:solidFill>
          <a:ln xmlns:a="http://schemas.openxmlformats.org/drawingml/2006/main" w="0">
            <a:solidFill>
              <a:srgbClr val="B7C0C8"/>
            </a:solidFill>
            <a:prstDash val="solid"/>
          </a:ln>
        </p:spPr>
      </p:sp>
      <p:sp>
        <p:nvSpPr>
          <p:cNvPr id="143" name="rect-345">
            <a:extLst xmlns:a="http://schemas.openxmlformats.org/drawingml/2006/main">
              <a:ext uri="{FF2B5EF4-FFF2-40B4-BE49-F238E27FC236}">
                <a16:creationId xmlns:a16="http://schemas.microsoft.com/office/drawing/2014/main" id="{7A98D1F5-21C1-453D-B14A-C820715386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67875" y="5448300"/>
            <a:ext cx="2667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C0C8"/>
          </a:solidFill>
          <a:ln xmlns:a="http://schemas.openxmlformats.org/drawingml/2006/main" w="0">
            <a:solidFill>
              <a:srgbClr val="B7C0C8"/>
            </a:solidFill>
            <a:prstDash val="solid"/>
          </a:ln>
        </p:spPr>
      </p:sp>
      <p:sp>
        <p:nvSpPr>
          <p:cNvPr id="144" name="textbox-346">
            <a:extLst xmlns:a="http://schemas.openxmlformats.org/drawingml/2006/main">
              <a:ext uri="{FF2B5EF4-FFF2-40B4-BE49-F238E27FC236}">
                <a16:creationId xmlns:a16="http://schemas.microsoft.com/office/drawing/2014/main" id="{7FC5BF66-BCF8-41D5-9E91-4BBD81E627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86950" y="5486400"/>
            <a:ext cx="1524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071B3D"/>
                </a:solidFill>
              </a:defRPr>
            </a:pPr>
            <a:r>
              <a:rPr sz="750" b="1">
                <a:solidFill>
                  <a:srgbClr val="071B3D"/>
                </a:solidFill>
              </a:rPr>
              <a:t>£</a:t>
            </a:r>
          </a:p>
        </p:txBody>
      </p:sp>
      <p:sp>
        <p:nvSpPr>
          <p:cNvPr id="145" name="textbox-347">
            <a:extLst xmlns:a="http://schemas.openxmlformats.org/drawingml/2006/main">
              <a:ext uri="{FF2B5EF4-FFF2-40B4-BE49-F238E27FC236}">
                <a16:creationId xmlns:a16="http://schemas.microsoft.com/office/drawing/2014/main" id="{6C3889A7-5A1E-4FEF-8F80-470B243403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5086350"/>
            <a:ext cx="11906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071B3D"/>
                </a:solidFill>
              </a:defRPr>
            </a:pPr>
            <a:r>
              <a:rPr sz="975" b="1">
                <a:solidFill>
                  <a:srgbClr val="071B3D"/>
                </a:solidFill>
              </a:rPr>
              <a:t>Oil Filter Element</a:t>
            </a:r>
          </a:p>
        </p:txBody>
      </p:sp>
      <p:sp>
        <p:nvSpPr>
          <p:cNvPr id="146" name="roundRect-348">
            <a:extLst xmlns:a="http://schemas.openxmlformats.org/drawingml/2006/main">
              <a:ext uri="{FF2B5EF4-FFF2-40B4-BE49-F238E27FC236}">
                <a16:creationId xmlns:a16="http://schemas.microsoft.com/office/drawing/2014/main" id="{6FDF006B-E917-4E57-84E5-DAB6C04700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5381625"/>
            <a:ext cx="685800" cy="2286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3F6F7"/>
          </a:solidFill>
          <a:ln xmlns:a="http://schemas.openxmlformats.org/drawingml/2006/main" w="9525">
            <a:solidFill>
              <a:srgbClr val="F3F6F7"/>
            </a:solidFill>
            <a:prstDash val="solid"/>
          </a:ln>
        </p:spPr>
      </p:sp>
      <p:sp>
        <p:nvSpPr>
          <p:cNvPr id="147" name="textbox-349">
            <a:extLst xmlns:a="http://schemas.openxmlformats.org/drawingml/2006/main">
              <a:ext uri="{FF2B5EF4-FFF2-40B4-BE49-F238E27FC236}">
                <a16:creationId xmlns:a16="http://schemas.microsoft.com/office/drawing/2014/main" id="{70715867-CA3D-4614-AE9C-48040EA9B1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48900" y="5391150"/>
            <a:ext cx="571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071B3D"/>
                </a:solidFill>
              </a:defRPr>
            </a:pPr>
            <a:r>
              <a:rPr sz="825" b="1">
                <a:solidFill>
                  <a:srgbClr val="071B3D"/>
                </a:solidFill>
              </a:rPr>
              <a:t>price</a:t>
            </a:r>
          </a:p>
        </p:txBody>
      </p:sp>
      <p:sp>
        <p:nvSpPr>
          <p:cNvPr id="148" name="roundRect-350">
            <a:extLst xmlns:a="http://schemas.openxmlformats.org/drawingml/2006/main">
              <a:ext uri="{FF2B5EF4-FFF2-40B4-BE49-F238E27FC236}">
                <a16:creationId xmlns:a16="http://schemas.microsoft.com/office/drawing/2014/main" id="{15506834-DA47-4711-9711-E574DB506B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6076950"/>
            <a:ext cx="5715000" cy="476250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0B8687"/>
            </a:solidFill>
            <a:prstDash val="solid"/>
          </a:ln>
        </p:spPr>
      </p:sp>
      <p:sp>
        <p:nvSpPr>
          <p:cNvPr id="149" name="ellipse-351">
            <a:extLst xmlns:a="http://schemas.openxmlformats.org/drawingml/2006/main">
              <a:ext uri="{FF2B5EF4-FFF2-40B4-BE49-F238E27FC236}">
                <a16:creationId xmlns:a16="http://schemas.microsoft.com/office/drawing/2014/main" id="{A7E2E0E1-4BDC-4546-820C-BEE61CE493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1375" y="5962650"/>
            <a:ext cx="666750" cy="666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0B8687"/>
            </a:solidFill>
            <a:prstDash val="solid"/>
          </a:ln>
        </p:spPr>
      </p:sp>
      <p:sp>
        <p:nvSpPr>
          <p:cNvPr id="150" name="textbox-352">
            <a:extLst xmlns:a="http://schemas.openxmlformats.org/drawingml/2006/main">
              <a:ext uri="{FF2B5EF4-FFF2-40B4-BE49-F238E27FC236}">
                <a16:creationId xmlns:a16="http://schemas.microsoft.com/office/drawing/2014/main" id="{CED45973-5EBB-451D-A6F7-4A4CFD133E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1375" y="5972175"/>
            <a:ext cx="6667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0B8687"/>
                </a:solidFill>
              </a:defRPr>
            </a:pPr>
            <a:r>
              <a:rPr sz="2100" b="1">
                <a:solidFill>
                  <a:srgbClr val="0B8687"/>
                </a:solidFill>
              </a:rPr>
              <a:t>✓</a:t>
            </a:r>
          </a:p>
        </p:txBody>
      </p:sp>
      <p:sp>
        <p:nvSpPr>
          <p:cNvPr id="151" name="textbox-353">
            <a:extLst xmlns:a="http://schemas.openxmlformats.org/drawingml/2006/main">
              <a:ext uri="{FF2B5EF4-FFF2-40B4-BE49-F238E27FC236}">
                <a16:creationId xmlns:a16="http://schemas.microsoft.com/office/drawing/2014/main" id="{2BB952D8-41EA-48AA-A2E7-FDCB2879CD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6162675"/>
            <a:ext cx="4667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71B3D"/>
                </a:solidFill>
              </a:defRPr>
            </a:pPr>
            <a:r>
              <a:rPr sz="1350" b="1">
                <a:solidFill>
                  <a:srgbClr val="071B3D"/>
                </a:solidFill>
              </a:rPr>
              <a:t>The current invoice never influences its own benchmark.</a:t>
            </a:r>
          </a:p>
        </p:txBody>
      </p:sp>
    </p:spTree>
    <p:extLst>
      <p:ext uri="{BB962C8B-B14F-4D97-AF65-F5344CB8AC3E}">
        <p14:creationId xmlns:p14="http://schemas.microsoft.com/office/powerpoint/2010/main" val="206370596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CFB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6" name="rect-354">
            <a:extLst xmlns:a="http://schemas.openxmlformats.org/drawingml/2006/main">
              <a:ext uri="{FF2B5EF4-FFF2-40B4-BE49-F238E27FC236}">
                <a16:creationId xmlns:a16="http://schemas.microsoft.com/office/drawing/2014/main" id="{531CDC45-0549-4950-814A-80A3B4D14C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323850"/>
            <a:ext cx="66675" cy="981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8687"/>
          </a:solidFill>
          <a:ln xmlns:a="http://schemas.openxmlformats.org/drawingml/2006/main" w="0">
            <a:solidFill>
              <a:srgbClr val="0B8687"/>
            </a:solidFill>
            <a:prstDash val="solid"/>
          </a:ln>
        </p:spPr>
      </p:sp>
      <p:sp>
        <p:nvSpPr>
          <p:cNvPr id="2" name="textbox-355">
            <a:extLst xmlns:a="http://schemas.openxmlformats.org/drawingml/2006/main">
              <a:ext uri="{FF2B5EF4-FFF2-40B4-BE49-F238E27FC236}">
                <a16:creationId xmlns:a16="http://schemas.microsoft.com/office/drawing/2014/main" id="{566C5D95-C1B5-46E5-B57C-020BE4DAD7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66700"/>
            <a:ext cx="876300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071B3D"/>
                </a:solidFill>
              </a:defRPr>
            </a:pPr>
            <a:r>
              <a:rPr sz="3600" b="1">
                <a:solidFill>
                  <a:srgbClr val="071B3D"/>
                </a:solidFill>
              </a:rPr>
              <a:t>The value comes from</a:t>
            </a:r>
          </a:p>
          <a:p xmlns:a="http://schemas.openxmlformats.org/drawingml/2006/main">
            <a:pPr>
              <a:defRPr sz="3600" b="1">
                <a:solidFill>
                  <a:srgbClr val="071B3D"/>
                </a:solidFill>
              </a:defRPr>
            </a:pPr>
            <a:r>
              <a:rPr sz="3600" b="1">
                <a:solidFill>
                  <a:srgbClr val="071B3D"/>
                </a:solidFill>
              </a:rPr>
              <a:t>greater speed, consistency and control</a:t>
            </a:r>
          </a:p>
        </p:txBody>
      </p:sp>
      <p:sp>
        <p:nvSpPr>
          <p:cNvPr id="3" name="rect-356">
            <a:extLst xmlns:a="http://schemas.openxmlformats.org/drawingml/2006/main">
              <a:ext uri="{FF2B5EF4-FFF2-40B4-BE49-F238E27FC236}">
                <a16:creationId xmlns:a16="http://schemas.microsoft.com/office/drawing/2014/main" id="{E72F208A-ACF8-48FA-8672-F5E8D663A9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62425" y="2238375"/>
            <a:ext cx="8763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8687"/>
          </a:solidFill>
          <a:ln xmlns:a="http://schemas.openxmlformats.org/drawingml/2006/main" w="0">
            <a:solidFill>
              <a:srgbClr val="0B8687"/>
            </a:solidFill>
            <a:prstDash val="solid"/>
          </a:ln>
        </p:spPr>
      </p:sp>
      <p:sp>
        <p:nvSpPr>
          <p:cNvPr id="4" name="rect-357">
            <a:extLst xmlns:a="http://schemas.openxmlformats.org/drawingml/2006/main">
              <a:ext uri="{FF2B5EF4-FFF2-40B4-BE49-F238E27FC236}">
                <a16:creationId xmlns:a16="http://schemas.microsoft.com/office/drawing/2014/main" id="{E2242A05-D189-4751-A53B-06E982230A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3838575"/>
            <a:ext cx="8763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8687"/>
          </a:solidFill>
          <a:ln xmlns:a="http://schemas.openxmlformats.org/drawingml/2006/main" w="0">
            <a:solidFill>
              <a:srgbClr val="0B8687"/>
            </a:solidFill>
            <a:prstDash val="solid"/>
          </a:ln>
        </p:spPr>
      </p:sp>
      <p:sp>
        <p:nvSpPr>
          <p:cNvPr id="5" name="rect-358">
            <a:extLst xmlns:a="http://schemas.openxmlformats.org/drawingml/2006/main">
              <a:ext uri="{FF2B5EF4-FFF2-40B4-BE49-F238E27FC236}">
                <a16:creationId xmlns:a16="http://schemas.microsoft.com/office/drawing/2014/main" id="{03878385-266D-4B63-A72A-B15189D047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2238375"/>
            <a:ext cx="8763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8687"/>
          </a:solidFill>
          <a:ln xmlns:a="http://schemas.openxmlformats.org/drawingml/2006/main" w="0">
            <a:solidFill>
              <a:srgbClr val="0B8687"/>
            </a:solidFill>
            <a:prstDash val="solid"/>
          </a:ln>
        </p:spPr>
      </p:sp>
      <p:sp>
        <p:nvSpPr>
          <p:cNvPr id="6" name="rect-359">
            <a:extLst xmlns:a="http://schemas.openxmlformats.org/drawingml/2006/main">
              <a:ext uri="{FF2B5EF4-FFF2-40B4-BE49-F238E27FC236}">
                <a16:creationId xmlns:a16="http://schemas.microsoft.com/office/drawing/2014/main" id="{259F4A9C-3D27-4E76-A0DF-413F98E7A8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3838575"/>
            <a:ext cx="8763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8687"/>
          </a:solidFill>
          <a:ln xmlns:a="http://schemas.openxmlformats.org/drawingml/2006/main" w="0">
            <a:solidFill>
              <a:srgbClr val="0B8687"/>
            </a:solidFill>
            <a:prstDash val="solid"/>
          </a:ln>
        </p:spPr>
      </p:sp>
      <p:sp>
        <p:nvSpPr>
          <p:cNvPr id="7" name="rect-360">
            <a:extLst xmlns:a="http://schemas.openxmlformats.org/drawingml/2006/main">
              <a:ext uri="{FF2B5EF4-FFF2-40B4-BE49-F238E27FC236}">
                <a16:creationId xmlns:a16="http://schemas.microsoft.com/office/drawing/2014/main" id="{0B193536-31BA-41E8-9322-4D769E6431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4648200"/>
            <a:ext cx="190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8687"/>
          </a:solidFill>
          <a:ln xmlns:a="http://schemas.openxmlformats.org/drawingml/2006/main" w="0">
            <a:solidFill>
              <a:srgbClr val="0B8687"/>
            </a:solidFill>
            <a:prstDash val="solid"/>
          </a:ln>
        </p:spPr>
      </p:sp>
      <p:sp>
        <p:nvSpPr>
          <p:cNvPr id="8" name="ellipse-361">
            <a:extLst xmlns:a="http://schemas.openxmlformats.org/drawingml/2006/main">
              <a:ext uri="{FF2B5EF4-FFF2-40B4-BE49-F238E27FC236}">
                <a16:creationId xmlns:a16="http://schemas.microsoft.com/office/drawing/2014/main" id="{5F2BE832-5E74-4A8F-9A20-0F804882A0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05375" y="1619250"/>
            <a:ext cx="2381250" cy="2381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0">
            <a:solidFill>
              <a:srgbClr val="0B8687"/>
            </a:solidFill>
            <a:prstDash val="solid"/>
          </a:ln>
        </p:spPr>
      </p:sp>
      <p:sp>
        <p:nvSpPr>
          <p:cNvPr id="9" name="ellipse-362">
            <a:extLst xmlns:a="http://schemas.openxmlformats.org/drawingml/2006/main">
              <a:ext uri="{FF2B5EF4-FFF2-40B4-BE49-F238E27FC236}">
                <a16:creationId xmlns:a16="http://schemas.microsoft.com/office/drawing/2014/main" id="{E4A07D2F-BFA0-451F-A5A4-6D214BE82F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2143125"/>
            <a:ext cx="952500" cy="952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0B8687"/>
            </a:solidFill>
            <a:prstDash val="solid"/>
          </a:ln>
        </p:spPr>
      </p:sp>
      <p:sp>
        <p:nvSpPr>
          <p:cNvPr id="10" name="textbox-363">
            <a:extLst xmlns:a="http://schemas.openxmlformats.org/drawingml/2006/main">
              <a:ext uri="{FF2B5EF4-FFF2-40B4-BE49-F238E27FC236}">
                <a16:creationId xmlns:a16="http://schemas.microsoft.com/office/drawing/2014/main" id="{B5ED19FA-A077-4F9F-ADFA-45CF0249B5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2152650"/>
            <a:ext cx="95250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3000" b="1">
                <a:solidFill>
                  <a:srgbClr val="0B8687"/>
                </a:solidFill>
              </a:defRPr>
            </a:pPr>
            <a:r>
              <a:rPr sz="3000" b="1">
                <a:solidFill>
                  <a:srgbClr val="0B8687"/>
                </a:solidFill>
              </a:rPr>
              <a:t>✓</a:t>
            </a:r>
          </a:p>
        </p:txBody>
      </p:sp>
      <p:sp>
        <p:nvSpPr>
          <p:cNvPr id="11" name="textbox-364">
            <a:extLst xmlns:a="http://schemas.openxmlformats.org/drawingml/2006/main">
              <a:ext uri="{FF2B5EF4-FFF2-40B4-BE49-F238E27FC236}">
                <a16:creationId xmlns:a16="http://schemas.microsoft.com/office/drawing/2014/main" id="{CDD385A3-4F9D-4C0B-BAD4-B5ED9BB65C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0625" y="3209925"/>
            <a:ext cx="2190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071B3D"/>
                </a:solidFill>
              </a:defRPr>
            </a:pPr>
            <a:r>
              <a:rPr sz="1425" b="1">
                <a:solidFill>
                  <a:srgbClr val="071B3D"/>
                </a:solidFill>
              </a:rPr>
              <a:t>Evidence-backed</a:t>
            </a:r>
          </a:p>
          <a:p xmlns:a="http://schemas.openxmlformats.org/drawingml/2006/main">
            <a:pPr algn="ctr">
              <a:defRPr sz="1425" b="1">
                <a:solidFill>
                  <a:srgbClr val="071B3D"/>
                </a:solidFill>
              </a:defRPr>
            </a:pPr>
            <a:r>
              <a:rPr sz="1425" b="1">
                <a:solidFill>
                  <a:srgbClr val="071B3D"/>
                </a:solidFill>
              </a:rPr>
              <a:t>claims review</a:t>
            </a:r>
          </a:p>
        </p:txBody>
      </p:sp>
      <p:sp>
        <p:nvSpPr>
          <p:cNvPr id="12" name="ellipse-365">
            <a:extLst xmlns:a="http://schemas.openxmlformats.org/drawingml/2006/main">
              <a:ext uri="{FF2B5EF4-FFF2-40B4-BE49-F238E27FC236}">
                <a16:creationId xmlns:a16="http://schemas.microsoft.com/office/drawing/2014/main" id="{7CEACFAF-C8D7-4DCC-8455-A8E813C49C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1752600"/>
            <a:ext cx="990600" cy="990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0B8687"/>
            </a:solidFill>
            <a:prstDash val="solid"/>
          </a:ln>
        </p:spPr>
      </p:sp>
      <p:sp>
        <p:nvSpPr>
          <p:cNvPr id="13" name="textbox-366">
            <a:extLst xmlns:a="http://schemas.openxmlformats.org/drawingml/2006/main">
              <a:ext uri="{FF2B5EF4-FFF2-40B4-BE49-F238E27FC236}">
                <a16:creationId xmlns:a16="http://schemas.microsoft.com/office/drawing/2014/main" id="{CB6F3DF4-E282-4240-8C83-C1F610C68D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1762125"/>
            <a:ext cx="99060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B8687"/>
                </a:solidFill>
              </a:defRPr>
            </a:pPr>
            <a:r>
              <a:rPr sz="1350" b="1">
                <a:solidFill>
                  <a:srgbClr val="0B8687"/>
                </a:solidFill>
              </a:rPr>
              <a:t>FAST</a:t>
            </a:r>
          </a:p>
        </p:txBody>
      </p:sp>
      <p:sp>
        <p:nvSpPr>
          <p:cNvPr id="14" name="textbox-367">
            <a:extLst xmlns:a="http://schemas.openxmlformats.org/drawingml/2006/main">
              <a:ext uri="{FF2B5EF4-FFF2-40B4-BE49-F238E27FC236}">
                <a16:creationId xmlns:a16="http://schemas.microsoft.com/office/drawing/2014/main" id="{CAC96AFA-DD7D-4788-BADF-EBDDEDA3A4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1809750"/>
            <a:ext cx="1809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096C6D"/>
                </a:solidFill>
              </a:defRPr>
            </a:pPr>
            <a:r>
              <a:rPr sz="1575" b="1">
                <a:solidFill>
                  <a:srgbClr val="096C6D"/>
                </a:solidFill>
              </a:rPr>
              <a:t>Faster handling</a:t>
            </a:r>
          </a:p>
        </p:txBody>
      </p:sp>
      <p:sp>
        <p:nvSpPr>
          <p:cNvPr id="15" name="textbox-368">
            <a:extLst xmlns:a="http://schemas.openxmlformats.org/drawingml/2006/main">
              <a:ext uri="{FF2B5EF4-FFF2-40B4-BE49-F238E27FC236}">
                <a16:creationId xmlns:a16="http://schemas.microsoft.com/office/drawing/2014/main" id="{48FAEBE4-060E-410C-A192-83380C0CF8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2105025"/>
            <a:ext cx="2095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071B3D"/>
                </a:solidFill>
              </a:defRPr>
            </a:pPr>
            <a:r>
              <a:rPr sz="1275">
                <a:solidFill>
                  <a:srgbClr val="071B3D"/>
                </a:solidFill>
              </a:rPr>
              <a:t>Less time interpreting</a:t>
            </a:r>
          </a:p>
          <a:p xmlns:a="http://schemas.openxmlformats.org/drawingml/2006/main">
            <a:pPr>
              <a:defRPr sz="1275">
                <a:solidFill>
                  <a:srgbClr val="071B3D"/>
                </a:solidFill>
              </a:defRPr>
            </a:pPr>
            <a:r>
              <a:rPr sz="1275">
                <a:solidFill>
                  <a:srgbClr val="071B3D"/>
                </a:solidFill>
              </a:rPr>
              <a:t>invoices and searching</a:t>
            </a:r>
          </a:p>
          <a:p xmlns:a="http://schemas.openxmlformats.org/drawingml/2006/main">
            <a:pPr>
              <a:defRPr sz="1275">
                <a:solidFill>
                  <a:srgbClr val="071B3D"/>
                </a:solidFill>
              </a:defRPr>
            </a:pPr>
            <a:r>
              <a:rPr sz="1275">
                <a:solidFill>
                  <a:srgbClr val="071B3D"/>
                </a:solidFill>
              </a:rPr>
              <a:t>for comparisons</a:t>
            </a:r>
          </a:p>
        </p:txBody>
      </p:sp>
      <p:sp>
        <p:nvSpPr>
          <p:cNvPr id="16" name="ellipse-369">
            <a:extLst xmlns:a="http://schemas.openxmlformats.org/drawingml/2006/main">
              <a:ext uri="{FF2B5EF4-FFF2-40B4-BE49-F238E27FC236}">
                <a16:creationId xmlns:a16="http://schemas.microsoft.com/office/drawing/2014/main" id="{89729BA9-0280-48FB-857A-301F9A331B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3581400"/>
            <a:ext cx="990600" cy="990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0B8687"/>
            </a:solidFill>
            <a:prstDash val="solid"/>
          </a:ln>
        </p:spPr>
      </p:sp>
      <p:sp>
        <p:nvSpPr>
          <p:cNvPr id="17" name="textbox-370">
            <a:extLst xmlns:a="http://schemas.openxmlformats.org/drawingml/2006/main">
              <a:ext uri="{FF2B5EF4-FFF2-40B4-BE49-F238E27FC236}">
                <a16:creationId xmlns:a16="http://schemas.microsoft.com/office/drawing/2014/main" id="{A267A58C-7EAB-4B21-88A9-6AB20FD040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3590925"/>
            <a:ext cx="99060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3000" b="1">
                <a:solidFill>
                  <a:srgbClr val="0B8687"/>
                </a:solidFill>
              </a:defRPr>
            </a:pPr>
            <a:r>
              <a:rPr sz="3000" b="1">
                <a:solidFill>
                  <a:srgbClr val="0B8687"/>
                </a:solidFill>
              </a:rPr>
              <a:t>↗</a:t>
            </a:r>
          </a:p>
        </p:txBody>
      </p:sp>
      <p:sp>
        <p:nvSpPr>
          <p:cNvPr id="18" name="textbox-371">
            <a:extLst xmlns:a="http://schemas.openxmlformats.org/drawingml/2006/main">
              <a:ext uri="{FF2B5EF4-FFF2-40B4-BE49-F238E27FC236}">
                <a16:creationId xmlns:a16="http://schemas.microsoft.com/office/drawing/2014/main" id="{0CD969A8-F98C-47BF-8C9C-36B5B2419E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3667125"/>
            <a:ext cx="1809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096C6D"/>
                </a:solidFill>
              </a:defRPr>
            </a:pPr>
            <a:r>
              <a:rPr sz="1575" b="1">
                <a:solidFill>
                  <a:srgbClr val="096C6D"/>
                </a:solidFill>
              </a:rPr>
              <a:t>Better cost control</a:t>
            </a:r>
          </a:p>
        </p:txBody>
      </p:sp>
      <p:sp>
        <p:nvSpPr>
          <p:cNvPr id="19" name="textbox-372">
            <a:extLst xmlns:a="http://schemas.openxmlformats.org/drawingml/2006/main">
              <a:ext uri="{FF2B5EF4-FFF2-40B4-BE49-F238E27FC236}">
                <a16:creationId xmlns:a16="http://schemas.microsoft.com/office/drawing/2014/main" id="{9CA9ADE1-933B-4F4B-A513-DECE080019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3962400"/>
            <a:ext cx="19050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071B3D"/>
                </a:solidFill>
              </a:defRPr>
            </a:pPr>
            <a:r>
              <a:rPr sz="1275">
                <a:solidFill>
                  <a:srgbClr val="071B3D"/>
                </a:solidFill>
              </a:rPr>
              <a:t>Focus attention on</a:t>
            </a:r>
          </a:p>
          <a:p xmlns:a="http://schemas.openxmlformats.org/drawingml/2006/main">
            <a:pPr>
              <a:defRPr sz="1275">
                <a:solidFill>
                  <a:srgbClr val="071B3D"/>
                </a:solidFill>
              </a:defRPr>
            </a:pPr>
            <a:r>
              <a:rPr sz="1275">
                <a:solidFill>
                  <a:srgbClr val="071B3D"/>
                </a:solidFill>
              </a:rPr>
              <a:t>materially high</a:t>
            </a:r>
          </a:p>
          <a:p xmlns:a="http://schemas.openxmlformats.org/drawingml/2006/main">
            <a:pPr>
              <a:defRPr sz="1275">
                <a:solidFill>
                  <a:srgbClr val="071B3D"/>
                </a:solidFill>
              </a:defRPr>
            </a:pPr>
            <a:r>
              <a:rPr sz="1275">
                <a:solidFill>
                  <a:srgbClr val="071B3D"/>
                </a:solidFill>
              </a:rPr>
              <a:t>repair charges</a:t>
            </a:r>
          </a:p>
        </p:txBody>
      </p:sp>
      <p:sp>
        <p:nvSpPr>
          <p:cNvPr id="20" name="ellipse-373">
            <a:extLst xmlns:a="http://schemas.openxmlformats.org/drawingml/2006/main">
              <a:ext uri="{FF2B5EF4-FFF2-40B4-BE49-F238E27FC236}">
                <a16:creationId xmlns:a16="http://schemas.microsoft.com/office/drawing/2014/main" id="{4E0D3FCF-BB23-4D70-A619-B926CF5911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1752600"/>
            <a:ext cx="990600" cy="990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0B8687"/>
            </a:solidFill>
            <a:prstDash val="solid"/>
          </a:ln>
        </p:spPr>
      </p:sp>
      <p:sp>
        <p:nvSpPr>
          <p:cNvPr id="21" name="textbox-374">
            <a:extLst xmlns:a="http://schemas.openxmlformats.org/drawingml/2006/main">
              <a:ext uri="{FF2B5EF4-FFF2-40B4-BE49-F238E27FC236}">
                <a16:creationId xmlns:a16="http://schemas.microsoft.com/office/drawing/2014/main" id="{7960C400-E2DA-4999-93A7-43B00CBE41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1762125"/>
            <a:ext cx="99060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0B8687"/>
                </a:solidFill>
              </a:defRPr>
            </a:pPr>
            <a:r>
              <a:rPr sz="1200" b="1">
                <a:solidFill>
                  <a:srgbClr val="0B8687"/>
                </a:solidFill>
              </a:rPr>
              <a:t>TEAM</a:t>
            </a:r>
          </a:p>
        </p:txBody>
      </p:sp>
      <p:sp>
        <p:nvSpPr>
          <p:cNvPr id="22" name="textbox-375">
            <a:extLst xmlns:a="http://schemas.openxmlformats.org/drawingml/2006/main">
              <a:ext uri="{FF2B5EF4-FFF2-40B4-BE49-F238E27FC236}">
                <a16:creationId xmlns:a16="http://schemas.microsoft.com/office/drawing/2014/main" id="{7E0D0F2D-D99A-463D-9CCE-727858FF99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1809750"/>
            <a:ext cx="2190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096C6D"/>
                </a:solidFill>
              </a:defRPr>
            </a:pPr>
            <a:r>
              <a:rPr sz="1575" b="1">
                <a:solidFill>
                  <a:srgbClr val="096C6D"/>
                </a:solidFill>
              </a:rPr>
              <a:t>Consistent decisions</a:t>
            </a:r>
          </a:p>
        </p:txBody>
      </p:sp>
      <p:sp>
        <p:nvSpPr>
          <p:cNvPr id="23" name="textbox-376">
            <a:extLst xmlns:a="http://schemas.openxmlformats.org/drawingml/2006/main">
              <a:ext uri="{FF2B5EF4-FFF2-40B4-BE49-F238E27FC236}">
                <a16:creationId xmlns:a16="http://schemas.microsoft.com/office/drawing/2014/main" id="{2C884E51-090F-4952-AAF1-1747D8545E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2105025"/>
            <a:ext cx="21907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071B3D"/>
                </a:solidFill>
              </a:defRPr>
            </a:pPr>
            <a:r>
              <a:rPr sz="1275">
                <a:solidFill>
                  <a:srgbClr val="071B3D"/>
                </a:solidFill>
              </a:rPr>
              <a:t>One governed review</a:t>
            </a:r>
          </a:p>
          <a:p xmlns:a="http://schemas.openxmlformats.org/drawingml/2006/main">
            <a:pPr>
              <a:defRPr sz="1275">
                <a:solidFill>
                  <a:srgbClr val="071B3D"/>
                </a:solidFill>
              </a:defRPr>
            </a:pPr>
            <a:r>
              <a:rPr sz="1275">
                <a:solidFill>
                  <a:srgbClr val="071B3D"/>
                </a:solidFill>
              </a:rPr>
              <a:t>approach across claims</a:t>
            </a:r>
          </a:p>
          <a:p xmlns:a="http://schemas.openxmlformats.org/drawingml/2006/main">
            <a:pPr>
              <a:defRPr sz="1275">
                <a:solidFill>
                  <a:srgbClr val="071B3D"/>
                </a:solidFill>
              </a:defRPr>
            </a:pPr>
            <a:r>
              <a:rPr sz="1275">
                <a:solidFill>
                  <a:srgbClr val="071B3D"/>
                </a:solidFill>
              </a:rPr>
              <a:t>and suppliers</a:t>
            </a:r>
          </a:p>
        </p:txBody>
      </p:sp>
      <p:sp>
        <p:nvSpPr>
          <p:cNvPr id="24" name="ellipse-377">
            <a:extLst xmlns:a="http://schemas.openxmlformats.org/drawingml/2006/main">
              <a:ext uri="{FF2B5EF4-FFF2-40B4-BE49-F238E27FC236}">
                <a16:creationId xmlns:a16="http://schemas.microsoft.com/office/drawing/2014/main" id="{4BC727F4-AADE-432D-BAD1-C4DD5F4A44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3581400"/>
            <a:ext cx="990600" cy="990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0B8687"/>
            </a:solidFill>
            <a:prstDash val="solid"/>
          </a:ln>
        </p:spPr>
      </p:sp>
      <p:sp>
        <p:nvSpPr>
          <p:cNvPr id="25" name="textbox-378">
            <a:extLst xmlns:a="http://schemas.openxmlformats.org/drawingml/2006/main">
              <a:ext uri="{FF2B5EF4-FFF2-40B4-BE49-F238E27FC236}">
                <a16:creationId xmlns:a16="http://schemas.microsoft.com/office/drawing/2014/main" id="{75C9528B-4A96-4F3E-9C58-8DF476D635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3590925"/>
            <a:ext cx="99060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0B8687"/>
                </a:solidFill>
              </a:defRPr>
            </a:pPr>
            <a:r>
              <a:rPr sz="2400" b="1">
                <a:solidFill>
                  <a:srgbClr val="0B8687"/>
                </a:solidFill>
              </a:rPr>
              <a:t>•••</a:t>
            </a:r>
          </a:p>
        </p:txBody>
      </p:sp>
      <p:sp>
        <p:nvSpPr>
          <p:cNvPr id="26" name="textbox-379">
            <a:extLst xmlns:a="http://schemas.openxmlformats.org/drawingml/2006/main">
              <a:ext uri="{FF2B5EF4-FFF2-40B4-BE49-F238E27FC236}">
                <a16:creationId xmlns:a16="http://schemas.microsoft.com/office/drawing/2014/main" id="{E06FE2F0-C665-448A-8FCE-57FA3CE316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01125" y="3562350"/>
            <a:ext cx="2286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096C6D"/>
                </a:solidFill>
              </a:defRPr>
            </a:pPr>
            <a:r>
              <a:rPr sz="1575" b="1">
                <a:solidFill>
                  <a:srgbClr val="096C6D"/>
                </a:solidFill>
              </a:rPr>
              <a:t>Stronger supplier</a:t>
            </a:r>
          </a:p>
          <a:p xmlns:a="http://schemas.openxmlformats.org/drawingml/2006/main">
            <a:pPr>
              <a:defRPr sz="1575" b="1">
                <a:solidFill>
                  <a:srgbClr val="096C6D"/>
                </a:solidFill>
              </a:defRPr>
            </a:pPr>
            <a:r>
              <a:rPr sz="1575" b="1">
                <a:solidFill>
                  <a:srgbClr val="096C6D"/>
                </a:solidFill>
              </a:rPr>
              <a:t>conversations</a:t>
            </a:r>
          </a:p>
        </p:txBody>
      </p:sp>
      <p:sp>
        <p:nvSpPr>
          <p:cNvPr id="27" name="textbox-380">
            <a:extLst xmlns:a="http://schemas.openxmlformats.org/drawingml/2006/main">
              <a:ext uri="{FF2B5EF4-FFF2-40B4-BE49-F238E27FC236}">
                <a16:creationId xmlns:a16="http://schemas.microsoft.com/office/drawing/2014/main" id="{36AD686A-21E7-4E0F-A83B-02BC1F2A4A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01125" y="4114800"/>
            <a:ext cx="233362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071B3D"/>
                </a:solidFill>
              </a:defRPr>
            </a:pPr>
            <a:r>
              <a:rPr sz="1275">
                <a:solidFill>
                  <a:srgbClr val="071B3D"/>
                </a:solidFill>
              </a:rPr>
              <a:t>Support challenges with</a:t>
            </a:r>
          </a:p>
          <a:p xmlns:a="http://schemas.openxmlformats.org/drawingml/2006/main">
            <a:pPr>
              <a:defRPr sz="1275">
                <a:solidFill>
                  <a:srgbClr val="071B3D"/>
                </a:solidFill>
              </a:defRPr>
            </a:pPr>
            <a:r>
              <a:rPr sz="1275">
                <a:solidFill>
                  <a:srgbClr val="071B3D"/>
                </a:solidFill>
              </a:rPr>
              <a:t>clear historical evidence</a:t>
            </a:r>
          </a:p>
        </p:txBody>
      </p:sp>
      <p:sp>
        <p:nvSpPr>
          <p:cNvPr id="28" name="ellipse-381">
            <a:extLst xmlns:a="http://schemas.openxmlformats.org/drawingml/2006/main">
              <a:ext uri="{FF2B5EF4-FFF2-40B4-BE49-F238E27FC236}">
                <a16:creationId xmlns:a16="http://schemas.microsoft.com/office/drawing/2014/main" id="{44CEB5AB-01CA-4A4B-8306-32854D4EFD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4857750"/>
            <a:ext cx="876300" cy="876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0B8687"/>
            </a:solidFill>
            <a:prstDash val="solid"/>
          </a:ln>
        </p:spPr>
      </p:sp>
      <p:sp>
        <p:nvSpPr>
          <p:cNvPr id="29" name="textbox-382">
            <a:extLst xmlns:a="http://schemas.openxmlformats.org/drawingml/2006/main">
              <a:ext uri="{FF2B5EF4-FFF2-40B4-BE49-F238E27FC236}">
                <a16:creationId xmlns:a16="http://schemas.microsoft.com/office/drawing/2014/main" id="{BC9E07CB-D02E-4F89-B4CA-F6E8795195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4867275"/>
            <a:ext cx="8763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0B8687"/>
                </a:solidFill>
              </a:defRPr>
            </a:pPr>
            <a:r>
              <a:rPr sz="2550" b="1">
                <a:solidFill>
                  <a:srgbClr val="0B8687"/>
                </a:solidFill>
              </a:rPr>
              <a:t>✓</a:t>
            </a:r>
          </a:p>
        </p:txBody>
      </p:sp>
      <p:sp>
        <p:nvSpPr>
          <p:cNvPr id="30" name="textbox-383">
            <a:extLst xmlns:a="http://schemas.openxmlformats.org/drawingml/2006/main">
              <a:ext uri="{FF2B5EF4-FFF2-40B4-BE49-F238E27FC236}">
                <a16:creationId xmlns:a16="http://schemas.microsoft.com/office/drawing/2014/main" id="{B1FB2778-E4CB-4850-A2A7-C65F2C37C4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4962525"/>
            <a:ext cx="21431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096C6D"/>
                </a:solidFill>
              </a:defRPr>
            </a:pPr>
            <a:r>
              <a:rPr sz="1575" b="1">
                <a:solidFill>
                  <a:srgbClr val="096C6D"/>
                </a:solidFill>
              </a:rPr>
              <a:t>Improved governance</a:t>
            </a:r>
          </a:p>
        </p:txBody>
      </p:sp>
      <p:sp>
        <p:nvSpPr>
          <p:cNvPr id="31" name="textbox-384">
            <a:extLst xmlns:a="http://schemas.openxmlformats.org/drawingml/2006/main">
              <a:ext uri="{FF2B5EF4-FFF2-40B4-BE49-F238E27FC236}">
                <a16:creationId xmlns:a16="http://schemas.microsoft.com/office/drawing/2014/main" id="{88A7E4C8-F775-465C-B461-8D9409646D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5248275"/>
            <a:ext cx="2476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071B3D"/>
                </a:solidFill>
              </a:defRPr>
            </a:pPr>
            <a:r>
              <a:rPr sz="1200">
                <a:solidFill>
                  <a:srgbClr val="071B3D"/>
                </a:solidFill>
              </a:rPr>
              <a:t>Human approval, confidence</a:t>
            </a:r>
          </a:p>
          <a:p xmlns:a="http://schemas.openxmlformats.org/drawingml/2006/main">
            <a:pPr>
              <a:defRPr sz="1200">
                <a:solidFill>
                  <a:srgbClr val="071B3D"/>
                </a:solidFill>
              </a:defRPr>
            </a:pPr>
            <a:r>
              <a:rPr sz="1200">
                <a:solidFill>
                  <a:srgbClr val="071B3D"/>
                </a:solidFill>
              </a:rPr>
              <a:t>controls and an auditable</a:t>
            </a:r>
          </a:p>
          <a:p xmlns:a="http://schemas.openxmlformats.org/drawingml/2006/main">
            <a:pPr>
              <a:defRPr sz="1200">
                <a:solidFill>
                  <a:srgbClr val="071B3D"/>
                </a:solidFill>
              </a:defRPr>
            </a:pPr>
            <a:r>
              <a:rPr sz="1200">
                <a:solidFill>
                  <a:srgbClr val="071B3D"/>
                </a:solidFill>
              </a:rPr>
              <a:t>decision history</a:t>
            </a:r>
          </a:p>
        </p:txBody>
      </p:sp>
      <p:sp>
        <p:nvSpPr>
          <p:cNvPr id="32" name="roundRect-385">
            <a:extLst xmlns:a="http://schemas.openxmlformats.org/drawingml/2006/main">
              <a:ext uri="{FF2B5EF4-FFF2-40B4-BE49-F238E27FC236}">
                <a16:creationId xmlns:a16="http://schemas.microsoft.com/office/drawing/2014/main" id="{11E53F0D-1B07-44A3-A30D-9AA38D6D81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5953125"/>
            <a:ext cx="9906000" cy="495300"/>
          </a:xfrm>
          <a:prstGeom xmlns:a="http://schemas.openxmlformats.org/drawingml/2006/main" prst="roundRect">
            <a:avLst>
              <a:gd name="adj" fmla="val 23077"/>
            </a:avLst>
          </a:prstGeom>
          <a:solidFill xmlns:a="http://schemas.openxmlformats.org/drawingml/2006/main">
            <a:srgbClr val="E8F4F2"/>
          </a:solidFill>
          <a:ln xmlns:a="http://schemas.openxmlformats.org/drawingml/2006/main" w="9525">
            <a:solidFill>
              <a:srgbClr val="0B8687"/>
            </a:solidFill>
            <a:prstDash val="solid"/>
          </a:ln>
        </p:spPr>
      </p:sp>
      <p:sp>
        <p:nvSpPr>
          <p:cNvPr id="33" name="ellipse-386">
            <a:extLst xmlns:a="http://schemas.openxmlformats.org/drawingml/2006/main">
              <a:ext uri="{FF2B5EF4-FFF2-40B4-BE49-F238E27FC236}">
                <a16:creationId xmlns:a16="http://schemas.microsoft.com/office/drawing/2014/main" id="{466331A2-5123-4E73-9A02-06ABC18E74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5838825"/>
            <a:ext cx="723900" cy="723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0B8687"/>
            </a:solidFill>
            <a:prstDash val="solid"/>
          </a:ln>
        </p:spPr>
      </p:sp>
      <p:sp>
        <p:nvSpPr>
          <p:cNvPr id="34" name="textbox-387">
            <a:extLst xmlns:a="http://schemas.openxmlformats.org/drawingml/2006/main">
              <a:ext uri="{FF2B5EF4-FFF2-40B4-BE49-F238E27FC236}">
                <a16:creationId xmlns:a16="http://schemas.microsoft.com/office/drawing/2014/main" id="{C2A82289-37C8-4529-9D9C-B637BBDC8C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5848350"/>
            <a:ext cx="7239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0B8687"/>
                </a:solidFill>
              </a:defRPr>
            </a:pPr>
            <a:r>
              <a:rPr sz="2250" b="1">
                <a:solidFill>
                  <a:srgbClr val="0B8687"/>
                </a:solidFill>
              </a:rPr>
              <a:t>↗</a:t>
            </a:r>
          </a:p>
        </p:txBody>
      </p:sp>
      <p:sp>
        <p:nvSpPr>
          <p:cNvPr id="35" name="textbox-388">
            <a:extLst xmlns:a="http://schemas.openxmlformats.org/drawingml/2006/main">
              <a:ext uri="{FF2B5EF4-FFF2-40B4-BE49-F238E27FC236}">
                <a16:creationId xmlns:a16="http://schemas.microsoft.com/office/drawing/2014/main" id="{666F8417-297A-4259-AEA1-D068171E29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6076950"/>
            <a:ext cx="857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2E7D5B"/>
                </a:solidFill>
              </a:defRPr>
            </a:pPr>
            <a:r>
              <a:rPr sz="1500" b="1">
                <a:solidFill>
                  <a:srgbClr val="2E7D5B"/>
                </a:solidFill>
              </a:rPr>
              <a:t>Every reviewed invoice strengthens the repair-cost intelligence available for future claims.</a:t>
            </a:r>
          </a:p>
        </p:txBody>
      </p:sp>
    </p:spTree>
    <p:extLst>
      <p:ext uri="{BB962C8B-B14F-4D97-AF65-F5344CB8AC3E}">
        <p14:creationId xmlns:p14="http://schemas.microsoft.com/office/powerpoint/2010/main" val="927573013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CFB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eyebrow-7">
            <a:extLst xmlns:a="http://schemas.openxmlformats.org/drawingml/2006/main">
              <a:ext uri="{FF2B5EF4-FFF2-40B4-BE49-F238E27FC236}">
                <a16:creationId xmlns:a16="http://schemas.microsoft.com/office/drawing/2014/main" id="{400DBB37-F7C1-49CD-87EA-FDEFF85CA3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47650"/>
            <a:ext cx="285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975" b="1">
                <a:solidFill>
                  <a:srgbClr val="0B8687"/>
                </a:solidFill>
              </a:defRPr>
            </a:pPr>
            <a:r>
              <a:rPr sz="975" b="1">
                <a:solidFill>
                  <a:srgbClr val="0B8687"/>
                </a:solidFill>
              </a:rPr>
              <a:t>LIVE PRODUCT EVIDENCE</a:t>
            </a:r>
          </a:p>
        </p:txBody>
      </p:sp>
      <p:sp>
        <p:nvSpPr>
          <p:cNvPr id="2" name="title-7">
            <a:extLst xmlns:a="http://schemas.openxmlformats.org/drawingml/2006/main">
              <a:ext uri="{FF2B5EF4-FFF2-40B4-BE49-F238E27FC236}">
                <a16:creationId xmlns:a16="http://schemas.microsoft.com/office/drawing/2014/main" id="{4DDC6314-D014-4BED-BDA9-B77D63F64A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95300"/>
            <a:ext cx="11049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3150" b="1">
                <a:solidFill>
                  <a:srgbClr val="071B3D"/>
                </a:solidFill>
              </a:defRPr>
            </a:pPr>
            <a:r>
              <a:rPr sz="3150" b="1">
                <a:solidFill>
                  <a:srgbClr val="071B3D"/>
                </a:solidFill>
              </a:rPr>
              <a:t>Upload once, review every invoice separately</a:t>
            </a:r>
          </a:p>
        </p:txBody>
      </p:sp>
      <p:sp>
        <p:nvSpPr>
          <p:cNvPr id="3" name="subtitle-7">
            <a:extLst xmlns:a="http://schemas.openxmlformats.org/drawingml/2006/main">
              <a:ext uri="{FF2B5EF4-FFF2-40B4-BE49-F238E27FC236}">
                <a16:creationId xmlns:a16="http://schemas.microsoft.com/office/drawing/2014/main" id="{54623449-F878-4467-BA66-CF881CA665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028700"/>
            <a:ext cx="10763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350">
                <a:solidFill>
                  <a:srgbClr val="6F7A89"/>
                </a:solidFill>
              </a:defRPr>
            </a:pPr>
            <a:r>
              <a:rPr sz="1350">
                <a:solidFill>
                  <a:srgbClr val="6F7A89"/>
                </a:solidFill>
              </a:rPr>
              <a:t>Single, multiple and folder-based intake feed one governed review process.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1E658EE-3FA4-4070-8EAA-780D41E77A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362075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3E8"/>
          </a:solidFill>
          <a:ln xmlns:a="http://schemas.openxmlformats.org/drawingml/2006/main" w="0">
            <a:solidFill>
              <a:srgbClr val="DDE3E8"/>
            </a:solidFill>
            <a:prstDash val="solid"/>
          </a:ln>
        </p:spPr>
      </p:sp>
      <p:sp>
        <p:nvSpPr>
          <p:cNvPr id="5" name="page-7">
            <a:extLst xmlns:a="http://schemas.openxmlformats.org/drawingml/2006/main">
              <a:ext uri="{FF2B5EF4-FFF2-40B4-BE49-F238E27FC236}">
                <a16:creationId xmlns:a16="http://schemas.microsoft.com/office/drawing/2014/main" id="{0F426B9F-FCB4-4C24-AD82-4CC120D76F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0" y="6477000"/>
            <a:ext cx="3048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900" b="1">
                <a:solidFill>
                  <a:srgbClr val="6F7A89"/>
                </a:solidFill>
              </a:defRPr>
            </a:pPr>
            <a:r>
              <a:rPr sz="900" b="1">
                <a:solidFill>
                  <a:srgbClr val="6F7A89"/>
                </a:solidFill>
              </a:rPr>
              <a:t>7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D1A0E11-14CE-410B-9876-D04FAB24EF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752600"/>
            <a:ext cx="419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350" b="1">
                <a:solidFill>
                  <a:srgbClr val="0B8687"/>
                </a:solidFill>
              </a:defRPr>
            </a:pPr>
            <a:r>
              <a:rPr sz="1350" b="1">
                <a:solidFill>
                  <a:srgbClr val="0B8687"/>
                </a:solidFill>
              </a:rPr>
              <a:t>01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7E896DD-B6BB-43C8-BFC9-CB9A0B2C57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866900"/>
            <a:ext cx="381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8687"/>
          </a:solidFill>
          <a:ln xmlns:a="http://schemas.openxmlformats.org/drawingml/2006/main" w="0">
            <a:solidFill>
              <a:srgbClr val="0B8687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16701DD-3679-4E0F-B84B-E2AEE849F6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1733550"/>
            <a:ext cx="2571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725" b="1">
                <a:solidFill>
                  <a:srgbClr val="132238"/>
                </a:solidFill>
              </a:defRPr>
            </a:pPr>
            <a:r>
              <a:rPr sz="1725" b="1">
                <a:solidFill>
                  <a:srgbClr val="132238"/>
                </a:solidFill>
              </a:rPr>
              <a:t>Flexible intake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A991C52-75BB-453A-AA1A-2D37E3348A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2076450"/>
            <a:ext cx="25527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75">
                <a:solidFill>
                  <a:srgbClr val="465365"/>
                </a:solidFill>
              </a:defRPr>
            </a:pPr>
            <a:r>
              <a:rPr sz="1275">
                <a:solidFill>
                  <a:srgbClr val="465365"/>
                </a:solidFill>
              </a:rPr>
              <a:t>Upload one PDF, several PDFs or a complete invoice folder.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F4C12DB-3691-4247-A69B-3E388B6354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2971800"/>
            <a:ext cx="419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350" b="1">
                <a:solidFill>
                  <a:srgbClr val="0B8687"/>
                </a:solidFill>
              </a:defRPr>
            </a:pPr>
            <a:r>
              <a:rPr sz="1350" b="1">
                <a:solidFill>
                  <a:srgbClr val="0B8687"/>
                </a:solidFill>
              </a:rPr>
              <a:t>02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3385883-AE6D-4CEB-A401-83170EE0BB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086100"/>
            <a:ext cx="381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8687"/>
          </a:solidFill>
          <a:ln xmlns:a="http://schemas.openxmlformats.org/drawingml/2006/main" w="0">
            <a:solidFill>
              <a:srgbClr val="0B8687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891803E-50A1-4DE6-8388-42DC2A50F1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2952750"/>
            <a:ext cx="2571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725" b="1">
                <a:solidFill>
                  <a:srgbClr val="132238"/>
                </a:solidFill>
              </a:defRPr>
            </a:pPr>
            <a:r>
              <a:rPr sz="1725" b="1">
                <a:solidFill>
                  <a:srgbClr val="132238"/>
                </a:solidFill>
              </a:rPr>
              <a:t>Separate records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BA53C70-D7DC-4299-AEAA-9BBD95F1C5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3295650"/>
            <a:ext cx="25527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75">
                <a:solidFill>
                  <a:srgbClr val="465365"/>
                </a:solidFill>
              </a:defRPr>
            </a:pPr>
            <a:r>
              <a:rPr sz="1275">
                <a:solidFill>
                  <a:srgbClr val="465365"/>
                </a:solidFill>
              </a:rPr>
              <a:t>Switch invoices without carrying over the wrong lines, prices or decisions.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B52E1C8-E1CA-4D9E-A756-B2DCDB2B08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4191000"/>
            <a:ext cx="419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350" b="1">
                <a:solidFill>
                  <a:srgbClr val="0B8687"/>
                </a:solidFill>
              </a:defRPr>
            </a:pPr>
            <a:r>
              <a:rPr sz="1350" b="1">
                <a:solidFill>
                  <a:srgbClr val="0B8687"/>
                </a:solidFill>
              </a:rPr>
              <a:t>03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01E3567-89B9-4B08-BDD3-148AD263B6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305300"/>
            <a:ext cx="381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8687"/>
          </a:solidFill>
          <a:ln xmlns:a="http://schemas.openxmlformats.org/drawingml/2006/main" w="0">
            <a:solidFill>
              <a:srgbClr val="0B8687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31BD60F-348E-48E6-8545-D154E888E3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4171950"/>
            <a:ext cx="2571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725" b="1">
                <a:solidFill>
                  <a:srgbClr val="132238"/>
                </a:solidFill>
              </a:defRPr>
            </a:pPr>
            <a:r>
              <a:rPr sz="1725" b="1">
                <a:solidFill>
                  <a:srgbClr val="132238"/>
                </a:solidFill>
              </a:rPr>
              <a:t>Shared history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57CC3E8-E016-424A-9220-19A9C337D8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4514850"/>
            <a:ext cx="25527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75">
                <a:solidFill>
                  <a:srgbClr val="465365"/>
                </a:solidFill>
              </a:defRPr>
            </a:pPr>
            <a:r>
              <a:rPr sz="1275">
                <a:solidFill>
                  <a:srgbClr val="465365"/>
                </a:solidFill>
              </a:rPr>
              <a:t>Approved observations strengthen the combined benchmark database.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0E92DA8-2D70-425B-A1C6-21BF8E321E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753100"/>
            <a:ext cx="3562350" cy="62865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E8F4F2"/>
          </a:solidFill>
          <a:ln xmlns:a="http://schemas.openxmlformats.org/drawingml/2006/main" w="9525">
            <a:solidFill>
              <a:srgbClr val="0B8687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5879370-2A53-4CE2-B558-F2D513A319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886450"/>
            <a:ext cx="31813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75" b="1">
                <a:solidFill>
                  <a:srgbClr val="096C6D"/>
                </a:solidFill>
              </a:defRPr>
            </a:pPr>
            <a:r>
              <a:rPr sz="1275" b="1">
                <a:solidFill>
                  <a:srgbClr val="096C6D"/>
                </a:solidFill>
              </a:rPr>
              <a:t>Every invoice remains separate. The intelligence is shared.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328CA6A-5A97-4351-930D-BAA62C8E66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1504950"/>
            <a:ext cx="7600950" cy="5314950"/>
          </a:xfrm>
          <a:prstGeom xmlns:a="http://schemas.openxmlformats.org/drawingml/2006/main" prst="roundRect">
            <a:avLst>
              <a:gd name="adj" fmla="val 215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0B8687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6"/>
          <a:fontRef xmlns:a="http://schemas.openxmlformats.org/drawingml/2006/main" idx="major"/>
        </p:style>
      </p:sp>
      <p:sp>
        <p:nvSpPr>
          <p:cNvPr id="23" name="rect-389">
            <a:extLst xmlns:a="http://schemas.openxmlformats.org/drawingml/2006/main">
              <a:ext uri="{FF2B5EF4-FFF2-40B4-BE49-F238E27FC236}">
                <a16:creationId xmlns:a16="http://schemas.microsoft.com/office/drawing/2014/main" id="{4A8469D7-9B43-4EA5-8A0E-BA5AA00AB1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1562100"/>
            <a:ext cx="7486650" cy="5200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DDE3E8"/>
            </a:solidFill>
            <a:prstDash val="solid"/>
          </a:ln>
        </p:spPr>
      </p:sp>
      <p:sp>
        <p:nvSpPr>
          <p:cNvPr id="24" name="rect-390">
            <a:extLst xmlns:a="http://schemas.openxmlformats.org/drawingml/2006/main">
              <a:ext uri="{FF2B5EF4-FFF2-40B4-BE49-F238E27FC236}">
                <a16:creationId xmlns:a16="http://schemas.microsoft.com/office/drawing/2014/main" id="{E5298D44-C3A5-4043-A3E8-8542B2B186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1562100"/>
            <a:ext cx="74866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7F8"/>
          </a:solidFill>
          <a:ln xmlns:a="http://schemas.openxmlformats.org/drawingml/2006/main" w="0">
            <a:solidFill>
              <a:srgbClr val="DDE3E8"/>
            </a:solidFill>
            <a:prstDash val="solid"/>
          </a:ln>
        </p:spPr>
      </p:sp>
      <p:sp>
        <p:nvSpPr>
          <p:cNvPr id="25" name="roundRect-391">
            <a:extLst xmlns:a="http://schemas.openxmlformats.org/drawingml/2006/main">
              <a:ext uri="{FF2B5EF4-FFF2-40B4-BE49-F238E27FC236}">
                <a16:creationId xmlns:a16="http://schemas.microsoft.com/office/drawing/2014/main" id="{D7237A1C-BD54-4DA9-B4F2-331D064DD6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1628775"/>
            <a:ext cx="190500" cy="1905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071B3D"/>
          </a:solidFill>
          <a:ln xmlns:a="http://schemas.openxmlformats.org/drawingml/2006/main" w="9525">
            <a:solidFill>
              <a:srgbClr val="071B3D"/>
            </a:solidFill>
            <a:prstDash val="solid"/>
          </a:ln>
        </p:spPr>
      </p:sp>
      <p:sp>
        <p:nvSpPr>
          <p:cNvPr id="26" name="textbox-392">
            <a:extLst xmlns:a="http://schemas.openxmlformats.org/drawingml/2006/main">
              <a:ext uri="{FF2B5EF4-FFF2-40B4-BE49-F238E27FC236}">
                <a16:creationId xmlns:a16="http://schemas.microsoft.com/office/drawing/2014/main" id="{6BD75C49-737D-4F2E-9EAF-D8953D2C86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1638300"/>
            <a:ext cx="19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600" b="1">
                <a:solidFill>
                  <a:srgbClr val="FFFFFF"/>
                </a:solidFill>
              </a:defRPr>
            </a:pPr>
            <a:r>
              <a:rPr sz="600" b="1">
                <a:solidFill>
                  <a:srgbClr val="FFFFFF"/>
                </a:solidFill>
              </a:rPr>
              <a:t>CG</a:t>
            </a:r>
          </a:p>
        </p:txBody>
      </p:sp>
      <p:sp>
        <p:nvSpPr>
          <p:cNvPr id="27" name="textbox-393">
            <a:extLst xmlns:a="http://schemas.openxmlformats.org/drawingml/2006/main">
              <a:ext uri="{FF2B5EF4-FFF2-40B4-BE49-F238E27FC236}">
                <a16:creationId xmlns:a16="http://schemas.microsoft.com/office/drawing/2014/main" id="{7B12C363-0EA6-44DA-B353-44E5F3F828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1628775"/>
            <a:ext cx="95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071B3D"/>
                </a:solidFill>
              </a:defRPr>
            </a:pPr>
            <a:r>
              <a:rPr sz="825" b="1">
                <a:solidFill>
                  <a:srgbClr val="071B3D"/>
                </a:solidFill>
              </a:rPr>
              <a:t>ClaimGuard</a:t>
            </a:r>
          </a:p>
        </p:txBody>
      </p:sp>
      <p:sp>
        <p:nvSpPr>
          <p:cNvPr id="28" name="roundRect-394">
            <a:extLst xmlns:a="http://schemas.openxmlformats.org/drawingml/2006/main">
              <a:ext uri="{FF2B5EF4-FFF2-40B4-BE49-F238E27FC236}">
                <a16:creationId xmlns:a16="http://schemas.microsoft.com/office/drawing/2014/main" id="{11E7575E-B513-4D4F-9CAF-5936F53BE3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91800" y="1619250"/>
            <a:ext cx="952500" cy="2286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FF7EC"/>
          </a:solidFill>
          <a:ln xmlns:a="http://schemas.openxmlformats.org/drawingml/2006/main" w="9525">
            <a:solidFill>
              <a:srgbClr val="EFF7EC"/>
            </a:solidFill>
            <a:prstDash val="solid"/>
          </a:ln>
        </p:spPr>
      </p:sp>
      <p:sp>
        <p:nvSpPr>
          <p:cNvPr id="29" name="textbox-395">
            <a:extLst xmlns:a="http://schemas.openxmlformats.org/drawingml/2006/main">
              <a:ext uri="{FF2B5EF4-FFF2-40B4-BE49-F238E27FC236}">
                <a16:creationId xmlns:a16="http://schemas.microsoft.com/office/drawing/2014/main" id="{41C95559-E2F1-42F7-95D4-C8022774A0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48950" y="1628775"/>
            <a:ext cx="838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2E7D5B"/>
                </a:solidFill>
              </a:defRPr>
            </a:pPr>
            <a:r>
              <a:rPr sz="825" b="1">
                <a:solidFill>
                  <a:srgbClr val="2E7D5B"/>
                </a:solidFill>
              </a:rPr>
              <a:t>API connected</a:t>
            </a:r>
          </a:p>
        </p:txBody>
      </p:sp>
      <p:sp>
        <p:nvSpPr>
          <p:cNvPr id="30" name="rect-396">
            <a:extLst xmlns:a="http://schemas.openxmlformats.org/drawingml/2006/main">
              <a:ext uri="{FF2B5EF4-FFF2-40B4-BE49-F238E27FC236}">
                <a16:creationId xmlns:a16="http://schemas.microsoft.com/office/drawing/2014/main" id="{A37CF758-BD47-435E-8185-A6E9DBA46D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1885950"/>
            <a:ext cx="1066800" cy="487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A"/>
          </a:solidFill>
          <a:ln xmlns:a="http://schemas.openxmlformats.org/drawingml/2006/main" w="0">
            <a:solidFill>
              <a:srgbClr val="DDE3E8"/>
            </a:solidFill>
            <a:prstDash val="solid"/>
          </a:ln>
        </p:spPr>
      </p:sp>
      <p:sp>
        <p:nvSpPr>
          <p:cNvPr id="31" name="textbox-397">
            <a:extLst xmlns:a="http://schemas.openxmlformats.org/drawingml/2006/main">
              <a:ext uri="{FF2B5EF4-FFF2-40B4-BE49-F238E27FC236}">
                <a16:creationId xmlns:a16="http://schemas.microsoft.com/office/drawing/2014/main" id="{8876307B-8FFB-415E-A2B2-A923EA90F3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2076450"/>
            <a:ext cx="8001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638" b="0">
                <a:solidFill>
                  <a:srgbClr val="465365"/>
                </a:solidFill>
              </a:defRPr>
            </a:pPr>
            <a:r>
              <a:rPr sz="638" b="0">
                <a:solidFill>
                  <a:srgbClr val="465365"/>
                </a:solidFill>
              </a:rPr>
              <a:t>Overview</a:t>
            </a:r>
          </a:p>
        </p:txBody>
      </p:sp>
      <p:sp>
        <p:nvSpPr>
          <p:cNvPr id="32" name="roundRect-398">
            <a:extLst xmlns:a="http://schemas.openxmlformats.org/drawingml/2006/main">
              <a:ext uri="{FF2B5EF4-FFF2-40B4-BE49-F238E27FC236}">
                <a16:creationId xmlns:a16="http://schemas.microsoft.com/office/drawing/2014/main" id="{9AA8F184-F170-401C-A887-A78C0C6E16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2381250"/>
            <a:ext cx="914400" cy="247650"/>
          </a:xfrm>
          <a:prstGeom xmlns:a="http://schemas.openxmlformats.org/drawingml/2006/main" prst="roundRect">
            <a:avLst>
              <a:gd name="adj" fmla="val 7692"/>
            </a:avLst>
          </a:prstGeom>
          <a:solidFill xmlns:a="http://schemas.openxmlformats.org/drawingml/2006/main">
            <a:srgbClr val="E8F4F2"/>
          </a:solidFill>
          <a:ln xmlns:a="http://schemas.openxmlformats.org/drawingml/2006/main" w="9525">
            <a:solidFill>
              <a:srgbClr val="E8F4F2"/>
            </a:solidFill>
            <a:prstDash val="solid"/>
          </a:ln>
        </p:spPr>
      </p:sp>
      <p:sp>
        <p:nvSpPr>
          <p:cNvPr id="33" name="textbox-399">
            <a:extLst xmlns:a="http://schemas.openxmlformats.org/drawingml/2006/main">
              <a:ext uri="{FF2B5EF4-FFF2-40B4-BE49-F238E27FC236}">
                <a16:creationId xmlns:a16="http://schemas.microsoft.com/office/drawing/2014/main" id="{72199F0E-D93C-4205-A0EF-E175989381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2400300"/>
            <a:ext cx="8001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638" b="1">
                <a:solidFill>
                  <a:srgbClr val="096C6D"/>
                </a:solidFill>
              </a:defRPr>
            </a:pPr>
            <a:r>
              <a:rPr sz="638" b="1">
                <a:solidFill>
                  <a:srgbClr val="096C6D"/>
                </a:solidFill>
              </a:rPr>
              <a:t>Documents</a:t>
            </a:r>
          </a:p>
        </p:txBody>
      </p:sp>
      <p:sp>
        <p:nvSpPr>
          <p:cNvPr id="34" name="textbox-400">
            <a:extLst xmlns:a="http://schemas.openxmlformats.org/drawingml/2006/main">
              <a:ext uri="{FF2B5EF4-FFF2-40B4-BE49-F238E27FC236}">
                <a16:creationId xmlns:a16="http://schemas.microsoft.com/office/drawing/2014/main" id="{B64D76DB-82C1-46E2-A985-E64FCB404F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2724150"/>
            <a:ext cx="8001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638" b="0">
                <a:solidFill>
                  <a:srgbClr val="465365"/>
                </a:solidFill>
              </a:defRPr>
            </a:pPr>
            <a:r>
              <a:rPr sz="638" b="0">
                <a:solidFill>
                  <a:srgbClr val="465365"/>
                </a:solidFill>
              </a:rPr>
              <a:t>Review findings</a:t>
            </a:r>
          </a:p>
        </p:txBody>
      </p:sp>
      <p:sp>
        <p:nvSpPr>
          <p:cNvPr id="35" name="textbox-401">
            <a:extLst xmlns:a="http://schemas.openxmlformats.org/drawingml/2006/main">
              <a:ext uri="{FF2B5EF4-FFF2-40B4-BE49-F238E27FC236}">
                <a16:creationId xmlns:a16="http://schemas.microsoft.com/office/drawing/2014/main" id="{7D1CDCA9-E508-48F4-ABA2-6973B6DFF8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3048000"/>
            <a:ext cx="8001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638" b="0">
                <a:solidFill>
                  <a:srgbClr val="465365"/>
                </a:solidFill>
              </a:defRPr>
            </a:pPr>
            <a:r>
              <a:rPr sz="638" b="0">
                <a:solidFill>
                  <a:srgbClr val="465365"/>
                </a:solidFill>
              </a:rPr>
              <a:t>Approve challenge</a:t>
            </a:r>
          </a:p>
        </p:txBody>
      </p:sp>
      <p:sp>
        <p:nvSpPr>
          <p:cNvPr id="36" name="textbox-402">
            <a:extLst xmlns:a="http://schemas.openxmlformats.org/drawingml/2006/main">
              <a:ext uri="{FF2B5EF4-FFF2-40B4-BE49-F238E27FC236}">
                <a16:creationId xmlns:a16="http://schemas.microsoft.com/office/drawing/2014/main" id="{9D6BD349-13BB-4FA2-A31F-7129A64221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3371850"/>
            <a:ext cx="8001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638" b="0">
                <a:solidFill>
                  <a:srgbClr val="465365"/>
                </a:solidFill>
              </a:defRPr>
            </a:pPr>
            <a:r>
              <a:rPr sz="638" b="0">
                <a:solidFill>
                  <a:srgbClr val="465365"/>
                </a:solidFill>
              </a:rPr>
              <a:t>Audit trail</a:t>
            </a:r>
          </a:p>
        </p:txBody>
      </p:sp>
      <p:sp>
        <p:nvSpPr>
          <p:cNvPr id="37" name="textbox-403">
            <a:extLst xmlns:a="http://schemas.openxmlformats.org/drawingml/2006/main">
              <a:ext uri="{FF2B5EF4-FFF2-40B4-BE49-F238E27FC236}">
                <a16:creationId xmlns:a16="http://schemas.microsoft.com/office/drawing/2014/main" id="{01894302-8F11-4949-A2E1-4F5753CD17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3695700"/>
            <a:ext cx="8001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638" b="0">
                <a:solidFill>
                  <a:srgbClr val="465365"/>
                </a:solidFill>
              </a:defRPr>
            </a:pPr>
            <a:r>
              <a:rPr sz="638" b="0">
                <a:solidFill>
                  <a:srgbClr val="465365"/>
                </a:solidFill>
              </a:rPr>
              <a:t>Extracted invoice</a:t>
            </a:r>
          </a:p>
        </p:txBody>
      </p:sp>
      <p:sp>
        <p:nvSpPr>
          <p:cNvPr id="38" name="textbox-404">
            <a:extLst xmlns:a="http://schemas.openxmlformats.org/drawingml/2006/main">
              <a:ext uri="{FF2B5EF4-FFF2-40B4-BE49-F238E27FC236}">
                <a16:creationId xmlns:a16="http://schemas.microsoft.com/office/drawing/2014/main" id="{11A4374C-64E7-4115-BC1C-FEE80B2DF3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4019550"/>
            <a:ext cx="8001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638" b="0">
                <a:solidFill>
                  <a:srgbClr val="465365"/>
                </a:solidFill>
              </a:defRPr>
            </a:pPr>
            <a:r>
              <a:rPr sz="638" b="0">
                <a:solidFill>
                  <a:srgbClr val="465365"/>
                </a:solidFill>
              </a:rPr>
              <a:t>Calculation checks</a:t>
            </a:r>
          </a:p>
        </p:txBody>
      </p:sp>
      <p:sp>
        <p:nvSpPr>
          <p:cNvPr id="39" name="textbox-405">
            <a:extLst xmlns:a="http://schemas.openxmlformats.org/drawingml/2006/main">
              <a:ext uri="{FF2B5EF4-FFF2-40B4-BE49-F238E27FC236}">
                <a16:creationId xmlns:a16="http://schemas.microsoft.com/office/drawing/2014/main" id="{59E6982A-54CC-4025-ADBB-EA8800A6F0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4343400"/>
            <a:ext cx="8001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638" b="0">
                <a:solidFill>
                  <a:srgbClr val="465365"/>
                </a:solidFill>
              </a:defRPr>
            </a:pPr>
            <a:r>
              <a:rPr sz="638" b="0">
                <a:solidFill>
                  <a:srgbClr val="465365"/>
                </a:solidFill>
              </a:rPr>
              <a:t>Ontology mapping</a:t>
            </a:r>
          </a:p>
        </p:txBody>
      </p:sp>
      <p:sp>
        <p:nvSpPr>
          <p:cNvPr id="40" name="textbox-406">
            <a:extLst xmlns:a="http://schemas.openxmlformats.org/drawingml/2006/main">
              <a:ext uri="{FF2B5EF4-FFF2-40B4-BE49-F238E27FC236}">
                <a16:creationId xmlns:a16="http://schemas.microsoft.com/office/drawing/2014/main" id="{E08472B6-094F-4C3B-AEAD-CDF6BC35F4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4667250"/>
            <a:ext cx="8001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638" b="0">
                <a:solidFill>
                  <a:srgbClr val="465365"/>
                </a:solidFill>
              </a:defRPr>
            </a:pPr>
            <a:r>
              <a:rPr sz="638" b="0">
                <a:solidFill>
                  <a:srgbClr val="465365"/>
                </a:solidFill>
              </a:rPr>
              <a:t>Repair benchmarks</a:t>
            </a:r>
          </a:p>
        </p:txBody>
      </p:sp>
      <p:sp>
        <p:nvSpPr>
          <p:cNvPr id="41" name="textbox-407">
            <a:extLst xmlns:a="http://schemas.openxmlformats.org/drawingml/2006/main">
              <a:ext uri="{FF2B5EF4-FFF2-40B4-BE49-F238E27FC236}">
                <a16:creationId xmlns:a16="http://schemas.microsoft.com/office/drawing/2014/main" id="{5975ACEC-40EB-40A6-8353-9913C439E6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2057400"/>
            <a:ext cx="5810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71B3D"/>
                </a:solidFill>
              </a:defRPr>
            </a:pPr>
            <a:r>
              <a:rPr sz="1350" b="1">
                <a:solidFill>
                  <a:srgbClr val="071B3D"/>
                </a:solidFill>
              </a:rPr>
              <a:t>Upload &amp; Processing</a:t>
            </a:r>
          </a:p>
        </p:txBody>
      </p:sp>
      <p:sp>
        <p:nvSpPr>
          <p:cNvPr id="42" name="textbox-408">
            <a:extLst xmlns:a="http://schemas.openxmlformats.org/drawingml/2006/main">
              <a:ext uri="{FF2B5EF4-FFF2-40B4-BE49-F238E27FC236}">
                <a16:creationId xmlns:a16="http://schemas.microsoft.com/office/drawing/2014/main" id="{7812DFF2-B218-493A-BFDA-8AE073E621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2343150"/>
            <a:ext cx="5810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750">
                <a:solidFill>
                  <a:srgbClr val="6F7A89"/>
                </a:solidFill>
              </a:defRPr>
            </a:pPr>
            <a:r>
              <a:rPr sz="750">
                <a:solidFill>
                  <a:srgbClr val="6F7A89"/>
                </a:solidFill>
              </a:rPr>
              <a:t>Single, multiple or folder-based invoices remain separate.</a:t>
            </a:r>
          </a:p>
        </p:txBody>
      </p:sp>
      <p:sp>
        <p:nvSpPr>
          <p:cNvPr id="43" name="roundRect-409">
            <a:extLst xmlns:a="http://schemas.openxmlformats.org/drawingml/2006/main">
              <a:ext uri="{FF2B5EF4-FFF2-40B4-BE49-F238E27FC236}">
                <a16:creationId xmlns:a16="http://schemas.microsoft.com/office/drawing/2014/main" id="{25402B80-4C6C-4D18-83D8-FFE3518E4D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2686050"/>
            <a:ext cx="6000750" cy="819150"/>
          </a:xfrm>
          <a:prstGeom xmlns:a="http://schemas.openxmlformats.org/drawingml/2006/main" prst="roundRect">
            <a:avLst>
              <a:gd name="adj" fmla="val 9302"/>
            </a:avLst>
          </a:prstGeom>
          <a:solidFill xmlns:a="http://schemas.openxmlformats.org/drawingml/2006/main">
            <a:srgbClr val="E8F4F2"/>
          </a:solidFill>
          <a:ln xmlns:a="http://schemas.openxmlformats.org/drawingml/2006/main" w="9525">
            <a:solidFill>
              <a:srgbClr val="0B8687"/>
            </a:solidFill>
            <a:prstDash val="solid"/>
          </a:ln>
        </p:spPr>
      </p:sp>
      <p:sp>
        <p:nvSpPr>
          <p:cNvPr id="44" name="textbox-410">
            <a:extLst xmlns:a="http://schemas.openxmlformats.org/drawingml/2006/main">
              <a:ext uri="{FF2B5EF4-FFF2-40B4-BE49-F238E27FC236}">
                <a16:creationId xmlns:a16="http://schemas.microsoft.com/office/drawing/2014/main" id="{86471D01-919A-437E-A4E3-CDFD70CE79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95950" y="2800350"/>
            <a:ext cx="1905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071B3D"/>
                </a:solidFill>
              </a:defRPr>
            </a:pPr>
            <a:r>
              <a:rPr sz="900" b="1">
                <a:solidFill>
                  <a:srgbClr val="071B3D"/>
                </a:solidFill>
              </a:rPr>
              <a:t>Repair Invoice PDFs</a:t>
            </a:r>
          </a:p>
        </p:txBody>
      </p:sp>
      <p:sp>
        <p:nvSpPr>
          <p:cNvPr id="45" name="roundRect-411">
            <a:extLst xmlns:a="http://schemas.openxmlformats.org/drawingml/2006/main">
              <a:ext uri="{FF2B5EF4-FFF2-40B4-BE49-F238E27FC236}">
                <a16:creationId xmlns:a16="http://schemas.microsoft.com/office/drawing/2014/main" id="{02C0D075-B482-45B1-940B-091A239DF5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95950" y="3048000"/>
            <a:ext cx="2476500" cy="304800"/>
          </a:xfrm>
          <a:prstGeom xmlns:a="http://schemas.openxmlformats.org/drawingml/2006/main" prst="roundRect">
            <a:avLst>
              <a:gd name="adj" fmla="val 625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3E8"/>
            </a:solidFill>
            <a:prstDash val="solid"/>
          </a:ln>
        </p:spPr>
      </p:sp>
      <p:sp>
        <p:nvSpPr>
          <p:cNvPr id="46" name="textbox-412">
            <a:extLst xmlns:a="http://schemas.openxmlformats.org/drawingml/2006/main">
              <a:ext uri="{FF2B5EF4-FFF2-40B4-BE49-F238E27FC236}">
                <a16:creationId xmlns:a16="http://schemas.microsoft.com/office/drawing/2014/main" id="{A67CAAF8-55C8-468E-892B-1F8DD9E83E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1200" y="3114675"/>
            <a:ext cx="2286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675">
                <a:solidFill>
                  <a:srgbClr val="465365"/>
                </a:solidFill>
              </a:defRPr>
            </a:pPr>
            <a:r>
              <a:rPr sz="675">
                <a:solidFill>
                  <a:srgbClr val="465365"/>
                </a:solidFill>
              </a:rPr>
              <a:t>Choose Files   10 invoices selected</a:t>
            </a:r>
          </a:p>
        </p:txBody>
      </p:sp>
      <p:sp>
        <p:nvSpPr>
          <p:cNvPr id="47" name="roundRect-413">
            <a:extLst xmlns:a="http://schemas.openxmlformats.org/drawingml/2006/main">
              <a:ext uri="{FF2B5EF4-FFF2-40B4-BE49-F238E27FC236}">
                <a16:creationId xmlns:a16="http://schemas.microsoft.com/office/drawing/2014/main" id="{9EFCD8C2-2364-4810-A399-E884564E9C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3067050"/>
            <a:ext cx="1524000" cy="2286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B8687"/>
          </a:solidFill>
          <a:ln xmlns:a="http://schemas.openxmlformats.org/drawingml/2006/main" w="9525">
            <a:solidFill>
              <a:srgbClr val="0B8687"/>
            </a:solidFill>
            <a:prstDash val="solid"/>
          </a:ln>
        </p:spPr>
      </p:sp>
      <p:sp>
        <p:nvSpPr>
          <p:cNvPr id="48" name="textbox-414">
            <a:extLst xmlns:a="http://schemas.openxmlformats.org/drawingml/2006/main">
              <a:ext uri="{FF2B5EF4-FFF2-40B4-BE49-F238E27FC236}">
                <a16:creationId xmlns:a16="http://schemas.microsoft.com/office/drawing/2014/main" id="{DA9256A6-BADF-4C51-A1B2-0F1A1F04B1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3076575"/>
            <a:ext cx="14097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FFFFFF"/>
                </a:solidFill>
              </a:defRPr>
            </a:pPr>
            <a:r>
              <a:rPr sz="825" b="1">
                <a:solidFill>
                  <a:srgbClr val="FFFFFF"/>
                </a:solidFill>
              </a:rPr>
              <a:t>Upload and process</a:t>
            </a:r>
          </a:p>
        </p:txBody>
      </p:sp>
      <p:sp>
        <p:nvSpPr>
          <p:cNvPr id="49" name="roundRect-415">
            <a:extLst xmlns:a="http://schemas.openxmlformats.org/drawingml/2006/main">
              <a:ext uri="{FF2B5EF4-FFF2-40B4-BE49-F238E27FC236}">
                <a16:creationId xmlns:a16="http://schemas.microsoft.com/office/drawing/2014/main" id="{1EEC1B36-6F0B-46C5-A9F5-7E13458FA8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3657600"/>
            <a:ext cx="1809750" cy="704850"/>
          </a:xfrm>
          <a:prstGeom xmlns:a="http://schemas.openxmlformats.org/drawingml/2006/main" prst="roundRect">
            <a:avLst>
              <a:gd name="adj" fmla="val 1081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3E8"/>
            </a:solidFill>
            <a:prstDash val="solid"/>
          </a:ln>
        </p:spPr>
      </p:sp>
      <p:sp>
        <p:nvSpPr>
          <p:cNvPr id="50" name="textbox-416">
            <a:extLst xmlns:a="http://schemas.openxmlformats.org/drawingml/2006/main">
              <a:ext uri="{FF2B5EF4-FFF2-40B4-BE49-F238E27FC236}">
                <a16:creationId xmlns:a16="http://schemas.microsoft.com/office/drawing/2014/main" id="{A1AB426E-3BCD-41D6-A318-C69B03C26A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8800" y="3733800"/>
            <a:ext cx="15811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675" b="1">
                <a:solidFill>
                  <a:srgbClr val="6F7A89"/>
                </a:solidFill>
              </a:defRPr>
            </a:pPr>
            <a:r>
              <a:rPr sz="675" b="1">
                <a:solidFill>
                  <a:srgbClr val="6F7A89"/>
                </a:solidFill>
              </a:rPr>
              <a:t>Invoices processed</a:t>
            </a:r>
          </a:p>
        </p:txBody>
      </p:sp>
      <p:sp>
        <p:nvSpPr>
          <p:cNvPr id="51" name="textbox-417">
            <a:extLst xmlns:a="http://schemas.openxmlformats.org/drawingml/2006/main">
              <a:ext uri="{FF2B5EF4-FFF2-40B4-BE49-F238E27FC236}">
                <a16:creationId xmlns:a16="http://schemas.microsoft.com/office/drawing/2014/main" id="{F44BC281-893B-4B87-A090-BE4F824E9F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8800" y="3924300"/>
            <a:ext cx="15811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B8687"/>
                </a:solidFill>
              </a:defRPr>
            </a:pPr>
            <a:r>
              <a:rPr sz="1350" b="1">
                <a:solidFill>
                  <a:srgbClr val="0B8687"/>
                </a:solidFill>
              </a:rPr>
              <a:t>10</a:t>
            </a:r>
          </a:p>
        </p:txBody>
      </p:sp>
      <p:sp>
        <p:nvSpPr>
          <p:cNvPr id="52" name="roundRect-418">
            <a:extLst xmlns:a="http://schemas.openxmlformats.org/drawingml/2006/main">
              <a:ext uri="{FF2B5EF4-FFF2-40B4-BE49-F238E27FC236}">
                <a16:creationId xmlns:a16="http://schemas.microsoft.com/office/drawing/2014/main" id="{17AE2B12-B79D-42C8-8305-0947922304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77125" y="3657600"/>
            <a:ext cx="1809750" cy="704850"/>
          </a:xfrm>
          <a:prstGeom xmlns:a="http://schemas.openxmlformats.org/drawingml/2006/main" prst="roundRect">
            <a:avLst>
              <a:gd name="adj" fmla="val 1081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3E8"/>
            </a:solidFill>
            <a:prstDash val="solid"/>
          </a:ln>
        </p:spPr>
      </p:sp>
      <p:sp>
        <p:nvSpPr>
          <p:cNvPr id="53" name="textbox-419">
            <a:extLst xmlns:a="http://schemas.openxmlformats.org/drawingml/2006/main">
              <a:ext uri="{FF2B5EF4-FFF2-40B4-BE49-F238E27FC236}">
                <a16:creationId xmlns:a16="http://schemas.microsoft.com/office/drawing/2014/main" id="{D3DF4816-0840-408D-AFF7-AFF55E676C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91425" y="3733800"/>
            <a:ext cx="15811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675" b="1">
                <a:solidFill>
                  <a:srgbClr val="6F7A89"/>
                </a:solidFill>
              </a:defRPr>
            </a:pPr>
            <a:r>
              <a:rPr sz="675" b="1">
                <a:solidFill>
                  <a:srgbClr val="6F7A89"/>
                </a:solidFill>
              </a:rPr>
              <a:t>Ontology items</a:t>
            </a:r>
          </a:p>
        </p:txBody>
      </p:sp>
      <p:sp>
        <p:nvSpPr>
          <p:cNvPr id="54" name="textbox-420">
            <a:extLst xmlns:a="http://schemas.openxmlformats.org/drawingml/2006/main">
              <a:ext uri="{FF2B5EF4-FFF2-40B4-BE49-F238E27FC236}">
                <a16:creationId xmlns:a16="http://schemas.microsoft.com/office/drawing/2014/main" id="{5F747918-1C95-47DD-A20C-1BF68E28A8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91425" y="3924300"/>
            <a:ext cx="15811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B8687"/>
                </a:solidFill>
              </a:defRPr>
            </a:pPr>
            <a:r>
              <a:rPr sz="1350" b="1">
                <a:solidFill>
                  <a:srgbClr val="0B8687"/>
                </a:solidFill>
              </a:rPr>
              <a:t>72</a:t>
            </a:r>
          </a:p>
        </p:txBody>
      </p:sp>
      <p:sp>
        <p:nvSpPr>
          <p:cNvPr id="55" name="roundRect-421">
            <a:extLst xmlns:a="http://schemas.openxmlformats.org/drawingml/2006/main">
              <a:ext uri="{FF2B5EF4-FFF2-40B4-BE49-F238E27FC236}">
                <a16:creationId xmlns:a16="http://schemas.microsoft.com/office/drawing/2014/main" id="{E1786E8F-F45F-4C14-AE41-9CDF91446B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3657600"/>
            <a:ext cx="2095500" cy="704850"/>
          </a:xfrm>
          <a:prstGeom xmlns:a="http://schemas.openxmlformats.org/drawingml/2006/main" prst="roundRect">
            <a:avLst>
              <a:gd name="adj" fmla="val 1081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3E8"/>
            </a:solidFill>
            <a:prstDash val="solid"/>
          </a:ln>
        </p:spPr>
      </p:sp>
      <p:sp>
        <p:nvSpPr>
          <p:cNvPr id="56" name="textbox-422">
            <a:extLst xmlns:a="http://schemas.openxmlformats.org/drawingml/2006/main">
              <a:ext uri="{FF2B5EF4-FFF2-40B4-BE49-F238E27FC236}">
                <a16:creationId xmlns:a16="http://schemas.microsoft.com/office/drawing/2014/main" id="{12C519E1-C32B-41E2-A45D-03AF8E6080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4050" y="3733800"/>
            <a:ext cx="18669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675" b="1">
                <a:solidFill>
                  <a:srgbClr val="6F7A89"/>
                </a:solidFill>
              </a:defRPr>
            </a:pPr>
            <a:r>
              <a:rPr sz="675" b="1">
                <a:solidFill>
                  <a:srgbClr val="6F7A89"/>
                </a:solidFill>
              </a:rPr>
              <a:t>Historical observations</a:t>
            </a:r>
          </a:p>
        </p:txBody>
      </p:sp>
      <p:sp>
        <p:nvSpPr>
          <p:cNvPr id="57" name="textbox-423">
            <a:extLst xmlns:a="http://schemas.openxmlformats.org/drawingml/2006/main">
              <a:ext uri="{FF2B5EF4-FFF2-40B4-BE49-F238E27FC236}">
                <a16:creationId xmlns:a16="http://schemas.microsoft.com/office/drawing/2014/main" id="{C665D270-ECAC-40B1-9C76-7CBE9119BC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4050" y="3924300"/>
            <a:ext cx="18669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B8687"/>
                </a:solidFill>
              </a:defRPr>
            </a:pPr>
            <a:r>
              <a:rPr sz="1350" b="1">
                <a:solidFill>
                  <a:srgbClr val="0B8687"/>
                </a:solidFill>
              </a:rPr>
              <a:t>191</a:t>
            </a:r>
          </a:p>
        </p:txBody>
      </p:sp>
      <p:sp>
        <p:nvSpPr>
          <p:cNvPr id="58" name="roundRect-424">
            <a:extLst xmlns:a="http://schemas.openxmlformats.org/drawingml/2006/main">
              <a:ext uri="{FF2B5EF4-FFF2-40B4-BE49-F238E27FC236}">
                <a16:creationId xmlns:a16="http://schemas.microsoft.com/office/drawing/2014/main" id="{3A4A31C3-03B4-4A95-BE68-E73C631424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4533900"/>
            <a:ext cx="6000750" cy="1885950"/>
          </a:xfrm>
          <a:prstGeom xmlns:a="http://schemas.openxmlformats.org/drawingml/2006/main" prst="roundRect">
            <a:avLst>
              <a:gd name="adj" fmla="val 101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3E8"/>
            </a:solidFill>
            <a:prstDash val="solid"/>
          </a:ln>
        </p:spPr>
      </p:sp>
      <p:sp>
        <p:nvSpPr>
          <p:cNvPr id="59" name="rect-425">
            <a:extLst xmlns:a="http://schemas.openxmlformats.org/drawingml/2006/main">
              <a:ext uri="{FF2B5EF4-FFF2-40B4-BE49-F238E27FC236}">
                <a16:creationId xmlns:a16="http://schemas.microsoft.com/office/drawing/2014/main" id="{A8DE120A-B958-4E57-8C7D-80067534D3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4533900"/>
            <a:ext cx="6000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4F6"/>
          </a:solidFill>
          <a:ln xmlns:a="http://schemas.openxmlformats.org/drawingml/2006/main" w="0">
            <a:solidFill>
              <a:srgbClr val="F1F4F6"/>
            </a:solidFill>
            <a:prstDash val="solid"/>
          </a:ln>
        </p:spPr>
      </p:sp>
      <p:sp>
        <p:nvSpPr>
          <p:cNvPr id="60" name="textbox-426">
            <a:extLst xmlns:a="http://schemas.openxmlformats.org/drawingml/2006/main">
              <a:ext uri="{FF2B5EF4-FFF2-40B4-BE49-F238E27FC236}">
                <a16:creationId xmlns:a16="http://schemas.microsoft.com/office/drawing/2014/main" id="{67D8A6A6-41A9-4CFD-B14E-D8B1E087C9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1650" y="4581525"/>
            <a:ext cx="22669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638" b="1">
                <a:solidFill>
                  <a:srgbClr val="465365"/>
                </a:solidFill>
              </a:defRPr>
            </a:pPr>
            <a:r>
              <a:rPr sz="638" b="1">
                <a:solidFill>
                  <a:srgbClr val="465365"/>
                </a:solidFill>
              </a:rPr>
              <a:t>Invoice file</a:t>
            </a:r>
          </a:p>
        </p:txBody>
      </p:sp>
      <p:sp>
        <p:nvSpPr>
          <p:cNvPr id="61" name="rect-427">
            <a:extLst xmlns:a="http://schemas.openxmlformats.org/drawingml/2006/main">
              <a:ext uri="{FF2B5EF4-FFF2-40B4-BE49-F238E27FC236}">
                <a16:creationId xmlns:a16="http://schemas.microsoft.com/office/drawing/2014/main" id="{E1F24B95-CE72-4035-AC75-04AE1DB74E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4533900"/>
            <a:ext cx="9525" cy="1885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3E8"/>
          </a:solidFill>
          <a:ln xmlns:a="http://schemas.openxmlformats.org/drawingml/2006/main" w="0">
            <a:solidFill>
              <a:srgbClr val="DDE3E8"/>
            </a:solidFill>
            <a:prstDash val="solid"/>
          </a:ln>
        </p:spPr>
      </p:sp>
      <p:sp>
        <p:nvSpPr>
          <p:cNvPr id="62" name="textbox-428">
            <a:extLst xmlns:a="http://schemas.openxmlformats.org/drawingml/2006/main">
              <a:ext uri="{FF2B5EF4-FFF2-40B4-BE49-F238E27FC236}">
                <a16:creationId xmlns:a16="http://schemas.microsoft.com/office/drawing/2014/main" id="{B8F31B8E-4242-449B-8DFD-8ECBDAF5DA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4581525"/>
            <a:ext cx="10287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638" b="1">
                <a:solidFill>
                  <a:srgbClr val="465365"/>
                </a:solidFill>
              </a:defRPr>
            </a:pPr>
            <a:r>
              <a:rPr sz="638" b="1">
                <a:solidFill>
                  <a:srgbClr val="465365"/>
                </a:solidFill>
              </a:rPr>
              <a:t>Invoice no.</a:t>
            </a:r>
          </a:p>
        </p:txBody>
      </p:sp>
      <p:sp>
        <p:nvSpPr>
          <p:cNvPr id="63" name="rect-429">
            <a:extLst xmlns:a="http://schemas.openxmlformats.org/drawingml/2006/main">
              <a:ext uri="{FF2B5EF4-FFF2-40B4-BE49-F238E27FC236}">
                <a16:creationId xmlns:a16="http://schemas.microsoft.com/office/drawing/2014/main" id="{DA76FAC7-34EB-41ED-B150-CDBD97E5EF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4533900"/>
            <a:ext cx="9525" cy="1885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3E8"/>
          </a:solidFill>
          <a:ln xmlns:a="http://schemas.openxmlformats.org/drawingml/2006/main" w="0">
            <a:solidFill>
              <a:srgbClr val="DDE3E8"/>
            </a:solidFill>
            <a:prstDash val="solid"/>
          </a:ln>
        </p:spPr>
      </p:sp>
      <p:sp>
        <p:nvSpPr>
          <p:cNvPr id="64" name="textbox-430">
            <a:extLst xmlns:a="http://schemas.openxmlformats.org/drawingml/2006/main">
              <a:ext uri="{FF2B5EF4-FFF2-40B4-BE49-F238E27FC236}">
                <a16:creationId xmlns:a16="http://schemas.microsoft.com/office/drawing/2014/main" id="{6E6EB595-76E5-496D-8249-3E178BF73B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4581525"/>
            <a:ext cx="13144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638" b="1">
                <a:solidFill>
                  <a:srgbClr val="465365"/>
                </a:solidFill>
              </a:defRPr>
            </a:pPr>
            <a:r>
              <a:rPr sz="638" b="1">
                <a:solidFill>
                  <a:srgbClr val="465365"/>
                </a:solidFill>
              </a:rPr>
              <a:t>Status</a:t>
            </a:r>
          </a:p>
        </p:txBody>
      </p:sp>
      <p:sp>
        <p:nvSpPr>
          <p:cNvPr id="65" name="rect-431">
            <a:extLst xmlns:a="http://schemas.openxmlformats.org/drawingml/2006/main">
              <a:ext uri="{FF2B5EF4-FFF2-40B4-BE49-F238E27FC236}">
                <a16:creationId xmlns:a16="http://schemas.microsoft.com/office/drawing/2014/main" id="{58CDBCCD-29E0-479D-BFC1-6B0397E585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4533900"/>
            <a:ext cx="9525" cy="1885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3E8"/>
          </a:solidFill>
          <a:ln xmlns:a="http://schemas.openxmlformats.org/drawingml/2006/main" w="0">
            <a:solidFill>
              <a:srgbClr val="DDE3E8"/>
            </a:solidFill>
            <a:prstDash val="solid"/>
          </a:ln>
        </p:spPr>
      </p:sp>
      <p:sp>
        <p:nvSpPr>
          <p:cNvPr id="66" name="textbox-432">
            <a:extLst xmlns:a="http://schemas.openxmlformats.org/drawingml/2006/main">
              <a:ext uri="{FF2B5EF4-FFF2-40B4-BE49-F238E27FC236}">
                <a16:creationId xmlns:a16="http://schemas.microsoft.com/office/drawing/2014/main" id="{9DEAA487-72D6-4BDA-A132-291AA1BA17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34650" y="4581525"/>
            <a:ext cx="9334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638" b="1">
                <a:solidFill>
                  <a:srgbClr val="465365"/>
                </a:solidFill>
              </a:defRPr>
            </a:pPr>
            <a:r>
              <a:rPr sz="638" b="1">
                <a:solidFill>
                  <a:srgbClr val="465365"/>
                </a:solidFill>
              </a:rPr>
              <a:t>Action</a:t>
            </a:r>
          </a:p>
        </p:txBody>
      </p:sp>
      <p:sp>
        <p:nvSpPr>
          <p:cNvPr id="67" name="rect-433">
            <a:extLst xmlns:a="http://schemas.openxmlformats.org/drawingml/2006/main">
              <a:ext uri="{FF2B5EF4-FFF2-40B4-BE49-F238E27FC236}">
                <a16:creationId xmlns:a16="http://schemas.microsoft.com/office/drawing/2014/main" id="{CF096E61-8161-4B75-9536-AF7517F5D5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4800600"/>
            <a:ext cx="6000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3E8"/>
          </a:solidFill>
          <a:ln xmlns:a="http://schemas.openxmlformats.org/drawingml/2006/main" w="0">
            <a:solidFill>
              <a:srgbClr val="DDE3E8"/>
            </a:solidFill>
            <a:prstDash val="solid"/>
          </a:ln>
        </p:spPr>
      </p:sp>
      <p:sp>
        <p:nvSpPr>
          <p:cNvPr id="68" name="textbox-434">
            <a:extLst xmlns:a="http://schemas.openxmlformats.org/drawingml/2006/main">
              <a:ext uri="{FF2B5EF4-FFF2-40B4-BE49-F238E27FC236}">
                <a16:creationId xmlns:a16="http://schemas.microsoft.com/office/drawing/2014/main" id="{B978178B-3BDC-48FD-AE84-A7F1C59DBB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1650" y="4838700"/>
            <a:ext cx="22669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675" b="1">
                <a:solidFill>
                  <a:srgbClr val="132238"/>
                </a:solidFill>
              </a:defRPr>
            </a:pPr>
            <a:r>
              <a:rPr sz="675" b="1">
                <a:solidFill>
                  <a:srgbClr val="132238"/>
                </a:solidFill>
              </a:rPr>
              <a:t>INV-9401.pdf</a:t>
            </a:r>
          </a:p>
        </p:txBody>
      </p:sp>
      <p:sp>
        <p:nvSpPr>
          <p:cNvPr id="69" name="textbox-435">
            <a:extLst xmlns:a="http://schemas.openxmlformats.org/drawingml/2006/main">
              <a:ext uri="{FF2B5EF4-FFF2-40B4-BE49-F238E27FC236}">
                <a16:creationId xmlns:a16="http://schemas.microsoft.com/office/drawing/2014/main" id="{26F9FB37-5808-4CFB-A078-E27AB37127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4838700"/>
            <a:ext cx="10287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675" b="0">
                <a:solidFill>
                  <a:srgbClr val="132238"/>
                </a:solidFill>
              </a:defRPr>
            </a:pPr>
            <a:r>
              <a:rPr sz="675" b="0">
                <a:solidFill>
                  <a:srgbClr val="132238"/>
                </a:solidFill>
              </a:rPr>
              <a:t>9401</a:t>
            </a:r>
          </a:p>
        </p:txBody>
      </p:sp>
      <p:sp>
        <p:nvSpPr>
          <p:cNvPr id="70" name="textbox-436">
            <a:extLst xmlns:a="http://schemas.openxmlformats.org/drawingml/2006/main">
              <a:ext uri="{FF2B5EF4-FFF2-40B4-BE49-F238E27FC236}">
                <a16:creationId xmlns:a16="http://schemas.microsoft.com/office/drawing/2014/main" id="{457B43D7-7C91-46A1-B36E-611FE13052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4838700"/>
            <a:ext cx="13144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675" b="0">
                <a:solidFill>
                  <a:srgbClr val="132238"/>
                </a:solidFill>
              </a:defRPr>
            </a:pPr>
            <a:r>
              <a:rPr sz="675" b="0">
                <a:solidFill>
                  <a:srgbClr val="132238"/>
                </a:solidFill>
              </a:rPr>
              <a:t>Completed</a:t>
            </a:r>
          </a:p>
        </p:txBody>
      </p:sp>
      <p:sp>
        <p:nvSpPr>
          <p:cNvPr id="71" name="textbox-437">
            <a:extLst xmlns:a="http://schemas.openxmlformats.org/drawingml/2006/main">
              <a:ext uri="{FF2B5EF4-FFF2-40B4-BE49-F238E27FC236}">
                <a16:creationId xmlns:a16="http://schemas.microsoft.com/office/drawing/2014/main" id="{E4C51499-AB41-4659-8475-B375EC9C1F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34650" y="4838700"/>
            <a:ext cx="9334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675" b="1">
                <a:solidFill>
                  <a:srgbClr val="132238"/>
                </a:solidFill>
              </a:defRPr>
            </a:pPr>
            <a:r>
              <a:rPr sz="675" b="1">
                <a:solidFill>
                  <a:srgbClr val="132238"/>
                </a:solidFill>
              </a:rPr>
              <a:t>View</a:t>
            </a:r>
          </a:p>
        </p:txBody>
      </p:sp>
      <p:sp>
        <p:nvSpPr>
          <p:cNvPr id="72" name="rect-438">
            <a:extLst xmlns:a="http://schemas.openxmlformats.org/drawingml/2006/main">
              <a:ext uri="{FF2B5EF4-FFF2-40B4-BE49-F238E27FC236}">
                <a16:creationId xmlns:a16="http://schemas.microsoft.com/office/drawing/2014/main" id="{94D7FEFE-F6DE-400E-AB86-928A3A1AF0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5124450"/>
            <a:ext cx="6000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3E8"/>
          </a:solidFill>
          <a:ln xmlns:a="http://schemas.openxmlformats.org/drawingml/2006/main" w="0">
            <a:solidFill>
              <a:srgbClr val="DDE3E8"/>
            </a:solidFill>
            <a:prstDash val="solid"/>
          </a:ln>
        </p:spPr>
      </p:sp>
      <p:sp>
        <p:nvSpPr>
          <p:cNvPr id="73" name="textbox-439">
            <a:extLst xmlns:a="http://schemas.openxmlformats.org/drawingml/2006/main">
              <a:ext uri="{FF2B5EF4-FFF2-40B4-BE49-F238E27FC236}">
                <a16:creationId xmlns:a16="http://schemas.microsoft.com/office/drawing/2014/main" id="{AA3D50A0-3FC8-4D1D-A700-BF9D076E67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1650" y="5162550"/>
            <a:ext cx="22669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675" b="1">
                <a:solidFill>
                  <a:srgbClr val="132238"/>
                </a:solidFill>
              </a:defRPr>
            </a:pPr>
            <a:r>
              <a:rPr sz="675" b="1">
                <a:solidFill>
                  <a:srgbClr val="132238"/>
                </a:solidFill>
              </a:rPr>
              <a:t>INV-9402.pdf</a:t>
            </a:r>
          </a:p>
        </p:txBody>
      </p:sp>
      <p:sp>
        <p:nvSpPr>
          <p:cNvPr id="74" name="textbox-440">
            <a:extLst xmlns:a="http://schemas.openxmlformats.org/drawingml/2006/main">
              <a:ext uri="{FF2B5EF4-FFF2-40B4-BE49-F238E27FC236}">
                <a16:creationId xmlns:a16="http://schemas.microsoft.com/office/drawing/2014/main" id="{2ECC87C9-258E-41D0-B767-11B8C5253E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5162550"/>
            <a:ext cx="10287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675" b="0">
                <a:solidFill>
                  <a:srgbClr val="132238"/>
                </a:solidFill>
              </a:defRPr>
            </a:pPr>
            <a:r>
              <a:rPr sz="675" b="0">
                <a:solidFill>
                  <a:srgbClr val="132238"/>
                </a:solidFill>
              </a:rPr>
              <a:t>9402</a:t>
            </a:r>
          </a:p>
        </p:txBody>
      </p:sp>
      <p:sp>
        <p:nvSpPr>
          <p:cNvPr id="75" name="textbox-441">
            <a:extLst xmlns:a="http://schemas.openxmlformats.org/drawingml/2006/main">
              <a:ext uri="{FF2B5EF4-FFF2-40B4-BE49-F238E27FC236}">
                <a16:creationId xmlns:a16="http://schemas.microsoft.com/office/drawing/2014/main" id="{FA4C9CC1-AB41-4653-B98D-7B4C278C83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5162550"/>
            <a:ext cx="13144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675" b="0">
                <a:solidFill>
                  <a:srgbClr val="132238"/>
                </a:solidFill>
              </a:defRPr>
            </a:pPr>
            <a:r>
              <a:rPr sz="675" b="0">
                <a:solidFill>
                  <a:srgbClr val="132238"/>
                </a:solidFill>
              </a:rPr>
              <a:t>Completed</a:t>
            </a:r>
          </a:p>
        </p:txBody>
      </p:sp>
      <p:sp>
        <p:nvSpPr>
          <p:cNvPr id="76" name="textbox-442">
            <a:extLst xmlns:a="http://schemas.openxmlformats.org/drawingml/2006/main">
              <a:ext uri="{FF2B5EF4-FFF2-40B4-BE49-F238E27FC236}">
                <a16:creationId xmlns:a16="http://schemas.microsoft.com/office/drawing/2014/main" id="{D4F19FAE-8911-414C-BE99-BD75C83517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34650" y="5162550"/>
            <a:ext cx="9334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675" b="1">
                <a:solidFill>
                  <a:srgbClr val="132238"/>
                </a:solidFill>
              </a:defRPr>
            </a:pPr>
            <a:r>
              <a:rPr sz="675" b="1">
                <a:solidFill>
                  <a:srgbClr val="132238"/>
                </a:solidFill>
              </a:rPr>
              <a:t>View</a:t>
            </a:r>
          </a:p>
        </p:txBody>
      </p:sp>
      <p:sp>
        <p:nvSpPr>
          <p:cNvPr id="77" name="rect-443">
            <a:extLst xmlns:a="http://schemas.openxmlformats.org/drawingml/2006/main">
              <a:ext uri="{FF2B5EF4-FFF2-40B4-BE49-F238E27FC236}">
                <a16:creationId xmlns:a16="http://schemas.microsoft.com/office/drawing/2014/main" id="{674DBBA8-9F8C-4C07-A8C2-E4AB881AEE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5448300"/>
            <a:ext cx="6000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3E8"/>
          </a:solidFill>
          <a:ln xmlns:a="http://schemas.openxmlformats.org/drawingml/2006/main" w="0">
            <a:solidFill>
              <a:srgbClr val="DDE3E8"/>
            </a:solidFill>
            <a:prstDash val="solid"/>
          </a:ln>
        </p:spPr>
      </p:sp>
      <p:sp>
        <p:nvSpPr>
          <p:cNvPr id="78" name="textbox-444">
            <a:extLst xmlns:a="http://schemas.openxmlformats.org/drawingml/2006/main">
              <a:ext uri="{FF2B5EF4-FFF2-40B4-BE49-F238E27FC236}">
                <a16:creationId xmlns:a16="http://schemas.microsoft.com/office/drawing/2014/main" id="{4F366ADF-E5F7-48E1-8712-D627B4867E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1650" y="5486400"/>
            <a:ext cx="22669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675" b="1">
                <a:solidFill>
                  <a:srgbClr val="132238"/>
                </a:solidFill>
              </a:defRPr>
            </a:pPr>
            <a:r>
              <a:rPr sz="675" b="1">
                <a:solidFill>
                  <a:srgbClr val="132238"/>
                </a:solidFill>
              </a:rPr>
              <a:t>INV-9403.pdf</a:t>
            </a:r>
          </a:p>
        </p:txBody>
      </p:sp>
      <p:sp>
        <p:nvSpPr>
          <p:cNvPr id="79" name="textbox-445">
            <a:extLst xmlns:a="http://schemas.openxmlformats.org/drawingml/2006/main">
              <a:ext uri="{FF2B5EF4-FFF2-40B4-BE49-F238E27FC236}">
                <a16:creationId xmlns:a16="http://schemas.microsoft.com/office/drawing/2014/main" id="{133EA0A8-0A25-443A-B6A7-930836C7FE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5486400"/>
            <a:ext cx="10287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675" b="0">
                <a:solidFill>
                  <a:srgbClr val="132238"/>
                </a:solidFill>
              </a:defRPr>
            </a:pPr>
            <a:r>
              <a:rPr sz="675" b="0">
                <a:solidFill>
                  <a:srgbClr val="132238"/>
                </a:solidFill>
              </a:rPr>
              <a:t>9403</a:t>
            </a:r>
          </a:p>
        </p:txBody>
      </p:sp>
      <p:sp>
        <p:nvSpPr>
          <p:cNvPr id="80" name="textbox-446">
            <a:extLst xmlns:a="http://schemas.openxmlformats.org/drawingml/2006/main">
              <a:ext uri="{FF2B5EF4-FFF2-40B4-BE49-F238E27FC236}">
                <a16:creationId xmlns:a16="http://schemas.microsoft.com/office/drawing/2014/main" id="{3EDAF619-DD6F-43D8-95F2-5C6E0E90DA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5486400"/>
            <a:ext cx="13144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675" b="0">
                <a:solidFill>
                  <a:srgbClr val="132238"/>
                </a:solidFill>
              </a:defRPr>
            </a:pPr>
            <a:r>
              <a:rPr sz="675" b="0">
                <a:solidFill>
                  <a:srgbClr val="132238"/>
                </a:solidFill>
              </a:rPr>
              <a:t>Completed</a:t>
            </a:r>
          </a:p>
        </p:txBody>
      </p:sp>
      <p:sp>
        <p:nvSpPr>
          <p:cNvPr id="81" name="textbox-447">
            <a:extLst xmlns:a="http://schemas.openxmlformats.org/drawingml/2006/main">
              <a:ext uri="{FF2B5EF4-FFF2-40B4-BE49-F238E27FC236}">
                <a16:creationId xmlns:a16="http://schemas.microsoft.com/office/drawing/2014/main" id="{D5072FD8-EDAF-49F8-B309-C4E625332B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34650" y="5486400"/>
            <a:ext cx="9334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675" b="1">
                <a:solidFill>
                  <a:srgbClr val="132238"/>
                </a:solidFill>
              </a:defRPr>
            </a:pPr>
            <a:r>
              <a:rPr sz="675" b="1">
                <a:solidFill>
                  <a:srgbClr val="132238"/>
                </a:solidFill>
              </a:rPr>
              <a:t>View</a:t>
            </a:r>
          </a:p>
        </p:txBody>
      </p:sp>
      <p:sp>
        <p:nvSpPr>
          <p:cNvPr id="82" name="rect-448">
            <a:extLst xmlns:a="http://schemas.openxmlformats.org/drawingml/2006/main">
              <a:ext uri="{FF2B5EF4-FFF2-40B4-BE49-F238E27FC236}">
                <a16:creationId xmlns:a16="http://schemas.microsoft.com/office/drawing/2014/main" id="{8D72AE4D-570F-435E-96DA-D0529AE567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5772150"/>
            <a:ext cx="6000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3E8"/>
          </a:solidFill>
          <a:ln xmlns:a="http://schemas.openxmlformats.org/drawingml/2006/main" w="0">
            <a:solidFill>
              <a:srgbClr val="DDE3E8"/>
            </a:solidFill>
            <a:prstDash val="solid"/>
          </a:ln>
        </p:spPr>
      </p:sp>
      <p:sp>
        <p:nvSpPr>
          <p:cNvPr id="83" name="textbox-449">
            <a:extLst xmlns:a="http://schemas.openxmlformats.org/drawingml/2006/main">
              <a:ext uri="{FF2B5EF4-FFF2-40B4-BE49-F238E27FC236}">
                <a16:creationId xmlns:a16="http://schemas.microsoft.com/office/drawing/2014/main" id="{A2F70134-E05F-46FA-8776-D1F1EEDBF1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1650" y="5810250"/>
            <a:ext cx="22669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675" b="1">
                <a:solidFill>
                  <a:srgbClr val="132238"/>
                </a:solidFill>
              </a:defRPr>
            </a:pPr>
            <a:r>
              <a:rPr sz="675" b="1">
                <a:solidFill>
                  <a:srgbClr val="132238"/>
                </a:solidFill>
              </a:rPr>
              <a:t>INV-9404.pdf</a:t>
            </a:r>
          </a:p>
        </p:txBody>
      </p:sp>
      <p:sp>
        <p:nvSpPr>
          <p:cNvPr id="84" name="textbox-450">
            <a:extLst xmlns:a="http://schemas.openxmlformats.org/drawingml/2006/main">
              <a:ext uri="{FF2B5EF4-FFF2-40B4-BE49-F238E27FC236}">
                <a16:creationId xmlns:a16="http://schemas.microsoft.com/office/drawing/2014/main" id="{0AD45BDD-3048-4533-BF44-C58CDBC41B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5810250"/>
            <a:ext cx="10287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675" b="0">
                <a:solidFill>
                  <a:srgbClr val="132238"/>
                </a:solidFill>
              </a:defRPr>
            </a:pPr>
            <a:r>
              <a:rPr sz="675" b="0">
                <a:solidFill>
                  <a:srgbClr val="132238"/>
                </a:solidFill>
              </a:rPr>
              <a:t>9404</a:t>
            </a:r>
          </a:p>
        </p:txBody>
      </p:sp>
      <p:sp>
        <p:nvSpPr>
          <p:cNvPr id="85" name="textbox-451">
            <a:extLst xmlns:a="http://schemas.openxmlformats.org/drawingml/2006/main">
              <a:ext uri="{FF2B5EF4-FFF2-40B4-BE49-F238E27FC236}">
                <a16:creationId xmlns:a16="http://schemas.microsoft.com/office/drawing/2014/main" id="{AC95CB4D-EC9C-4DD6-B5F3-B3A2A56293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5810250"/>
            <a:ext cx="13144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675" b="0">
                <a:solidFill>
                  <a:srgbClr val="132238"/>
                </a:solidFill>
              </a:defRPr>
            </a:pPr>
            <a:r>
              <a:rPr sz="675" b="0">
                <a:solidFill>
                  <a:srgbClr val="132238"/>
                </a:solidFill>
              </a:rPr>
              <a:t>Completed</a:t>
            </a:r>
          </a:p>
        </p:txBody>
      </p:sp>
      <p:sp>
        <p:nvSpPr>
          <p:cNvPr id="86" name="textbox-452">
            <a:extLst xmlns:a="http://schemas.openxmlformats.org/drawingml/2006/main">
              <a:ext uri="{FF2B5EF4-FFF2-40B4-BE49-F238E27FC236}">
                <a16:creationId xmlns:a16="http://schemas.microsoft.com/office/drawing/2014/main" id="{409EEF83-7EB3-4D8B-A23A-CDB2ED443D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34650" y="5810250"/>
            <a:ext cx="9334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675" b="1">
                <a:solidFill>
                  <a:srgbClr val="132238"/>
                </a:solidFill>
              </a:defRPr>
            </a:pPr>
            <a:r>
              <a:rPr sz="675" b="1">
                <a:solidFill>
                  <a:srgbClr val="132238"/>
                </a:solidFill>
              </a:rPr>
              <a:t>View</a:t>
            </a:r>
          </a:p>
        </p:txBody>
      </p:sp>
      <p:sp>
        <p:nvSpPr>
          <p:cNvPr id="87" name="rect-453">
            <a:extLst xmlns:a="http://schemas.openxmlformats.org/drawingml/2006/main">
              <a:ext uri="{FF2B5EF4-FFF2-40B4-BE49-F238E27FC236}">
                <a16:creationId xmlns:a16="http://schemas.microsoft.com/office/drawing/2014/main" id="{8CEC5502-006F-44CA-B403-B041CB9924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6096000"/>
            <a:ext cx="6000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3E8"/>
          </a:solidFill>
          <a:ln xmlns:a="http://schemas.openxmlformats.org/drawingml/2006/main" w="0">
            <a:solidFill>
              <a:srgbClr val="DDE3E8"/>
            </a:solidFill>
            <a:prstDash val="solid"/>
          </a:ln>
        </p:spPr>
      </p:sp>
      <p:sp>
        <p:nvSpPr>
          <p:cNvPr id="88" name="textbox-454">
            <a:extLst xmlns:a="http://schemas.openxmlformats.org/drawingml/2006/main">
              <a:ext uri="{FF2B5EF4-FFF2-40B4-BE49-F238E27FC236}">
                <a16:creationId xmlns:a16="http://schemas.microsoft.com/office/drawing/2014/main" id="{041B10C6-3809-43A7-A9A0-FABF759965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1650" y="6134100"/>
            <a:ext cx="22669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675" b="1">
                <a:solidFill>
                  <a:srgbClr val="132238"/>
                </a:solidFill>
              </a:defRPr>
            </a:pPr>
            <a:r>
              <a:rPr sz="675" b="1">
                <a:solidFill>
                  <a:srgbClr val="132238"/>
                </a:solidFill>
              </a:rPr>
              <a:t>INV-9405.pdf</a:t>
            </a:r>
          </a:p>
        </p:txBody>
      </p:sp>
      <p:sp>
        <p:nvSpPr>
          <p:cNvPr id="89" name="textbox-455">
            <a:extLst xmlns:a="http://schemas.openxmlformats.org/drawingml/2006/main">
              <a:ext uri="{FF2B5EF4-FFF2-40B4-BE49-F238E27FC236}">
                <a16:creationId xmlns:a16="http://schemas.microsoft.com/office/drawing/2014/main" id="{6C39720C-86C4-4FBE-A230-C3C6010CDE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6134100"/>
            <a:ext cx="10287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675" b="0">
                <a:solidFill>
                  <a:srgbClr val="132238"/>
                </a:solidFill>
              </a:defRPr>
            </a:pPr>
            <a:r>
              <a:rPr sz="675" b="0">
                <a:solidFill>
                  <a:srgbClr val="132238"/>
                </a:solidFill>
              </a:rPr>
              <a:t>9405</a:t>
            </a:r>
          </a:p>
        </p:txBody>
      </p:sp>
      <p:sp>
        <p:nvSpPr>
          <p:cNvPr id="90" name="textbox-456">
            <a:extLst xmlns:a="http://schemas.openxmlformats.org/drawingml/2006/main">
              <a:ext uri="{FF2B5EF4-FFF2-40B4-BE49-F238E27FC236}">
                <a16:creationId xmlns:a16="http://schemas.microsoft.com/office/drawing/2014/main" id="{79BD5308-A1B6-4D99-A1D6-8C52E8BBBB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6134100"/>
            <a:ext cx="13144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675" b="0">
                <a:solidFill>
                  <a:srgbClr val="132238"/>
                </a:solidFill>
              </a:defRPr>
            </a:pPr>
            <a:r>
              <a:rPr sz="675" b="0">
                <a:solidFill>
                  <a:srgbClr val="132238"/>
                </a:solidFill>
              </a:rPr>
              <a:t>Completed</a:t>
            </a:r>
          </a:p>
        </p:txBody>
      </p:sp>
      <p:sp>
        <p:nvSpPr>
          <p:cNvPr id="91" name="textbox-457">
            <a:extLst xmlns:a="http://schemas.openxmlformats.org/drawingml/2006/main">
              <a:ext uri="{FF2B5EF4-FFF2-40B4-BE49-F238E27FC236}">
                <a16:creationId xmlns:a16="http://schemas.microsoft.com/office/drawing/2014/main" id="{0CD3CD2E-6EA8-43D6-BB84-AC8D029CD8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34650" y="6134100"/>
            <a:ext cx="9334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675" b="1">
                <a:solidFill>
                  <a:srgbClr val="132238"/>
                </a:solidFill>
              </a:defRPr>
            </a:pPr>
            <a:r>
              <a:rPr sz="675" b="1">
                <a:solidFill>
                  <a:srgbClr val="132238"/>
                </a:solidFill>
              </a:rPr>
              <a:t>View</a:t>
            </a:r>
          </a:p>
        </p:txBody>
      </p:sp>
    </p:spTree>
    <p:extLst>
      <p:ext uri="{BB962C8B-B14F-4D97-AF65-F5344CB8AC3E}">
        <p14:creationId xmlns:p14="http://schemas.microsoft.com/office/powerpoint/2010/main" val="795448616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CFB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eyebrow-8">
            <a:extLst xmlns:a="http://schemas.openxmlformats.org/drawingml/2006/main">
              <a:ext uri="{FF2B5EF4-FFF2-40B4-BE49-F238E27FC236}">
                <a16:creationId xmlns:a16="http://schemas.microsoft.com/office/drawing/2014/main" id="{D6233C6B-C807-4429-8008-0940C4B782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47650"/>
            <a:ext cx="285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975" b="1">
                <a:solidFill>
                  <a:srgbClr val="0B8687"/>
                </a:solidFill>
              </a:defRPr>
            </a:pPr>
            <a:r>
              <a:rPr sz="975" b="1">
                <a:solidFill>
                  <a:srgbClr val="0B8687"/>
                </a:solidFill>
              </a:rPr>
              <a:t>LIVE PRODUCT EVIDENCE</a:t>
            </a:r>
          </a:p>
        </p:txBody>
      </p:sp>
      <p:sp>
        <p:nvSpPr>
          <p:cNvPr id="2" name="title-8">
            <a:extLst xmlns:a="http://schemas.openxmlformats.org/drawingml/2006/main">
              <a:ext uri="{FF2B5EF4-FFF2-40B4-BE49-F238E27FC236}">
                <a16:creationId xmlns:a16="http://schemas.microsoft.com/office/drawing/2014/main" id="{2C22F9F9-928C-426F-A9B9-3ABE463922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95300"/>
            <a:ext cx="11049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3150" b="1">
                <a:solidFill>
                  <a:srgbClr val="071B3D"/>
                </a:solidFill>
              </a:defRPr>
            </a:pPr>
            <a:r>
              <a:rPr sz="3150" b="1">
                <a:solidFill>
                  <a:srgbClr val="071B3D"/>
                </a:solidFill>
              </a:rPr>
              <a:t>Every extracted value remains traceable</a:t>
            </a:r>
          </a:p>
        </p:txBody>
      </p:sp>
      <p:sp>
        <p:nvSpPr>
          <p:cNvPr id="3" name="subtitle-8">
            <a:extLst xmlns:a="http://schemas.openxmlformats.org/drawingml/2006/main">
              <a:ext uri="{FF2B5EF4-FFF2-40B4-BE49-F238E27FC236}">
                <a16:creationId xmlns:a16="http://schemas.microsoft.com/office/drawing/2014/main" id="{82E5AA03-385A-43B5-9236-87DD3BB514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028700"/>
            <a:ext cx="10763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350">
                <a:solidFill>
                  <a:srgbClr val="6F7A89"/>
                </a:solidFill>
              </a:defRPr>
            </a:pPr>
            <a:r>
              <a:rPr sz="1350">
                <a:solidFill>
                  <a:srgbClr val="6F7A89"/>
                </a:solidFill>
              </a:rPr>
              <a:t>The selected invoice controls the visible vehicle, totals, line items and confidence states.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C163110-EC8F-4B8F-A962-48C9E1AA46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362075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3E8"/>
          </a:solidFill>
          <a:ln xmlns:a="http://schemas.openxmlformats.org/drawingml/2006/main" w="0">
            <a:solidFill>
              <a:srgbClr val="DDE3E8"/>
            </a:solidFill>
            <a:prstDash val="solid"/>
          </a:ln>
        </p:spPr>
      </p:sp>
      <p:sp>
        <p:nvSpPr>
          <p:cNvPr id="5" name="page-8">
            <a:extLst xmlns:a="http://schemas.openxmlformats.org/drawingml/2006/main">
              <a:ext uri="{FF2B5EF4-FFF2-40B4-BE49-F238E27FC236}">
                <a16:creationId xmlns:a16="http://schemas.microsoft.com/office/drawing/2014/main" id="{AF89C234-4A95-4CEF-BF16-17A0417E4B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0" y="6477000"/>
            <a:ext cx="3048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900" b="1">
                <a:solidFill>
                  <a:srgbClr val="6F7A89"/>
                </a:solidFill>
              </a:defRPr>
            </a:pPr>
            <a:r>
              <a:rPr sz="900" b="1">
                <a:solidFill>
                  <a:srgbClr val="6F7A89"/>
                </a:solidFill>
              </a:rPr>
              <a:t>8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FB9C128-B962-4C7F-ABC5-AE2921A075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752600"/>
            <a:ext cx="419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350" b="1">
                <a:solidFill>
                  <a:srgbClr val="0B8687"/>
                </a:solidFill>
              </a:defRPr>
            </a:pPr>
            <a:r>
              <a:rPr sz="1350" b="1">
                <a:solidFill>
                  <a:srgbClr val="0B8687"/>
                </a:solidFill>
              </a:rPr>
              <a:t>01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154A757-B562-4CBE-BAD2-63A48E8A32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866900"/>
            <a:ext cx="381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8687"/>
          </a:solidFill>
          <a:ln xmlns:a="http://schemas.openxmlformats.org/drawingml/2006/main" w="0">
            <a:solidFill>
              <a:srgbClr val="0B8687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D23CE8C-4719-4763-9115-242CC77D10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1733550"/>
            <a:ext cx="2571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725" b="1">
                <a:solidFill>
                  <a:srgbClr val="132238"/>
                </a:solidFill>
              </a:defRPr>
            </a:pPr>
            <a:r>
              <a:rPr sz="1725" b="1">
                <a:solidFill>
                  <a:srgbClr val="132238"/>
                </a:solidFill>
              </a:rPr>
              <a:t>Structured invoice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929FFBC-D1B0-47A8-BECB-2106ED5AFD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2076450"/>
            <a:ext cx="25527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75">
                <a:solidFill>
                  <a:srgbClr val="465365"/>
                </a:solidFill>
              </a:defRPr>
            </a:pPr>
            <a:r>
              <a:rPr sz="1275">
                <a:solidFill>
                  <a:srgbClr val="465365"/>
                </a:solidFill>
              </a:rPr>
              <a:t>Vehicle, registration, dates and totals are captured together.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197A7AC-4BC2-4069-856E-E45B98A120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2971800"/>
            <a:ext cx="419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350" b="1">
                <a:solidFill>
                  <a:srgbClr val="0B8687"/>
                </a:solidFill>
              </a:defRPr>
            </a:pPr>
            <a:r>
              <a:rPr sz="1350" b="1">
                <a:solidFill>
                  <a:srgbClr val="0B8687"/>
                </a:solidFill>
              </a:rPr>
              <a:t>02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227BB2C-94C0-44BA-92D1-D00E54E72F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086100"/>
            <a:ext cx="381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8687"/>
          </a:solidFill>
          <a:ln xmlns:a="http://schemas.openxmlformats.org/drawingml/2006/main" w="0">
            <a:solidFill>
              <a:srgbClr val="0B8687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2357A69-4DD6-4194-956A-65CA641AE6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2952750"/>
            <a:ext cx="2571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725" b="1">
                <a:solidFill>
                  <a:srgbClr val="132238"/>
                </a:solidFill>
              </a:defRPr>
            </a:pPr>
            <a:r>
              <a:rPr sz="1725" b="1">
                <a:solidFill>
                  <a:srgbClr val="132238"/>
                </a:solidFill>
              </a:rPr>
              <a:t>Line-level visibility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E8779FB-F256-46F3-A00C-5D105CF222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3295650"/>
            <a:ext cx="25527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75">
                <a:solidFill>
                  <a:srgbClr val="465365"/>
                </a:solidFill>
              </a:defRPr>
            </a:pPr>
            <a:r>
              <a:rPr sz="1275">
                <a:solidFill>
                  <a:srgbClr val="465365"/>
                </a:solidFill>
              </a:rPr>
              <a:t>Parts and service charges remain individually reviewable.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746406F-3418-409A-9805-2928964F3F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4191000"/>
            <a:ext cx="419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350" b="1">
                <a:solidFill>
                  <a:srgbClr val="0B8687"/>
                </a:solidFill>
              </a:defRPr>
            </a:pPr>
            <a:r>
              <a:rPr sz="1350" b="1">
                <a:solidFill>
                  <a:srgbClr val="0B8687"/>
                </a:solidFill>
              </a:rPr>
              <a:t>03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F8E4810-C681-4736-9114-480F4A21DE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305300"/>
            <a:ext cx="381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8687"/>
          </a:solidFill>
          <a:ln xmlns:a="http://schemas.openxmlformats.org/drawingml/2006/main" w="0">
            <a:solidFill>
              <a:srgbClr val="0B8687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886644A-03B2-420F-8828-8DEEF8C759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4171950"/>
            <a:ext cx="2571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725" b="1">
                <a:solidFill>
                  <a:srgbClr val="132238"/>
                </a:solidFill>
              </a:defRPr>
            </a:pPr>
            <a:r>
              <a:rPr sz="1725" b="1">
                <a:solidFill>
                  <a:srgbClr val="132238"/>
                </a:solidFill>
              </a:rPr>
              <a:t>Confidence status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F9A6B14-DC3F-4948-B7DC-AAC9E492CB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4514850"/>
            <a:ext cx="25527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75">
                <a:solidFill>
                  <a:srgbClr val="465365"/>
                </a:solidFill>
              </a:defRPr>
            </a:pPr>
            <a:r>
              <a:rPr sz="1275">
                <a:solidFill>
                  <a:srgbClr val="465365"/>
                </a:solidFill>
              </a:rPr>
              <a:t>High-confidence fields already show a clear approved state.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C24C29D-1E2E-46CD-81C8-913A0A3187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753100"/>
            <a:ext cx="3562350" cy="62865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E8F4F2"/>
          </a:solidFill>
          <a:ln xmlns:a="http://schemas.openxmlformats.org/drawingml/2006/main" w="9525">
            <a:solidFill>
              <a:srgbClr val="0B8687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EB676DA-B7DD-47BB-8D6E-4ABE8B1F2D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886450"/>
            <a:ext cx="31813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75" b="1">
                <a:solidFill>
                  <a:srgbClr val="096C6D"/>
                </a:solidFill>
              </a:defRPr>
            </a:pPr>
            <a:r>
              <a:rPr sz="1275" b="1">
                <a:solidFill>
                  <a:srgbClr val="096C6D"/>
                </a:solidFill>
              </a:rPr>
              <a:t>The handler sees the selected invoice—not reused data.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FB8B561-22B7-4576-99B8-A69EE3BF78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1504950"/>
            <a:ext cx="7600950" cy="5314950"/>
          </a:xfrm>
          <a:prstGeom xmlns:a="http://schemas.openxmlformats.org/drawingml/2006/main" prst="roundRect">
            <a:avLst>
              <a:gd name="adj" fmla="val 215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0B8687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6"/>
          <a:fontRef xmlns:a="http://schemas.openxmlformats.org/drawingml/2006/main" idx="major"/>
        </p:style>
      </p:sp>
      <p:sp>
        <p:nvSpPr>
          <p:cNvPr id="23" name="rect-458">
            <a:extLst xmlns:a="http://schemas.openxmlformats.org/drawingml/2006/main">
              <a:ext uri="{FF2B5EF4-FFF2-40B4-BE49-F238E27FC236}">
                <a16:creationId xmlns:a16="http://schemas.microsoft.com/office/drawing/2014/main" id="{6278D155-9362-4FFE-B6A2-35D855DDC6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1562100"/>
            <a:ext cx="7486650" cy="5200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DDE3E8"/>
            </a:solidFill>
            <a:prstDash val="solid"/>
          </a:ln>
        </p:spPr>
      </p:sp>
      <p:sp>
        <p:nvSpPr>
          <p:cNvPr id="24" name="rect-459">
            <a:extLst xmlns:a="http://schemas.openxmlformats.org/drawingml/2006/main">
              <a:ext uri="{FF2B5EF4-FFF2-40B4-BE49-F238E27FC236}">
                <a16:creationId xmlns:a16="http://schemas.microsoft.com/office/drawing/2014/main" id="{439EEF53-F5C3-4664-8F98-5853155E8B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1562100"/>
            <a:ext cx="74866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7F8"/>
          </a:solidFill>
          <a:ln xmlns:a="http://schemas.openxmlformats.org/drawingml/2006/main" w="0">
            <a:solidFill>
              <a:srgbClr val="DDE3E8"/>
            </a:solidFill>
            <a:prstDash val="solid"/>
          </a:ln>
        </p:spPr>
      </p:sp>
      <p:sp>
        <p:nvSpPr>
          <p:cNvPr id="25" name="roundRect-460">
            <a:extLst xmlns:a="http://schemas.openxmlformats.org/drawingml/2006/main">
              <a:ext uri="{FF2B5EF4-FFF2-40B4-BE49-F238E27FC236}">
                <a16:creationId xmlns:a16="http://schemas.microsoft.com/office/drawing/2014/main" id="{CCF31CD8-D09E-4332-9083-EA54545F99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1628775"/>
            <a:ext cx="190500" cy="1905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071B3D"/>
          </a:solidFill>
          <a:ln xmlns:a="http://schemas.openxmlformats.org/drawingml/2006/main" w="9525">
            <a:solidFill>
              <a:srgbClr val="071B3D"/>
            </a:solidFill>
            <a:prstDash val="solid"/>
          </a:ln>
        </p:spPr>
      </p:sp>
      <p:sp>
        <p:nvSpPr>
          <p:cNvPr id="26" name="textbox-461">
            <a:extLst xmlns:a="http://schemas.openxmlformats.org/drawingml/2006/main">
              <a:ext uri="{FF2B5EF4-FFF2-40B4-BE49-F238E27FC236}">
                <a16:creationId xmlns:a16="http://schemas.microsoft.com/office/drawing/2014/main" id="{EC8B2944-A9BF-4A4F-914A-27A0BC2990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1638300"/>
            <a:ext cx="19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600" b="1">
                <a:solidFill>
                  <a:srgbClr val="FFFFFF"/>
                </a:solidFill>
              </a:defRPr>
            </a:pPr>
            <a:r>
              <a:rPr sz="600" b="1">
                <a:solidFill>
                  <a:srgbClr val="FFFFFF"/>
                </a:solidFill>
              </a:rPr>
              <a:t>CG</a:t>
            </a:r>
          </a:p>
        </p:txBody>
      </p:sp>
      <p:sp>
        <p:nvSpPr>
          <p:cNvPr id="27" name="textbox-462">
            <a:extLst xmlns:a="http://schemas.openxmlformats.org/drawingml/2006/main">
              <a:ext uri="{FF2B5EF4-FFF2-40B4-BE49-F238E27FC236}">
                <a16:creationId xmlns:a16="http://schemas.microsoft.com/office/drawing/2014/main" id="{7B92E66A-EE4E-46DF-A929-F6AEBBF9F5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1628775"/>
            <a:ext cx="95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071B3D"/>
                </a:solidFill>
              </a:defRPr>
            </a:pPr>
            <a:r>
              <a:rPr sz="825" b="1">
                <a:solidFill>
                  <a:srgbClr val="071B3D"/>
                </a:solidFill>
              </a:rPr>
              <a:t>ClaimGuard</a:t>
            </a:r>
          </a:p>
        </p:txBody>
      </p:sp>
      <p:sp>
        <p:nvSpPr>
          <p:cNvPr id="28" name="roundRect-463">
            <a:extLst xmlns:a="http://schemas.openxmlformats.org/drawingml/2006/main">
              <a:ext uri="{FF2B5EF4-FFF2-40B4-BE49-F238E27FC236}">
                <a16:creationId xmlns:a16="http://schemas.microsoft.com/office/drawing/2014/main" id="{6202615E-E77D-4179-B303-0338037DEF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91800" y="1619250"/>
            <a:ext cx="952500" cy="2286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FF7EC"/>
          </a:solidFill>
          <a:ln xmlns:a="http://schemas.openxmlformats.org/drawingml/2006/main" w="9525">
            <a:solidFill>
              <a:srgbClr val="EFF7EC"/>
            </a:solidFill>
            <a:prstDash val="solid"/>
          </a:ln>
        </p:spPr>
      </p:sp>
      <p:sp>
        <p:nvSpPr>
          <p:cNvPr id="29" name="textbox-464">
            <a:extLst xmlns:a="http://schemas.openxmlformats.org/drawingml/2006/main">
              <a:ext uri="{FF2B5EF4-FFF2-40B4-BE49-F238E27FC236}">
                <a16:creationId xmlns:a16="http://schemas.microsoft.com/office/drawing/2014/main" id="{FE956FF0-AB30-4EBF-AC26-B2151B62AC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48950" y="1628775"/>
            <a:ext cx="838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2E7D5B"/>
                </a:solidFill>
              </a:defRPr>
            </a:pPr>
            <a:r>
              <a:rPr sz="825" b="1">
                <a:solidFill>
                  <a:srgbClr val="2E7D5B"/>
                </a:solidFill>
              </a:rPr>
              <a:t>API connected</a:t>
            </a:r>
          </a:p>
        </p:txBody>
      </p:sp>
      <p:sp>
        <p:nvSpPr>
          <p:cNvPr id="30" name="rect-465">
            <a:extLst xmlns:a="http://schemas.openxmlformats.org/drawingml/2006/main">
              <a:ext uri="{FF2B5EF4-FFF2-40B4-BE49-F238E27FC236}">
                <a16:creationId xmlns:a16="http://schemas.microsoft.com/office/drawing/2014/main" id="{943DE3E8-8FF1-40B6-875B-9319B0997B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1885950"/>
            <a:ext cx="1066800" cy="487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A"/>
          </a:solidFill>
          <a:ln xmlns:a="http://schemas.openxmlformats.org/drawingml/2006/main" w="0">
            <a:solidFill>
              <a:srgbClr val="DDE3E8"/>
            </a:solidFill>
            <a:prstDash val="solid"/>
          </a:ln>
        </p:spPr>
      </p:sp>
      <p:sp>
        <p:nvSpPr>
          <p:cNvPr id="31" name="textbox-466">
            <a:extLst xmlns:a="http://schemas.openxmlformats.org/drawingml/2006/main">
              <a:ext uri="{FF2B5EF4-FFF2-40B4-BE49-F238E27FC236}">
                <a16:creationId xmlns:a16="http://schemas.microsoft.com/office/drawing/2014/main" id="{D519E84A-4000-4C87-8B21-4C4D3B27FA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2076450"/>
            <a:ext cx="8001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638" b="0">
                <a:solidFill>
                  <a:srgbClr val="465365"/>
                </a:solidFill>
              </a:defRPr>
            </a:pPr>
            <a:r>
              <a:rPr sz="638" b="0">
                <a:solidFill>
                  <a:srgbClr val="465365"/>
                </a:solidFill>
              </a:rPr>
              <a:t>Overview</a:t>
            </a:r>
          </a:p>
        </p:txBody>
      </p:sp>
      <p:sp>
        <p:nvSpPr>
          <p:cNvPr id="32" name="textbox-467">
            <a:extLst xmlns:a="http://schemas.openxmlformats.org/drawingml/2006/main">
              <a:ext uri="{FF2B5EF4-FFF2-40B4-BE49-F238E27FC236}">
                <a16:creationId xmlns:a16="http://schemas.microsoft.com/office/drawing/2014/main" id="{22FBA463-6B1A-4065-AAA1-8470912CA8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2400300"/>
            <a:ext cx="8001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638" b="0">
                <a:solidFill>
                  <a:srgbClr val="465365"/>
                </a:solidFill>
              </a:defRPr>
            </a:pPr>
            <a:r>
              <a:rPr sz="638" b="0">
                <a:solidFill>
                  <a:srgbClr val="465365"/>
                </a:solidFill>
              </a:rPr>
              <a:t>Documents</a:t>
            </a:r>
          </a:p>
        </p:txBody>
      </p:sp>
      <p:sp>
        <p:nvSpPr>
          <p:cNvPr id="33" name="textbox-468">
            <a:extLst xmlns:a="http://schemas.openxmlformats.org/drawingml/2006/main">
              <a:ext uri="{FF2B5EF4-FFF2-40B4-BE49-F238E27FC236}">
                <a16:creationId xmlns:a16="http://schemas.microsoft.com/office/drawing/2014/main" id="{AA0F3066-016F-4EBA-8332-D34E536EC9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2724150"/>
            <a:ext cx="8001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638" b="0">
                <a:solidFill>
                  <a:srgbClr val="465365"/>
                </a:solidFill>
              </a:defRPr>
            </a:pPr>
            <a:r>
              <a:rPr sz="638" b="0">
                <a:solidFill>
                  <a:srgbClr val="465365"/>
                </a:solidFill>
              </a:rPr>
              <a:t>Review findings</a:t>
            </a:r>
          </a:p>
        </p:txBody>
      </p:sp>
      <p:sp>
        <p:nvSpPr>
          <p:cNvPr id="34" name="textbox-469">
            <a:extLst xmlns:a="http://schemas.openxmlformats.org/drawingml/2006/main">
              <a:ext uri="{FF2B5EF4-FFF2-40B4-BE49-F238E27FC236}">
                <a16:creationId xmlns:a16="http://schemas.microsoft.com/office/drawing/2014/main" id="{C9AB4763-3F52-49C8-AA7C-C84D295B2E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3048000"/>
            <a:ext cx="8001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638" b="0">
                <a:solidFill>
                  <a:srgbClr val="465365"/>
                </a:solidFill>
              </a:defRPr>
            </a:pPr>
            <a:r>
              <a:rPr sz="638" b="0">
                <a:solidFill>
                  <a:srgbClr val="465365"/>
                </a:solidFill>
              </a:rPr>
              <a:t>Approve challenge</a:t>
            </a:r>
          </a:p>
        </p:txBody>
      </p:sp>
      <p:sp>
        <p:nvSpPr>
          <p:cNvPr id="35" name="textbox-470">
            <a:extLst xmlns:a="http://schemas.openxmlformats.org/drawingml/2006/main">
              <a:ext uri="{FF2B5EF4-FFF2-40B4-BE49-F238E27FC236}">
                <a16:creationId xmlns:a16="http://schemas.microsoft.com/office/drawing/2014/main" id="{32DBA4D7-E3FE-4A58-AB33-2A27938888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3371850"/>
            <a:ext cx="8001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638" b="0">
                <a:solidFill>
                  <a:srgbClr val="465365"/>
                </a:solidFill>
              </a:defRPr>
            </a:pPr>
            <a:r>
              <a:rPr sz="638" b="0">
                <a:solidFill>
                  <a:srgbClr val="465365"/>
                </a:solidFill>
              </a:rPr>
              <a:t>Audit trail</a:t>
            </a:r>
          </a:p>
        </p:txBody>
      </p:sp>
      <p:sp>
        <p:nvSpPr>
          <p:cNvPr id="36" name="roundRect-471">
            <a:extLst xmlns:a="http://schemas.openxmlformats.org/drawingml/2006/main">
              <a:ext uri="{FF2B5EF4-FFF2-40B4-BE49-F238E27FC236}">
                <a16:creationId xmlns:a16="http://schemas.microsoft.com/office/drawing/2014/main" id="{248C5A11-8C85-4D42-A3A3-9B18CC100E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3676650"/>
            <a:ext cx="914400" cy="247650"/>
          </a:xfrm>
          <a:prstGeom xmlns:a="http://schemas.openxmlformats.org/drawingml/2006/main" prst="roundRect">
            <a:avLst>
              <a:gd name="adj" fmla="val 7692"/>
            </a:avLst>
          </a:prstGeom>
          <a:solidFill xmlns:a="http://schemas.openxmlformats.org/drawingml/2006/main">
            <a:srgbClr val="E8F4F2"/>
          </a:solidFill>
          <a:ln xmlns:a="http://schemas.openxmlformats.org/drawingml/2006/main" w="9525">
            <a:solidFill>
              <a:srgbClr val="E8F4F2"/>
            </a:solidFill>
            <a:prstDash val="solid"/>
          </a:ln>
        </p:spPr>
      </p:sp>
      <p:sp>
        <p:nvSpPr>
          <p:cNvPr id="37" name="textbox-472">
            <a:extLst xmlns:a="http://schemas.openxmlformats.org/drawingml/2006/main">
              <a:ext uri="{FF2B5EF4-FFF2-40B4-BE49-F238E27FC236}">
                <a16:creationId xmlns:a16="http://schemas.microsoft.com/office/drawing/2014/main" id="{A6368D38-7281-4255-A979-CF643777C9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3695700"/>
            <a:ext cx="8001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638" b="1">
                <a:solidFill>
                  <a:srgbClr val="096C6D"/>
                </a:solidFill>
              </a:defRPr>
            </a:pPr>
            <a:r>
              <a:rPr sz="638" b="1">
                <a:solidFill>
                  <a:srgbClr val="096C6D"/>
                </a:solidFill>
              </a:rPr>
              <a:t>Extracted invoice</a:t>
            </a:r>
          </a:p>
        </p:txBody>
      </p:sp>
      <p:sp>
        <p:nvSpPr>
          <p:cNvPr id="38" name="textbox-473">
            <a:extLst xmlns:a="http://schemas.openxmlformats.org/drawingml/2006/main">
              <a:ext uri="{FF2B5EF4-FFF2-40B4-BE49-F238E27FC236}">
                <a16:creationId xmlns:a16="http://schemas.microsoft.com/office/drawing/2014/main" id="{2CDC9403-1A97-4821-BBAF-BD631C84A4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4019550"/>
            <a:ext cx="8001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638" b="0">
                <a:solidFill>
                  <a:srgbClr val="465365"/>
                </a:solidFill>
              </a:defRPr>
            </a:pPr>
            <a:r>
              <a:rPr sz="638" b="0">
                <a:solidFill>
                  <a:srgbClr val="465365"/>
                </a:solidFill>
              </a:rPr>
              <a:t>Calculation checks</a:t>
            </a:r>
          </a:p>
        </p:txBody>
      </p:sp>
      <p:sp>
        <p:nvSpPr>
          <p:cNvPr id="39" name="textbox-474">
            <a:extLst xmlns:a="http://schemas.openxmlformats.org/drawingml/2006/main">
              <a:ext uri="{FF2B5EF4-FFF2-40B4-BE49-F238E27FC236}">
                <a16:creationId xmlns:a16="http://schemas.microsoft.com/office/drawing/2014/main" id="{9BE0F020-AEFB-4978-9A06-0A40BDD71D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4343400"/>
            <a:ext cx="8001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638" b="0">
                <a:solidFill>
                  <a:srgbClr val="465365"/>
                </a:solidFill>
              </a:defRPr>
            </a:pPr>
            <a:r>
              <a:rPr sz="638" b="0">
                <a:solidFill>
                  <a:srgbClr val="465365"/>
                </a:solidFill>
              </a:rPr>
              <a:t>Ontology mapping</a:t>
            </a:r>
          </a:p>
        </p:txBody>
      </p:sp>
      <p:sp>
        <p:nvSpPr>
          <p:cNvPr id="40" name="textbox-475">
            <a:extLst xmlns:a="http://schemas.openxmlformats.org/drawingml/2006/main">
              <a:ext uri="{FF2B5EF4-FFF2-40B4-BE49-F238E27FC236}">
                <a16:creationId xmlns:a16="http://schemas.microsoft.com/office/drawing/2014/main" id="{6FB6AFDE-33B7-4EFE-B01C-9D7DA1C892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4667250"/>
            <a:ext cx="8001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638" b="0">
                <a:solidFill>
                  <a:srgbClr val="465365"/>
                </a:solidFill>
              </a:defRPr>
            </a:pPr>
            <a:r>
              <a:rPr sz="638" b="0">
                <a:solidFill>
                  <a:srgbClr val="465365"/>
                </a:solidFill>
              </a:rPr>
              <a:t>Repair benchmarks</a:t>
            </a:r>
          </a:p>
        </p:txBody>
      </p:sp>
      <p:sp>
        <p:nvSpPr>
          <p:cNvPr id="41" name="textbox-476">
            <a:extLst xmlns:a="http://schemas.openxmlformats.org/drawingml/2006/main">
              <a:ext uri="{FF2B5EF4-FFF2-40B4-BE49-F238E27FC236}">
                <a16:creationId xmlns:a16="http://schemas.microsoft.com/office/drawing/2014/main" id="{7A9054F0-D5C7-4EFB-A0C8-F52D82F04A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2057400"/>
            <a:ext cx="5810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71B3D"/>
                </a:solidFill>
              </a:defRPr>
            </a:pPr>
            <a:r>
              <a:rPr sz="1350" b="1">
                <a:solidFill>
                  <a:srgbClr val="071B3D"/>
                </a:solidFill>
              </a:rPr>
              <a:t>Extracted invoice 9407</a:t>
            </a:r>
          </a:p>
        </p:txBody>
      </p:sp>
      <p:sp>
        <p:nvSpPr>
          <p:cNvPr id="42" name="textbox-477">
            <a:extLst xmlns:a="http://schemas.openxmlformats.org/drawingml/2006/main">
              <a:ext uri="{FF2B5EF4-FFF2-40B4-BE49-F238E27FC236}">
                <a16:creationId xmlns:a16="http://schemas.microsoft.com/office/drawing/2014/main" id="{3C7BC322-081B-4426-AC7C-19F5681CBA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2343150"/>
            <a:ext cx="5810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750">
                <a:solidFill>
                  <a:srgbClr val="6F7A89"/>
                </a:solidFill>
              </a:defRPr>
            </a:pPr>
            <a:r>
              <a:rPr sz="750">
                <a:solidFill>
                  <a:srgbClr val="6F7A89"/>
                </a:solidFill>
              </a:rPr>
              <a:t>Selected invoice controls every visible value.</a:t>
            </a:r>
          </a:p>
        </p:txBody>
      </p:sp>
      <p:sp>
        <p:nvSpPr>
          <p:cNvPr id="43" name="roundRect-478">
            <a:extLst xmlns:a="http://schemas.openxmlformats.org/drawingml/2006/main">
              <a:ext uri="{FF2B5EF4-FFF2-40B4-BE49-F238E27FC236}">
                <a16:creationId xmlns:a16="http://schemas.microsoft.com/office/drawing/2014/main" id="{FC0C6F65-3B5A-493C-ACFD-BE15DD75E9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2686050"/>
            <a:ext cx="1381125" cy="647700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3E8"/>
            </a:solidFill>
            <a:prstDash val="solid"/>
          </a:ln>
        </p:spPr>
      </p:sp>
      <p:sp>
        <p:nvSpPr>
          <p:cNvPr id="44" name="textbox-479">
            <a:extLst xmlns:a="http://schemas.openxmlformats.org/drawingml/2006/main">
              <a:ext uri="{FF2B5EF4-FFF2-40B4-BE49-F238E27FC236}">
                <a16:creationId xmlns:a16="http://schemas.microsoft.com/office/drawing/2014/main" id="{8EC14B8E-644E-434B-B12C-519436436C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8800" y="2762250"/>
            <a:ext cx="11525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675" b="1">
                <a:solidFill>
                  <a:srgbClr val="6F7A89"/>
                </a:solidFill>
              </a:defRPr>
            </a:pPr>
            <a:r>
              <a:rPr sz="675" b="1">
                <a:solidFill>
                  <a:srgbClr val="6F7A89"/>
                </a:solidFill>
              </a:rPr>
              <a:t>Vehicle</a:t>
            </a:r>
          </a:p>
        </p:txBody>
      </p:sp>
      <p:sp>
        <p:nvSpPr>
          <p:cNvPr id="45" name="textbox-480">
            <a:extLst xmlns:a="http://schemas.openxmlformats.org/drawingml/2006/main">
              <a:ext uri="{FF2B5EF4-FFF2-40B4-BE49-F238E27FC236}">
                <a16:creationId xmlns:a16="http://schemas.microsoft.com/office/drawing/2014/main" id="{B7BCD972-E3DB-420D-AEC1-E3AA0A87DE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8800" y="2952750"/>
            <a:ext cx="11525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71B3D"/>
                </a:solidFill>
              </a:defRPr>
            </a:pPr>
            <a:r>
              <a:rPr sz="1350" b="1">
                <a:solidFill>
                  <a:srgbClr val="071B3D"/>
                </a:solidFill>
              </a:rPr>
              <a:t>BMW X5</a:t>
            </a:r>
          </a:p>
        </p:txBody>
      </p:sp>
      <p:sp>
        <p:nvSpPr>
          <p:cNvPr id="46" name="roundRect-481">
            <a:extLst xmlns:a="http://schemas.openxmlformats.org/drawingml/2006/main">
              <a:ext uri="{FF2B5EF4-FFF2-40B4-BE49-F238E27FC236}">
                <a16:creationId xmlns:a16="http://schemas.microsoft.com/office/drawing/2014/main" id="{D1352EC2-6665-46B4-87C7-ABB125F07D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2686050"/>
            <a:ext cx="1381125" cy="647700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3E8"/>
            </a:solidFill>
            <a:prstDash val="solid"/>
          </a:ln>
        </p:spPr>
      </p:sp>
      <p:sp>
        <p:nvSpPr>
          <p:cNvPr id="47" name="textbox-482">
            <a:extLst xmlns:a="http://schemas.openxmlformats.org/drawingml/2006/main">
              <a:ext uri="{FF2B5EF4-FFF2-40B4-BE49-F238E27FC236}">
                <a16:creationId xmlns:a16="http://schemas.microsoft.com/office/drawing/2014/main" id="{A24787EC-93EB-41D1-8E1E-85B04EC05E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15175" y="2762250"/>
            <a:ext cx="11525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675" b="1">
                <a:solidFill>
                  <a:srgbClr val="6F7A89"/>
                </a:solidFill>
              </a:defRPr>
            </a:pPr>
            <a:r>
              <a:rPr sz="675" b="1">
                <a:solidFill>
                  <a:srgbClr val="6F7A89"/>
                </a:solidFill>
              </a:rPr>
              <a:t>Registration</a:t>
            </a:r>
          </a:p>
        </p:txBody>
      </p:sp>
      <p:sp>
        <p:nvSpPr>
          <p:cNvPr id="48" name="textbox-483">
            <a:extLst xmlns:a="http://schemas.openxmlformats.org/drawingml/2006/main">
              <a:ext uri="{FF2B5EF4-FFF2-40B4-BE49-F238E27FC236}">
                <a16:creationId xmlns:a16="http://schemas.microsoft.com/office/drawing/2014/main" id="{D3CF2687-E244-4879-905D-70EA010593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15175" y="2952750"/>
            <a:ext cx="11525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71B3D"/>
                </a:solidFill>
              </a:defRPr>
            </a:pPr>
            <a:r>
              <a:rPr sz="1350" b="1">
                <a:solidFill>
                  <a:srgbClr val="071B3D"/>
                </a:solidFill>
              </a:rPr>
              <a:t>KT21 LNZ</a:t>
            </a:r>
          </a:p>
        </p:txBody>
      </p:sp>
      <p:sp>
        <p:nvSpPr>
          <p:cNvPr id="49" name="roundRect-484">
            <a:extLst xmlns:a="http://schemas.openxmlformats.org/drawingml/2006/main">
              <a:ext uri="{FF2B5EF4-FFF2-40B4-BE49-F238E27FC236}">
                <a16:creationId xmlns:a16="http://schemas.microsoft.com/office/drawing/2014/main" id="{23686703-6D07-4115-9CE7-2A033D1F4D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2686050"/>
            <a:ext cx="1381125" cy="647700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3E8"/>
            </a:solidFill>
            <a:prstDash val="solid"/>
          </a:ln>
        </p:spPr>
      </p:sp>
      <p:sp>
        <p:nvSpPr>
          <p:cNvPr id="50" name="textbox-485">
            <a:extLst xmlns:a="http://schemas.openxmlformats.org/drawingml/2006/main">
              <a:ext uri="{FF2B5EF4-FFF2-40B4-BE49-F238E27FC236}">
                <a16:creationId xmlns:a16="http://schemas.microsoft.com/office/drawing/2014/main" id="{0C8C86FC-CF0B-468C-B817-C1E8F510FA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2762250"/>
            <a:ext cx="11525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675" b="1">
                <a:solidFill>
                  <a:srgbClr val="6F7A89"/>
                </a:solidFill>
              </a:defRPr>
            </a:pPr>
            <a:r>
              <a:rPr sz="675" b="1">
                <a:solidFill>
                  <a:srgbClr val="6F7A89"/>
                </a:solidFill>
              </a:rPr>
              <a:t>Invoice total</a:t>
            </a:r>
          </a:p>
        </p:txBody>
      </p:sp>
      <p:sp>
        <p:nvSpPr>
          <p:cNvPr id="51" name="textbox-486">
            <a:extLst xmlns:a="http://schemas.openxmlformats.org/drawingml/2006/main">
              <a:ext uri="{FF2B5EF4-FFF2-40B4-BE49-F238E27FC236}">
                <a16:creationId xmlns:a16="http://schemas.microsoft.com/office/drawing/2014/main" id="{38226639-6E6E-44D1-90CC-3216A8EE02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2952750"/>
            <a:ext cx="11525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B8687"/>
                </a:solidFill>
              </a:defRPr>
            </a:pPr>
            <a:r>
              <a:rPr sz="1350" b="1">
                <a:solidFill>
                  <a:srgbClr val="0B8687"/>
                </a:solidFill>
              </a:rPr>
              <a:t>£1,396.44</a:t>
            </a:r>
          </a:p>
        </p:txBody>
      </p:sp>
      <p:sp>
        <p:nvSpPr>
          <p:cNvPr id="52" name="roundRect-487">
            <a:extLst xmlns:a="http://schemas.openxmlformats.org/drawingml/2006/main">
              <a:ext uri="{FF2B5EF4-FFF2-40B4-BE49-F238E27FC236}">
                <a16:creationId xmlns:a16="http://schemas.microsoft.com/office/drawing/2014/main" id="{C8D1FE7F-25B3-423E-AD78-B31C7D9595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53625" y="2686050"/>
            <a:ext cx="1571625" cy="647700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3E8"/>
            </a:solidFill>
            <a:prstDash val="solid"/>
          </a:ln>
        </p:spPr>
      </p:sp>
      <p:sp>
        <p:nvSpPr>
          <p:cNvPr id="53" name="textbox-488">
            <a:extLst xmlns:a="http://schemas.openxmlformats.org/drawingml/2006/main">
              <a:ext uri="{FF2B5EF4-FFF2-40B4-BE49-F238E27FC236}">
                <a16:creationId xmlns:a16="http://schemas.microsoft.com/office/drawing/2014/main" id="{40B17179-E6FE-4A6E-A7ED-9FA0AF49ED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67925" y="2762250"/>
            <a:ext cx="13430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675" b="1">
                <a:solidFill>
                  <a:srgbClr val="6F7A89"/>
                </a:solidFill>
              </a:defRPr>
            </a:pPr>
            <a:r>
              <a:rPr sz="675" b="1">
                <a:solidFill>
                  <a:srgbClr val="6F7A89"/>
                </a:solidFill>
              </a:rPr>
              <a:t>Confidence</a:t>
            </a:r>
          </a:p>
        </p:txBody>
      </p:sp>
      <p:sp>
        <p:nvSpPr>
          <p:cNvPr id="54" name="textbox-489">
            <a:extLst xmlns:a="http://schemas.openxmlformats.org/drawingml/2006/main">
              <a:ext uri="{FF2B5EF4-FFF2-40B4-BE49-F238E27FC236}">
                <a16:creationId xmlns:a16="http://schemas.microsoft.com/office/drawing/2014/main" id="{E381EF63-8040-438E-B89B-71A1407656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67925" y="2952750"/>
            <a:ext cx="13430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2E7D5B"/>
                </a:solidFill>
              </a:defRPr>
            </a:pPr>
            <a:r>
              <a:rPr sz="1350" b="1">
                <a:solidFill>
                  <a:srgbClr val="2E7D5B"/>
                </a:solidFill>
              </a:rPr>
              <a:t>98.7%</a:t>
            </a:r>
          </a:p>
        </p:txBody>
      </p:sp>
      <p:sp>
        <p:nvSpPr>
          <p:cNvPr id="55" name="roundRect-490">
            <a:extLst xmlns:a="http://schemas.openxmlformats.org/drawingml/2006/main">
              <a:ext uri="{FF2B5EF4-FFF2-40B4-BE49-F238E27FC236}">
                <a16:creationId xmlns:a16="http://schemas.microsoft.com/office/drawing/2014/main" id="{6C3E9E05-404C-4660-B49C-83E31E0E6C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3524250"/>
            <a:ext cx="6000750" cy="2495550"/>
          </a:xfrm>
          <a:prstGeom xmlns:a="http://schemas.openxmlformats.org/drawingml/2006/main" prst="roundRect">
            <a:avLst>
              <a:gd name="adj" fmla="val 76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3E8"/>
            </a:solidFill>
            <a:prstDash val="solid"/>
          </a:ln>
        </p:spPr>
      </p:sp>
      <p:sp>
        <p:nvSpPr>
          <p:cNvPr id="56" name="rect-491">
            <a:extLst xmlns:a="http://schemas.openxmlformats.org/drawingml/2006/main">
              <a:ext uri="{FF2B5EF4-FFF2-40B4-BE49-F238E27FC236}">
                <a16:creationId xmlns:a16="http://schemas.microsoft.com/office/drawing/2014/main" id="{9D7199D5-2D25-4430-8C98-CC560FEF95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3524250"/>
            <a:ext cx="6000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4F6"/>
          </a:solidFill>
          <a:ln xmlns:a="http://schemas.openxmlformats.org/drawingml/2006/main" w="0">
            <a:solidFill>
              <a:srgbClr val="F1F4F6"/>
            </a:solidFill>
            <a:prstDash val="solid"/>
          </a:ln>
        </p:spPr>
      </p:sp>
      <p:sp>
        <p:nvSpPr>
          <p:cNvPr id="57" name="textbox-492">
            <a:extLst xmlns:a="http://schemas.openxmlformats.org/drawingml/2006/main">
              <a:ext uri="{FF2B5EF4-FFF2-40B4-BE49-F238E27FC236}">
                <a16:creationId xmlns:a16="http://schemas.microsoft.com/office/drawing/2014/main" id="{4E5B3692-F824-446E-93ED-CE8612063F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1650" y="3571875"/>
            <a:ext cx="231457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638" b="1">
                <a:solidFill>
                  <a:srgbClr val="465365"/>
                </a:solidFill>
              </a:defRPr>
            </a:pPr>
            <a:r>
              <a:rPr sz="638" b="1">
                <a:solidFill>
                  <a:srgbClr val="465365"/>
                </a:solidFill>
              </a:rPr>
              <a:t>Line item</a:t>
            </a:r>
          </a:p>
        </p:txBody>
      </p:sp>
      <p:sp>
        <p:nvSpPr>
          <p:cNvPr id="58" name="rect-493">
            <a:extLst xmlns:a="http://schemas.openxmlformats.org/drawingml/2006/main">
              <a:ext uri="{FF2B5EF4-FFF2-40B4-BE49-F238E27FC236}">
                <a16:creationId xmlns:a16="http://schemas.microsoft.com/office/drawing/2014/main" id="{B5AFECF7-1F69-45C6-9584-29C96A3BEE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3524250"/>
            <a:ext cx="9525" cy="2495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3E8"/>
          </a:solidFill>
          <a:ln xmlns:a="http://schemas.openxmlformats.org/drawingml/2006/main" w="0">
            <a:solidFill>
              <a:srgbClr val="DDE3E8"/>
            </a:solidFill>
            <a:prstDash val="solid"/>
          </a:ln>
        </p:spPr>
      </p:sp>
      <p:sp>
        <p:nvSpPr>
          <p:cNvPr id="59" name="textbox-494">
            <a:extLst xmlns:a="http://schemas.openxmlformats.org/drawingml/2006/main">
              <a:ext uri="{FF2B5EF4-FFF2-40B4-BE49-F238E27FC236}">
                <a16:creationId xmlns:a16="http://schemas.microsoft.com/office/drawing/2014/main" id="{0BBCF3B7-EE98-41CB-8331-49A0984B87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10525" y="3571875"/>
            <a:ext cx="40957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638" b="1">
                <a:solidFill>
                  <a:srgbClr val="465365"/>
                </a:solidFill>
              </a:defRPr>
            </a:pPr>
            <a:r>
              <a:rPr sz="638" b="1">
                <a:solidFill>
                  <a:srgbClr val="465365"/>
                </a:solidFill>
              </a:rPr>
              <a:t>Qty</a:t>
            </a:r>
          </a:p>
        </p:txBody>
      </p:sp>
      <p:sp>
        <p:nvSpPr>
          <p:cNvPr id="60" name="rect-495">
            <a:extLst xmlns:a="http://schemas.openxmlformats.org/drawingml/2006/main">
              <a:ext uri="{FF2B5EF4-FFF2-40B4-BE49-F238E27FC236}">
                <a16:creationId xmlns:a16="http://schemas.microsoft.com/office/drawing/2014/main" id="{1B62C328-FEF4-4605-81A6-639468DFC6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3524250"/>
            <a:ext cx="9525" cy="2495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3E8"/>
          </a:solidFill>
          <a:ln xmlns:a="http://schemas.openxmlformats.org/drawingml/2006/main" w="0">
            <a:solidFill>
              <a:srgbClr val="DDE3E8"/>
            </a:solidFill>
            <a:prstDash val="solid"/>
          </a:ln>
        </p:spPr>
      </p:sp>
      <p:sp>
        <p:nvSpPr>
          <p:cNvPr id="61" name="textbox-496">
            <a:extLst xmlns:a="http://schemas.openxmlformats.org/drawingml/2006/main">
              <a:ext uri="{FF2B5EF4-FFF2-40B4-BE49-F238E27FC236}">
                <a16:creationId xmlns:a16="http://schemas.microsoft.com/office/drawing/2014/main" id="{164D4C46-ED77-4ADD-A013-BB6B04BAEF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3571875"/>
            <a:ext cx="8858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638" b="1">
                <a:solidFill>
                  <a:srgbClr val="465365"/>
                </a:solidFill>
              </a:defRPr>
            </a:pPr>
            <a:r>
              <a:rPr sz="638" b="1">
                <a:solidFill>
                  <a:srgbClr val="465365"/>
                </a:solidFill>
              </a:rPr>
              <a:t>Unit price</a:t>
            </a:r>
          </a:p>
        </p:txBody>
      </p:sp>
      <p:sp>
        <p:nvSpPr>
          <p:cNvPr id="62" name="rect-497">
            <a:extLst xmlns:a="http://schemas.openxmlformats.org/drawingml/2006/main">
              <a:ext uri="{FF2B5EF4-FFF2-40B4-BE49-F238E27FC236}">
                <a16:creationId xmlns:a16="http://schemas.microsoft.com/office/drawing/2014/main" id="{4C5392AD-5A59-4357-8510-9CF955C417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77375" y="3524250"/>
            <a:ext cx="9525" cy="2495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3E8"/>
          </a:solidFill>
          <a:ln xmlns:a="http://schemas.openxmlformats.org/drawingml/2006/main" w="0">
            <a:solidFill>
              <a:srgbClr val="DDE3E8"/>
            </a:solidFill>
            <a:prstDash val="solid"/>
          </a:ln>
        </p:spPr>
      </p:sp>
      <p:sp>
        <p:nvSpPr>
          <p:cNvPr id="63" name="textbox-498">
            <a:extLst xmlns:a="http://schemas.openxmlformats.org/drawingml/2006/main">
              <a:ext uri="{FF2B5EF4-FFF2-40B4-BE49-F238E27FC236}">
                <a16:creationId xmlns:a16="http://schemas.microsoft.com/office/drawing/2014/main" id="{480C41AA-B17E-43CA-8C1F-C1FCAC4637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34525" y="3571875"/>
            <a:ext cx="9334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638" b="1">
                <a:solidFill>
                  <a:srgbClr val="465365"/>
                </a:solidFill>
              </a:defRPr>
            </a:pPr>
            <a:r>
              <a:rPr sz="638" b="1">
                <a:solidFill>
                  <a:srgbClr val="465365"/>
                </a:solidFill>
              </a:rPr>
              <a:t>Net total</a:t>
            </a:r>
          </a:p>
        </p:txBody>
      </p:sp>
      <p:sp>
        <p:nvSpPr>
          <p:cNvPr id="64" name="rect-499">
            <a:extLst xmlns:a="http://schemas.openxmlformats.org/drawingml/2006/main">
              <a:ext uri="{FF2B5EF4-FFF2-40B4-BE49-F238E27FC236}">
                <a16:creationId xmlns:a16="http://schemas.microsoft.com/office/drawing/2014/main" id="{9B305C45-B86E-4995-9BA2-504D0BDCD5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25125" y="3524250"/>
            <a:ext cx="9525" cy="2495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3E8"/>
          </a:solidFill>
          <a:ln xmlns:a="http://schemas.openxmlformats.org/drawingml/2006/main" w="0">
            <a:solidFill>
              <a:srgbClr val="DDE3E8"/>
            </a:solidFill>
            <a:prstDash val="solid"/>
          </a:ln>
        </p:spPr>
      </p:sp>
      <p:sp>
        <p:nvSpPr>
          <p:cNvPr id="65" name="textbox-500">
            <a:extLst xmlns:a="http://schemas.openxmlformats.org/drawingml/2006/main">
              <a:ext uri="{FF2B5EF4-FFF2-40B4-BE49-F238E27FC236}">
                <a16:creationId xmlns:a16="http://schemas.microsoft.com/office/drawing/2014/main" id="{1C19332E-F0E2-49B1-890A-61E28AB227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82275" y="3571875"/>
            <a:ext cx="8858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638" b="1">
                <a:solidFill>
                  <a:srgbClr val="465365"/>
                </a:solidFill>
              </a:defRPr>
            </a:pPr>
            <a:r>
              <a:rPr sz="638" b="1">
                <a:solidFill>
                  <a:srgbClr val="465365"/>
                </a:solidFill>
              </a:rPr>
              <a:t>Status</a:t>
            </a:r>
          </a:p>
        </p:txBody>
      </p:sp>
      <p:sp>
        <p:nvSpPr>
          <p:cNvPr id="66" name="rect-501">
            <a:extLst xmlns:a="http://schemas.openxmlformats.org/drawingml/2006/main">
              <a:ext uri="{FF2B5EF4-FFF2-40B4-BE49-F238E27FC236}">
                <a16:creationId xmlns:a16="http://schemas.microsoft.com/office/drawing/2014/main" id="{39483BB4-6B48-44D9-99FB-539D22DF5F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3790950"/>
            <a:ext cx="6000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3E8"/>
          </a:solidFill>
          <a:ln xmlns:a="http://schemas.openxmlformats.org/drawingml/2006/main" w="0">
            <a:solidFill>
              <a:srgbClr val="DDE3E8"/>
            </a:solidFill>
            <a:prstDash val="solid"/>
          </a:ln>
        </p:spPr>
      </p:sp>
      <p:sp>
        <p:nvSpPr>
          <p:cNvPr id="67" name="textbox-502">
            <a:extLst xmlns:a="http://schemas.openxmlformats.org/drawingml/2006/main">
              <a:ext uri="{FF2B5EF4-FFF2-40B4-BE49-F238E27FC236}">
                <a16:creationId xmlns:a16="http://schemas.microsoft.com/office/drawing/2014/main" id="{80673AE7-242B-4D7F-8063-F3D7984731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1650" y="3829050"/>
            <a:ext cx="231457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675" b="1">
                <a:solidFill>
                  <a:srgbClr val="132238"/>
                </a:solidFill>
              </a:defRPr>
            </a:pPr>
            <a:r>
              <a:rPr sz="675" b="1">
                <a:solidFill>
                  <a:srgbClr val="132238"/>
                </a:solidFill>
              </a:rPr>
              <a:t>Oil &amp; Filter Disposal</a:t>
            </a:r>
          </a:p>
        </p:txBody>
      </p:sp>
      <p:sp>
        <p:nvSpPr>
          <p:cNvPr id="68" name="textbox-503">
            <a:extLst xmlns:a="http://schemas.openxmlformats.org/drawingml/2006/main">
              <a:ext uri="{FF2B5EF4-FFF2-40B4-BE49-F238E27FC236}">
                <a16:creationId xmlns:a16="http://schemas.microsoft.com/office/drawing/2014/main" id="{E8C9F454-753F-4CE6-907F-C328EA334A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10525" y="3829050"/>
            <a:ext cx="40957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675" b="0">
                <a:solidFill>
                  <a:srgbClr val="132238"/>
                </a:solidFill>
              </a:defRPr>
            </a:pPr>
            <a:r>
              <a:rPr sz="675" b="0">
                <a:solidFill>
                  <a:srgbClr val="132238"/>
                </a:solidFill>
              </a:rPr>
              <a:t>1</a:t>
            </a:r>
          </a:p>
        </p:txBody>
      </p:sp>
      <p:sp>
        <p:nvSpPr>
          <p:cNvPr id="69" name="textbox-504">
            <a:extLst xmlns:a="http://schemas.openxmlformats.org/drawingml/2006/main">
              <a:ext uri="{FF2B5EF4-FFF2-40B4-BE49-F238E27FC236}">
                <a16:creationId xmlns:a16="http://schemas.microsoft.com/office/drawing/2014/main" id="{E15D738F-FC7A-4DB1-A821-72CF748CB4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3829050"/>
            <a:ext cx="88582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675" b="0">
                <a:solidFill>
                  <a:srgbClr val="132238"/>
                </a:solidFill>
              </a:defRPr>
            </a:pPr>
            <a:r>
              <a:rPr sz="675" b="0">
                <a:solidFill>
                  <a:srgbClr val="132238"/>
                </a:solidFill>
              </a:rPr>
              <a:t>£4.50</a:t>
            </a:r>
          </a:p>
        </p:txBody>
      </p:sp>
      <p:sp>
        <p:nvSpPr>
          <p:cNvPr id="70" name="textbox-505">
            <a:extLst xmlns:a="http://schemas.openxmlformats.org/drawingml/2006/main">
              <a:ext uri="{FF2B5EF4-FFF2-40B4-BE49-F238E27FC236}">
                <a16:creationId xmlns:a16="http://schemas.microsoft.com/office/drawing/2014/main" id="{0ACC76FF-EACB-44D0-98A0-640963EB1C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34525" y="3829050"/>
            <a:ext cx="9334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675" b="0">
                <a:solidFill>
                  <a:srgbClr val="132238"/>
                </a:solidFill>
              </a:defRPr>
            </a:pPr>
            <a:r>
              <a:rPr sz="675" b="0">
                <a:solidFill>
                  <a:srgbClr val="132238"/>
                </a:solidFill>
              </a:rPr>
              <a:t>£4.50</a:t>
            </a:r>
          </a:p>
        </p:txBody>
      </p:sp>
      <p:sp>
        <p:nvSpPr>
          <p:cNvPr id="71" name="textbox-506">
            <a:extLst xmlns:a="http://schemas.openxmlformats.org/drawingml/2006/main">
              <a:ext uri="{FF2B5EF4-FFF2-40B4-BE49-F238E27FC236}">
                <a16:creationId xmlns:a16="http://schemas.microsoft.com/office/drawing/2014/main" id="{7C2A0493-DD79-4CC4-B6E6-753D0EA1BE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82275" y="3829050"/>
            <a:ext cx="88582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675" b="1">
                <a:solidFill>
                  <a:srgbClr val="132238"/>
                </a:solidFill>
              </a:defRPr>
            </a:pPr>
            <a:r>
              <a:rPr sz="675" b="1">
                <a:solidFill>
                  <a:srgbClr val="132238"/>
                </a:solidFill>
              </a:rPr>
              <a:t>✓</a:t>
            </a:r>
          </a:p>
        </p:txBody>
      </p:sp>
      <p:sp>
        <p:nvSpPr>
          <p:cNvPr id="72" name="rect-507">
            <a:extLst xmlns:a="http://schemas.openxmlformats.org/drawingml/2006/main">
              <a:ext uri="{FF2B5EF4-FFF2-40B4-BE49-F238E27FC236}">
                <a16:creationId xmlns:a16="http://schemas.microsoft.com/office/drawing/2014/main" id="{3F82A130-302C-4681-97B3-44E6A4AB9A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4162425"/>
            <a:ext cx="6000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3E8"/>
          </a:solidFill>
          <a:ln xmlns:a="http://schemas.openxmlformats.org/drawingml/2006/main" w="0">
            <a:solidFill>
              <a:srgbClr val="DDE3E8"/>
            </a:solidFill>
            <a:prstDash val="solid"/>
          </a:ln>
        </p:spPr>
      </p:sp>
      <p:sp>
        <p:nvSpPr>
          <p:cNvPr id="73" name="textbox-508">
            <a:extLst xmlns:a="http://schemas.openxmlformats.org/drawingml/2006/main">
              <a:ext uri="{FF2B5EF4-FFF2-40B4-BE49-F238E27FC236}">
                <a16:creationId xmlns:a16="http://schemas.microsoft.com/office/drawing/2014/main" id="{C01BEA69-FE9A-41BC-8334-E4BBC47C06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1650" y="4200525"/>
            <a:ext cx="231457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675" b="1">
                <a:solidFill>
                  <a:srgbClr val="132238"/>
                </a:solidFill>
              </a:defRPr>
            </a:pPr>
            <a:r>
              <a:rPr sz="675" b="1">
                <a:solidFill>
                  <a:srgbClr val="132238"/>
                </a:solidFill>
              </a:rPr>
              <a:t>Oil Filter</a:t>
            </a:r>
          </a:p>
        </p:txBody>
      </p:sp>
      <p:sp>
        <p:nvSpPr>
          <p:cNvPr id="74" name="textbox-509">
            <a:extLst xmlns:a="http://schemas.openxmlformats.org/drawingml/2006/main">
              <a:ext uri="{FF2B5EF4-FFF2-40B4-BE49-F238E27FC236}">
                <a16:creationId xmlns:a16="http://schemas.microsoft.com/office/drawing/2014/main" id="{B4D40EB6-082A-47A9-A6C0-A4F96EB021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10525" y="4200525"/>
            <a:ext cx="40957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675" b="0">
                <a:solidFill>
                  <a:srgbClr val="132238"/>
                </a:solidFill>
              </a:defRPr>
            </a:pPr>
            <a:r>
              <a:rPr sz="675" b="0">
                <a:solidFill>
                  <a:srgbClr val="132238"/>
                </a:solidFill>
              </a:rPr>
              <a:t>1</a:t>
            </a:r>
          </a:p>
        </p:txBody>
      </p:sp>
      <p:sp>
        <p:nvSpPr>
          <p:cNvPr id="75" name="textbox-510">
            <a:extLst xmlns:a="http://schemas.openxmlformats.org/drawingml/2006/main">
              <a:ext uri="{FF2B5EF4-FFF2-40B4-BE49-F238E27FC236}">
                <a16:creationId xmlns:a16="http://schemas.microsoft.com/office/drawing/2014/main" id="{C32C7842-84EC-468F-B419-2A5C9B1282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4200525"/>
            <a:ext cx="88582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675" b="0">
                <a:solidFill>
                  <a:srgbClr val="132238"/>
                </a:solidFill>
              </a:defRPr>
            </a:pPr>
            <a:r>
              <a:rPr sz="675" b="0">
                <a:solidFill>
                  <a:srgbClr val="132238"/>
                </a:solidFill>
              </a:rPr>
              <a:t>£10.60</a:t>
            </a:r>
          </a:p>
        </p:txBody>
      </p:sp>
      <p:sp>
        <p:nvSpPr>
          <p:cNvPr id="76" name="textbox-511">
            <a:extLst xmlns:a="http://schemas.openxmlformats.org/drawingml/2006/main">
              <a:ext uri="{FF2B5EF4-FFF2-40B4-BE49-F238E27FC236}">
                <a16:creationId xmlns:a16="http://schemas.microsoft.com/office/drawing/2014/main" id="{55F70E22-966A-4B5E-982A-FD6FC6EDF3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34525" y="4200525"/>
            <a:ext cx="9334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675" b="0">
                <a:solidFill>
                  <a:srgbClr val="132238"/>
                </a:solidFill>
              </a:defRPr>
            </a:pPr>
            <a:r>
              <a:rPr sz="675" b="0">
                <a:solidFill>
                  <a:srgbClr val="132238"/>
                </a:solidFill>
              </a:rPr>
              <a:t>£10.60</a:t>
            </a:r>
          </a:p>
        </p:txBody>
      </p:sp>
      <p:sp>
        <p:nvSpPr>
          <p:cNvPr id="77" name="textbox-512">
            <a:extLst xmlns:a="http://schemas.openxmlformats.org/drawingml/2006/main">
              <a:ext uri="{FF2B5EF4-FFF2-40B4-BE49-F238E27FC236}">
                <a16:creationId xmlns:a16="http://schemas.microsoft.com/office/drawing/2014/main" id="{1778E044-DC14-46A1-8AAB-30AECCCF29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82275" y="4200525"/>
            <a:ext cx="88582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675" b="1">
                <a:solidFill>
                  <a:srgbClr val="132238"/>
                </a:solidFill>
              </a:defRPr>
            </a:pPr>
            <a:r>
              <a:rPr sz="675" b="1">
                <a:solidFill>
                  <a:srgbClr val="132238"/>
                </a:solidFill>
              </a:rPr>
              <a:t>✓</a:t>
            </a:r>
          </a:p>
        </p:txBody>
      </p:sp>
      <p:sp>
        <p:nvSpPr>
          <p:cNvPr id="78" name="rect-513">
            <a:extLst xmlns:a="http://schemas.openxmlformats.org/drawingml/2006/main">
              <a:ext uri="{FF2B5EF4-FFF2-40B4-BE49-F238E27FC236}">
                <a16:creationId xmlns:a16="http://schemas.microsoft.com/office/drawing/2014/main" id="{769C7933-9847-4CCB-9F81-5DF639EA3E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4533900"/>
            <a:ext cx="6000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3E8"/>
          </a:solidFill>
          <a:ln xmlns:a="http://schemas.openxmlformats.org/drawingml/2006/main" w="0">
            <a:solidFill>
              <a:srgbClr val="DDE3E8"/>
            </a:solidFill>
            <a:prstDash val="solid"/>
          </a:ln>
        </p:spPr>
      </p:sp>
      <p:sp>
        <p:nvSpPr>
          <p:cNvPr id="79" name="textbox-514">
            <a:extLst xmlns:a="http://schemas.openxmlformats.org/drawingml/2006/main">
              <a:ext uri="{FF2B5EF4-FFF2-40B4-BE49-F238E27FC236}">
                <a16:creationId xmlns:a16="http://schemas.microsoft.com/office/drawing/2014/main" id="{4643C3EA-EAFE-4AB4-9D28-129B1EB7C8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1650" y="4572000"/>
            <a:ext cx="231457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675" b="1">
                <a:solidFill>
                  <a:srgbClr val="132238"/>
                </a:solidFill>
              </a:defRPr>
            </a:pPr>
            <a:r>
              <a:rPr sz="675" b="1">
                <a:solidFill>
                  <a:srgbClr val="132238"/>
                </a:solidFill>
              </a:rPr>
              <a:t>Air Filter</a:t>
            </a:r>
          </a:p>
        </p:txBody>
      </p:sp>
      <p:sp>
        <p:nvSpPr>
          <p:cNvPr id="80" name="textbox-515">
            <a:extLst xmlns:a="http://schemas.openxmlformats.org/drawingml/2006/main">
              <a:ext uri="{FF2B5EF4-FFF2-40B4-BE49-F238E27FC236}">
                <a16:creationId xmlns:a16="http://schemas.microsoft.com/office/drawing/2014/main" id="{9B353681-7848-4F5A-A6F9-DAC6F2C78D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10525" y="4572000"/>
            <a:ext cx="40957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675" b="0">
                <a:solidFill>
                  <a:srgbClr val="132238"/>
                </a:solidFill>
              </a:defRPr>
            </a:pPr>
            <a:r>
              <a:rPr sz="675" b="0">
                <a:solidFill>
                  <a:srgbClr val="132238"/>
                </a:solidFill>
              </a:rPr>
              <a:t>1</a:t>
            </a:r>
          </a:p>
        </p:txBody>
      </p:sp>
      <p:sp>
        <p:nvSpPr>
          <p:cNvPr id="81" name="textbox-516">
            <a:extLst xmlns:a="http://schemas.openxmlformats.org/drawingml/2006/main">
              <a:ext uri="{FF2B5EF4-FFF2-40B4-BE49-F238E27FC236}">
                <a16:creationId xmlns:a16="http://schemas.microsoft.com/office/drawing/2014/main" id="{A4272DB1-20B8-4E48-92B8-4896E8B6EE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4572000"/>
            <a:ext cx="88582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675" b="0">
                <a:solidFill>
                  <a:srgbClr val="132238"/>
                </a:solidFill>
              </a:defRPr>
            </a:pPr>
            <a:r>
              <a:rPr sz="675" b="0">
                <a:solidFill>
                  <a:srgbClr val="132238"/>
                </a:solidFill>
              </a:rPr>
              <a:t>£20.02</a:t>
            </a:r>
          </a:p>
        </p:txBody>
      </p:sp>
      <p:sp>
        <p:nvSpPr>
          <p:cNvPr id="82" name="textbox-517">
            <a:extLst xmlns:a="http://schemas.openxmlformats.org/drawingml/2006/main">
              <a:ext uri="{FF2B5EF4-FFF2-40B4-BE49-F238E27FC236}">
                <a16:creationId xmlns:a16="http://schemas.microsoft.com/office/drawing/2014/main" id="{2947F1B6-87D9-4097-B3CD-636D9A6673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34525" y="4572000"/>
            <a:ext cx="9334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675" b="0">
                <a:solidFill>
                  <a:srgbClr val="132238"/>
                </a:solidFill>
              </a:defRPr>
            </a:pPr>
            <a:r>
              <a:rPr sz="675" b="0">
                <a:solidFill>
                  <a:srgbClr val="132238"/>
                </a:solidFill>
              </a:rPr>
              <a:t>£20.02</a:t>
            </a:r>
          </a:p>
        </p:txBody>
      </p:sp>
      <p:sp>
        <p:nvSpPr>
          <p:cNvPr id="83" name="textbox-518">
            <a:extLst xmlns:a="http://schemas.openxmlformats.org/drawingml/2006/main">
              <a:ext uri="{FF2B5EF4-FFF2-40B4-BE49-F238E27FC236}">
                <a16:creationId xmlns:a16="http://schemas.microsoft.com/office/drawing/2014/main" id="{D5B3327B-C882-4CC8-A6C7-F0D6BE9324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82275" y="4572000"/>
            <a:ext cx="88582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675" b="1">
                <a:solidFill>
                  <a:srgbClr val="132238"/>
                </a:solidFill>
              </a:defRPr>
            </a:pPr>
            <a:r>
              <a:rPr sz="675" b="1">
                <a:solidFill>
                  <a:srgbClr val="132238"/>
                </a:solidFill>
              </a:rPr>
              <a:t>✓</a:t>
            </a:r>
          </a:p>
        </p:txBody>
      </p:sp>
      <p:sp>
        <p:nvSpPr>
          <p:cNvPr id="84" name="rect-519">
            <a:extLst xmlns:a="http://schemas.openxmlformats.org/drawingml/2006/main">
              <a:ext uri="{FF2B5EF4-FFF2-40B4-BE49-F238E27FC236}">
                <a16:creationId xmlns:a16="http://schemas.microsoft.com/office/drawing/2014/main" id="{03F78405-0075-4E77-984A-6DC9A89A33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4905375"/>
            <a:ext cx="6000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3E8"/>
          </a:solidFill>
          <a:ln xmlns:a="http://schemas.openxmlformats.org/drawingml/2006/main" w="0">
            <a:solidFill>
              <a:srgbClr val="DDE3E8"/>
            </a:solidFill>
            <a:prstDash val="solid"/>
          </a:ln>
        </p:spPr>
      </p:sp>
      <p:sp>
        <p:nvSpPr>
          <p:cNvPr id="85" name="textbox-520">
            <a:extLst xmlns:a="http://schemas.openxmlformats.org/drawingml/2006/main">
              <a:ext uri="{FF2B5EF4-FFF2-40B4-BE49-F238E27FC236}">
                <a16:creationId xmlns:a16="http://schemas.microsoft.com/office/drawing/2014/main" id="{BE5B7BF6-C9D1-40E2-B3D9-C70A8470D7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1650" y="4943475"/>
            <a:ext cx="231457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675" b="1">
                <a:solidFill>
                  <a:srgbClr val="132238"/>
                </a:solidFill>
              </a:defRPr>
            </a:pPr>
            <a:r>
              <a:rPr sz="675" b="1">
                <a:solidFill>
                  <a:srgbClr val="132238"/>
                </a:solidFill>
              </a:rPr>
              <a:t>Pollen Filter</a:t>
            </a:r>
          </a:p>
        </p:txBody>
      </p:sp>
      <p:sp>
        <p:nvSpPr>
          <p:cNvPr id="86" name="textbox-521">
            <a:extLst xmlns:a="http://schemas.openxmlformats.org/drawingml/2006/main">
              <a:ext uri="{FF2B5EF4-FFF2-40B4-BE49-F238E27FC236}">
                <a16:creationId xmlns:a16="http://schemas.microsoft.com/office/drawing/2014/main" id="{B82F7F45-436A-4C26-835E-01E4609A96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10525" y="4943475"/>
            <a:ext cx="40957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675" b="0">
                <a:solidFill>
                  <a:srgbClr val="132238"/>
                </a:solidFill>
              </a:defRPr>
            </a:pPr>
            <a:r>
              <a:rPr sz="675" b="0">
                <a:solidFill>
                  <a:srgbClr val="132238"/>
                </a:solidFill>
              </a:rPr>
              <a:t>1</a:t>
            </a:r>
          </a:p>
        </p:txBody>
      </p:sp>
      <p:sp>
        <p:nvSpPr>
          <p:cNvPr id="87" name="textbox-522">
            <a:extLst xmlns:a="http://schemas.openxmlformats.org/drawingml/2006/main">
              <a:ext uri="{FF2B5EF4-FFF2-40B4-BE49-F238E27FC236}">
                <a16:creationId xmlns:a16="http://schemas.microsoft.com/office/drawing/2014/main" id="{5550584B-4AAC-4AA0-B561-FE6391403A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4943475"/>
            <a:ext cx="88582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675" b="0">
                <a:solidFill>
                  <a:srgbClr val="132238"/>
                </a:solidFill>
              </a:defRPr>
            </a:pPr>
            <a:r>
              <a:rPr sz="675" b="0">
                <a:solidFill>
                  <a:srgbClr val="132238"/>
                </a:solidFill>
              </a:rPr>
              <a:t>£9.39</a:t>
            </a:r>
          </a:p>
        </p:txBody>
      </p:sp>
      <p:sp>
        <p:nvSpPr>
          <p:cNvPr id="88" name="textbox-523">
            <a:extLst xmlns:a="http://schemas.openxmlformats.org/drawingml/2006/main">
              <a:ext uri="{FF2B5EF4-FFF2-40B4-BE49-F238E27FC236}">
                <a16:creationId xmlns:a16="http://schemas.microsoft.com/office/drawing/2014/main" id="{BABEB187-EB28-44D4-994E-E934BA6BD4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34525" y="4943475"/>
            <a:ext cx="9334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675" b="0">
                <a:solidFill>
                  <a:srgbClr val="132238"/>
                </a:solidFill>
              </a:defRPr>
            </a:pPr>
            <a:r>
              <a:rPr sz="675" b="0">
                <a:solidFill>
                  <a:srgbClr val="132238"/>
                </a:solidFill>
              </a:rPr>
              <a:t>£9.39</a:t>
            </a:r>
          </a:p>
        </p:txBody>
      </p:sp>
      <p:sp>
        <p:nvSpPr>
          <p:cNvPr id="89" name="textbox-524">
            <a:extLst xmlns:a="http://schemas.openxmlformats.org/drawingml/2006/main">
              <a:ext uri="{FF2B5EF4-FFF2-40B4-BE49-F238E27FC236}">
                <a16:creationId xmlns:a16="http://schemas.microsoft.com/office/drawing/2014/main" id="{6B42C994-7CE9-42BF-940C-9C5384F8DC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82275" y="4943475"/>
            <a:ext cx="88582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675" b="1">
                <a:solidFill>
                  <a:srgbClr val="132238"/>
                </a:solidFill>
              </a:defRPr>
            </a:pPr>
            <a:r>
              <a:rPr sz="675" b="1">
                <a:solidFill>
                  <a:srgbClr val="132238"/>
                </a:solidFill>
              </a:rPr>
              <a:t>✓</a:t>
            </a:r>
          </a:p>
        </p:txBody>
      </p:sp>
      <p:sp>
        <p:nvSpPr>
          <p:cNvPr id="90" name="rect-525">
            <a:extLst xmlns:a="http://schemas.openxmlformats.org/drawingml/2006/main">
              <a:ext uri="{FF2B5EF4-FFF2-40B4-BE49-F238E27FC236}">
                <a16:creationId xmlns:a16="http://schemas.microsoft.com/office/drawing/2014/main" id="{0B2C5033-2915-4609-AC50-9B0D71BC49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5276850"/>
            <a:ext cx="6000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3E8"/>
          </a:solidFill>
          <a:ln xmlns:a="http://schemas.openxmlformats.org/drawingml/2006/main" w="0">
            <a:solidFill>
              <a:srgbClr val="DDE3E8"/>
            </a:solidFill>
            <a:prstDash val="solid"/>
          </a:ln>
        </p:spPr>
      </p:sp>
      <p:sp>
        <p:nvSpPr>
          <p:cNvPr id="91" name="textbox-526">
            <a:extLst xmlns:a="http://schemas.openxmlformats.org/drawingml/2006/main">
              <a:ext uri="{FF2B5EF4-FFF2-40B4-BE49-F238E27FC236}">
                <a16:creationId xmlns:a16="http://schemas.microsoft.com/office/drawing/2014/main" id="{A700DD1B-869B-4FDD-9607-70154F98A1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1650" y="5314950"/>
            <a:ext cx="231457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675" b="1">
                <a:solidFill>
                  <a:srgbClr val="132238"/>
                </a:solidFill>
              </a:defRPr>
            </a:pPr>
            <a:r>
              <a:rPr sz="675" b="1">
                <a:solidFill>
                  <a:srgbClr val="132238"/>
                </a:solidFill>
              </a:rPr>
              <a:t>Spark Plugs</a:t>
            </a:r>
          </a:p>
        </p:txBody>
      </p:sp>
      <p:sp>
        <p:nvSpPr>
          <p:cNvPr id="92" name="textbox-527">
            <a:extLst xmlns:a="http://schemas.openxmlformats.org/drawingml/2006/main">
              <a:ext uri="{FF2B5EF4-FFF2-40B4-BE49-F238E27FC236}">
                <a16:creationId xmlns:a16="http://schemas.microsoft.com/office/drawing/2014/main" id="{47618C90-7595-47EF-927F-53EA30ADC2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10525" y="5314950"/>
            <a:ext cx="40957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675" b="0">
                <a:solidFill>
                  <a:srgbClr val="132238"/>
                </a:solidFill>
              </a:defRPr>
            </a:pPr>
            <a:r>
              <a:rPr sz="675" b="0">
                <a:solidFill>
                  <a:srgbClr val="132238"/>
                </a:solidFill>
              </a:rPr>
              <a:t>4</a:t>
            </a:r>
          </a:p>
        </p:txBody>
      </p:sp>
      <p:sp>
        <p:nvSpPr>
          <p:cNvPr id="93" name="textbox-528">
            <a:extLst xmlns:a="http://schemas.openxmlformats.org/drawingml/2006/main">
              <a:ext uri="{FF2B5EF4-FFF2-40B4-BE49-F238E27FC236}">
                <a16:creationId xmlns:a16="http://schemas.microsoft.com/office/drawing/2014/main" id="{AB7672CE-1B64-47D5-BB53-2F6E8789A5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5314950"/>
            <a:ext cx="88582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675" b="0">
                <a:solidFill>
                  <a:srgbClr val="132238"/>
                </a:solidFill>
              </a:defRPr>
            </a:pPr>
            <a:r>
              <a:rPr sz="675" b="0">
                <a:solidFill>
                  <a:srgbClr val="132238"/>
                </a:solidFill>
              </a:rPr>
              <a:t>£8.55</a:t>
            </a:r>
          </a:p>
        </p:txBody>
      </p:sp>
      <p:sp>
        <p:nvSpPr>
          <p:cNvPr id="94" name="textbox-529">
            <a:extLst xmlns:a="http://schemas.openxmlformats.org/drawingml/2006/main">
              <a:ext uri="{FF2B5EF4-FFF2-40B4-BE49-F238E27FC236}">
                <a16:creationId xmlns:a16="http://schemas.microsoft.com/office/drawing/2014/main" id="{08B18571-016B-42B2-A02E-C0C9022A6B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34525" y="5314950"/>
            <a:ext cx="9334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675" b="0">
                <a:solidFill>
                  <a:srgbClr val="132238"/>
                </a:solidFill>
              </a:defRPr>
            </a:pPr>
            <a:r>
              <a:rPr sz="675" b="0">
                <a:solidFill>
                  <a:srgbClr val="132238"/>
                </a:solidFill>
              </a:rPr>
              <a:t>£34.20</a:t>
            </a:r>
          </a:p>
        </p:txBody>
      </p:sp>
      <p:sp>
        <p:nvSpPr>
          <p:cNvPr id="95" name="textbox-530">
            <a:extLst xmlns:a="http://schemas.openxmlformats.org/drawingml/2006/main">
              <a:ext uri="{FF2B5EF4-FFF2-40B4-BE49-F238E27FC236}">
                <a16:creationId xmlns:a16="http://schemas.microsoft.com/office/drawing/2014/main" id="{5C050AD9-CBFD-4FA6-A95B-8EC36404B5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82275" y="5314950"/>
            <a:ext cx="88582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675" b="1">
                <a:solidFill>
                  <a:srgbClr val="132238"/>
                </a:solidFill>
              </a:defRPr>
            </a:pPr>
            <a:r>
              <a:rPr sz="675" b="1">
                <a:solidFill>
                  <a:srgbClr val="132238"/>
                </a:solidFill>
              </a:rPr>
              <a:t>✓</a:t>
            </a:r>
          </a:p>
        </p:txBody>
      </p:sp>
      <p:sp>
        <p:nvSpPr>
          <p:cNvPr id="96" name="rect-531">
            <a:extLst xmlns:a="http://schemas.openxmlformats.org/drawingml/2006/main">
              <a:ext uri="{FF2B5EF4-FFF2-40B4-BE49-F238E27FC236}">
                <a16:creationId xmlns:a16="http://schemas.microsoft.com/office/drawing/2014/main" id="{64412E98-6686-4E32-8AFC-2CA88A661C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5648325"/>
            <a:ext cx="6000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3E8"/>
          </a:solidFill>
          <a:ln xmlns:a="http://schemas.openxmlformats.org/drawingml/2006/main" w="0">
            <a:solidFill>
              <a:srgbClr val="DDE3E8"/>
            </a:solidFill>
            <a:prstDash val="solid"/>
          </a:ln>
        </p:spPr>
      </p:sp>
      <p:sp>
        <p:nvSpPr>
          <p:cNvPr id="97" name="textbox-532">
            <a:extLst xmlns:a="http://schemas.openxmlformats.org/drawingml/2006/main">
              <a:ext uri="{FF2B5EF4-FFF2-40B4-BE49-F238E27FC236}">
                <a16:creationId xmlns:a16="http://schemas.microsoft.com/office/drawing/2014/main" id="{2FEDE502-08ED-4BC7-BC48-588DC79ACA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1650" y="5686425"/>
            <a:ext cx="231457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675" b="1">
                <a:solidFill>
                  <a:srgbClr val="132238"/>
                </a:solidFill>
              </a:defRPr>
            </a:pPr>
            <a:r>
              <a:rPr sz="675" b="1">
                <a:solidFill>
                  <a:srgbClr val="132238"/>
                </a:solidFill>
              </a:rPr>
              <a:t>Full Service Labour</a:t>
            </a:r>
          </a:p>
        </p:txBody>
      </p:sp>
      <p:sp>
        <p:nvSpPr>
          <p:cNvPr id="98" name="textbox-533">
            <a:extLst xmlns:a="http://schemas.openxmlformats.org/drawingml/2006/main">
              <a:ext uri="{FF2B5EF4-FFF2-40B4-BE49-F238E27FC236}">
                <a16:creationId xmlns:a16="http://schemas.microsoft.com/office/drawing/2014/main" id="{7433C011-25E0-4217-926C-C715A6C95D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10525" y="5686425"/>
            <a:ext cx="40957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675" b="0">
                <a:solidFill>
                  <a:srgbClr val="132238"/>
                </a:solidFill>
              </a:defRPr>
            </a:pPr>
            <a:r>
              <a:rPr sz="675" b="0">
                <a:solidFill>
                  <a:srgbClr val="132238"/>
                </a:solidFill>
              </a:rPr>
              <a:t>1</a:t>
            </a:r>
          </a:p>
        </p:txBody>
      </p:sp>
      <p:sp>
        <p:nvSpPr>
          <p:cNvPr id="99" name="textbox-534">
            <a:extLst xmlns:a="http://schemas.openxmlformats.org/drawingml/2006/main">
              <a:ext uri="{FF2B5EF4-FFF2-40B4-BE49-F238E27FC236}">
                <a16:creationId xmlns:a16="http://schemas.microsoft.com/office/drawing/2014/main" id="{2517716A-08FC-45BC-A956-445826CB8E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5686425"/>
            <a:ext cx="88582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675" b="0">
                <a:solidFill>
                  <a:srgbClr val="132238"/>
                </a:solidFill>
              </a:defRPr>
            </a:pPr>
            <a:r>
              <a:rPr sz="675" b="0">
                <a:solidFill>
                  <a:srgbClr val="132238"/>
                </a:solidFill>
              </a:rPr>
              <a:t>£190.00</a:t>
            </a:r>
          </a:p>
        </p:txBody>
      </p:sp>
      <p:sp>
        <p:nvSpPr>
          <p:cNvPr id="100" name="textbox-535">
            <a:extLst xmlns:a="http://schemas.openxmlformats.org/drawingml/2006/main">
              <a:ext uri="{FF2B5EF4-FFF2-40B4-BE49-F238E27FC236}">
                <a16:creationId xmlns:a16="http://schemas.microsoft.com/office/drawing/2014/main" id="{463B19A0-7E7D-465C-9777-57135EC9CC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34525" y="5686425"/>
            <a:ext cx="9334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675" b="0">
                <a:solidFill>
                  <a:srgbClr val="132238"/>
                </a:solidFill>
              </a:defRPr>
            </a:pPr>
            <a:r>
              <a:rPr sz="675" b="0">
                <a:solidFill>
                  <a:srgbClr val="132238"/>
                </a:solidFill>
              </a:rPr>
              <a:t>£190.00</a:t>
            </a:r>
          </a:p>
        </p:txBody>
      </p:sp>
      <p:sp>
        <p:nvSpPr>
          <p:cNvPr id="101" name="textbox-536">
            <a:extLst xmlns:a="http://schemas.openxmlformats.org/drawingml/2006/main">
              <a:ext uri="{FF2B5EF4-FFF2-40B4-BE49-F238E27FC236}">
                <a16:creationId xmlns:a16="http://schemas.microsoft.com/office/drawing/2014/main" id="{0FE3DF56-1E4F-4F21-A733-0078730057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82275" y="5686425"/>
            <a:ext cx="88582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675" b="1">
                <a:solidFill>
                  <a:srgbClr val="132238"/>
                </a:solidFill>
              </a:defRPr>
            </a:pPr>
            <a:r>
              <a:rPr sz="675" b="1">
                <a:solidFill>
                  <a:srgbClr val="132238"/>
                </a:solidFill>
              </a:rPr>
              <a:t>✓</a:t>
            </a:r>
          </a:p>
        </p:txBody>
      </p:sp>
      <p:sp>
        <p:nvSpPr>
          <p:cNvPr id="102" name="roundRect-537">
            <a:extLst xmlns:a="http://schemas.openxmlformats.org/drawingml/2006/main">
              <a:ext uri="{FF2B5EF4-FFF2-40B4-BE49-F238E27FC236}">
                <a16:creationId xmlns:a16="http://schemas.microsoft.com/office/drawing/2014/main" id="{620AAC70-FD07-441A-B2B6-07F99B2CB8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6000750"/>
            <a:ext cx="60007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EFF7EC"/>
          </a:solidFill>
          <a:ln xmlns:a="http://schemas.openxmlformats.org/drawingml/2006/main" w="9525">
            <a:solidFill>
              <a:srgbClr val="2E7D5B"/>
            </a:solidFill>
            <a:prstDash val="solid"/>
          </a:ln>
        </p:spPr>
      </p:sp>
      <p:sp>
        <p:nvSpPr>
          <p:cNvPr id="103" name="textbox-538">
            <a:extLst xmlns:a="http://schemas.openxmlformats.org/drawingml/2006/main">
              <a:ext uri="{FF2B5EF4-FFF2-40B4-BE49-F238E27FC236}">
                <a16:creationId xmlns:a16="http://schemas.microsoft.com/office/drawing/2014/main" id="{18B4F4CE-D7BD-4DAA-8BEA-3D184A0EE9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95950" y="6086475"/>
            <a:ext cx="5657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2E7D5B"/>
                </a:solidFill>
              </a:defRPr>
            </a:pPr>
            <a:r>
              <a:rPr sz="825" b="1">
                <a:solidFill>
                  <a:srgbClr val="2E7D5B"/>
                </a:solidFill>
              </a:rPr>
              <a:t>✓  All extracted fields above 95% confidence are ready for review.</a:t>
            </a:r>
          </a:p>
        </p:txBody>
      </p:sp>
    </p:spTree>
    <p:extLst>
      <p:ext uri="{BB962C8B-B14F-4D97-AF65-F5344CB8AC3E}">
        <p14:creationId xmlns:p14="http://schemas.microsoft.com/office/powerpoint/2010/main" val="1317297580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CFB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eyebrow-9">
            <a:extLst xmlns:a="http://schemas.openxmlformats.org/drawingml/2006/main">
              <a:ext uri="{FF2B5EF4-FFF2-40B4-BE49-F238E27FC236}">
                <a16:creationId xmlns:a16="http://schemas.microsoft.com/office/drawing/2014/main" id="{F4CC3A40-6833-4D49-A48E-7930C183B9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47650"/>
            <a:ext cx="285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975" b="1">
                <a:solidFill>
                  <a:srgbClr val="0B8687"/>
                </a:solidFill>
              </a:defRPr>
            </a:pPr>
            <a:r>
              <a:rPr sz="975" b="1">
                <a:solidFill>
                  <a:srgbClr val="0B8687"/>
                </a:solidFill>
              </a:rPr>
              <a:t>LIVE PRODUCT EVIDENCE</a:t>
            </a:r>
          </a:p>
        </p:txBody>
      </p:sp>
      <p:sp>
        <p:nvSpPr>
          <p:cNvPr id="2" name="title-9">
            <a:extLst xmlns:a="http://schemas.openxmlformats.org/drawingml/2006/main">
              <a:ext uri="{FF2B5EF4-FFF2-40B4-BE49-F238E27FC236}">
                <a16:creationId xmlns:a16="http://schemas.microsoft.com/office/drawing/2014/main" id="{22071E98-17B6-4310-8CB6-557AA05EF9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95300"/>
            <a:ext cx="11049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3150" b="1">
                <a:solidFill>
                  <a:srgbClr val="071B3D"/>
                </a:solidFill>
              </a:defRPr>
            </a:pPr>
            <a:r>
              <a:rPr sz="3150" b="1">
                <a:solidFill>
                  <a:srgbClr val="071B3D"/>
                </a:solidFill>
              </a:rPr>
              <a:t>Calculations are verified before price review</a:t>
            </a:r>
          </a:p>
        </p:txBody>
      </p:sp>
      <p:sp>
        <p:nvSpPr>
          <p:cNvPr id="3" name="subtitle-9">
            <a:extLst xmlns:a="http://schemas.openxmlformats.org/drawingml/2006/main">
              <a:ext uri="{FF2B5EF4-FFF2-40B4-BE49-F238E27FC236}">
                <a16:creationId xmlns:a16="http://schemas.microsoft.com/office/drawing/2014/main" id="{3CAA2B7B-10F2-4B9B-854C-AD617B66BD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028700"/>
            <a:ext cx="10763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350">
                <a:solidFill>
                  <a:srgbClr val="6F7A89"/>
                </a:solidFill>
              </a:defRPr>
            </a:pPr>
            <a:r>
              <a:rPr sz="1350">
                <a:solidFill>
                  <a:srgbClr val="6F7A89"/>
                </a:solidFill>
              </a:rPr>
              <a:t>Deterministic checks establish invoice integrity before historical comparison begins.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87BFA22-B8F5-4747-826A-7B8F382CCA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362075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3E8"/>
          </a:solidFill>
          <a:ln xmlns:a="http://schemas.openxmlformats.org/drawingml/2006/main" w="0">
            <a:solidFill>
              <a:srgbClr val="DDE3E8"/>
            </a:solidFill>
            <a:prstDash val="solid"/>
          </a:ln>
        </p:spPr>
      </p:sp>
      <p:sp>
        <p:nvSpPr>
          <p:cNvPr id="5" name="page-9">
            <a:extLst xmlns:a="http://schemas.openxmlformats.org/drawingml/2006/main">
              <a:ext uri="{FF2B5EF4-FFF2-40B4-BE49-F238E27FC236}">
                <a16:creationId xmlns:a16="http://schemas.microsoft.com/office/drawing/2014/main" id="{F66462F8-B080-4032-A625-34E229C515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0" y="6477000"/>
            <a:ext cx="3048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900" b="1">
                <a:solidFill>
                  <a:srgbClr val="6F7A89"/>
                </a:solidFill>
              </a:defRPr>
            </a:pPr>
            <a:r>
              <a:rPr sz="900" b="1">
                <a:solidFill>
                  <a:srgbClr val="6F7A89"/>
                </a:solidFill>
              </a:rPr>
              <a:t>9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D040E2B-FAA5-429C-9758-3863019237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752600"/>
            <a:ext cx="419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350" b="1">
                <a:solidFill>
                  <a:srgbClr val="0B8687"/>
                </a:solidFill>
              </a:defRPr>
            </a:pPr>
            <a:r>
              <a:rPr sz="1350" b="1">
                <a:solidFill>
                  <a:srgbClr val="0B8687"/>
                </a:solidFill>
              </a:rPr>
              <a:t>01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51C0E7F-9397-42D0-A2FC-14A3E56F1E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866900"/>
            <a:ext cx="381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8687"/>
          </a:solidFill>
          <a:ln xmlns:a="http://schemas.openxmlformats.org/drawingml/2006/main" w="0">
            <a:solidFill>
              <a:srgbClr val="0B8687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7B108AC-0FF2-4176-AF1B-15D7483CB0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1733550"/>
            <a:ext cx="2571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725" b="1">
                <a:solidFill>
                  <a:srgbClr val="132238"/>
                </a:solidFill>
              </a:defRPr>
            </a:pPr>
            <a:r>
              <a:rPr sz="1725" b="1">
                <a:solidFill>
                  <a:srgbClr val="132238"/>
                </a:solidFill>
              </a:rPr>
              <a:t>Arithmetic first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B486D49-03DD-4E00-AB32-DCF332B96F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2076450"/>
            <a:ext cx="25527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75">
                <a:solidFill>
                  <a:srgbClr val="465365"/>
                </a:solidFill>
              </a:defRPr>
            </a:pPr>
            <a:r>
              <a:rPr sz="1275">
                <a:solidFill>
                  <a:srgbClr val="465365"/>
                </a:solidFill>
              </a:rPr>
              <a:t>Quantity × unit price, subtotals and totals are checked consistently.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48206AF-4131-47DD-B98B-399B63B931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2971800"/>
            <a:ext cx="419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350" b="1">
                <a:solidFill>
                  <a:srgbClr val="0B8687"/>
                </a:solidFill>
              </a:defRPr>
            </a:pPr>
            <a:r>
              <a:rPr sz="1350" b="1">
                <a:solidFill>
                  <a:srgbClr val="0B8687"/>
                </a:solidFill>
              </a:rPr>
              <a:t>02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1D318AD-0B64-4F15-9BE9-E1BA46DDBB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086100"/>
            <a:ext cx="381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8687"/>
          </a:solidFill>
          <a:ln xmlns:a="http://schemas.openxmlformats.org/drawingml/2006/main" w="0">
            <a:solidFill>
              <a:srgbClr val="0B8687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B1770B2-27FF-48C4-8CD1-1D7EA2D7CE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2952750"/>
            <a:ext cx="2571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725" b="1">
                <a:solidFill>
                  <a:srgbClr val="132238"/>
                </a:solidFill>
              </a:defRPr>
            </a:pPr>
            <a:r>
              <a:rPr sz="1725" b="1">
                <a:solidFill>
                  <a:srgbClr val="132238"/>
                </a:solidFill>
              </a:rPr>
              <a:t>UK tax handling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D84C933-0C03-44A6-989E-7EDA2D1597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3295650"/>
            <a:ext cx="25527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75">
                <a:solidFill>
                  <a:srgbClr val="465365"/>
                </a:solidFill>
              </a:defRPr>
            </a:pPr>
            <a:r>
              <a:rPr sz="1275">
                <a:solidFill>
                  <a:srgbClr val="465365"/>
                </a:solidFill>
              </a:rPr>
              <a:t>MOT remains outside VAT and is shown separately.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CAB2A74-300E-4115-87AB-721B9F4682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4191000"/>
            <a:ext cx="419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350" b="1">
                <a:solidFill>
                  <a:srgbClr val="0B8687"/>
                </a:solidFill>
              </a:defRPr>
            </a:pPr>
            <a:r>
              <a:rPr sz="1350" b="1">
                <a:solidFill>
                  <a:srgbClr val="0B8687"/>
                </a:solidFill>
              </a:rPr>
              <a:t>03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A702458-9C5C-4284-8200-B022998F78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305300"/>
            <a:ext cx="381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8687"/>
          </a:solidFill>
          <a:ln xmlns:a="http://schemas.openxmlformats.org/drawingml/2006/main" w="0">
            <a:solidFill>
              <a:srgbClr val="0B8687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174C475-27B1-49F1-9494-FA1BB19239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4171950"/>
            <a:ext cx="2571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725" b="1">
                <a:solidFill>
                  <a:srgbClr val="132238"/>
                </a:solidFill>
              </a:defRPr>
            </a:pPr>
            <a:r>
              <a:rPr sz="1725" b="1">
                <a:solidFill>
                  <a:srgbClr val="132238"/>
                </a:solidFill>
              </a:rPr>
              <a:t>Clear exceptions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6225384-A60E-448C-A924-94B3BD545F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4514850"/>
            <a:ext cx="25527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75">
                <a:solidFill>
                  <a:srgbClr val="465365"/>
                </a:solidFill>
              </a:defRPr>
            </a:pPr>
            <a:r>
              <a:rPr sz="1275">
                <a:solidFill>
                  <a:srgbClr val="465365"/>
                </a:solidFill>
              </a:rPr>
              <a:t>Not-applicable checks are separated from genuine failures.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A47AD38-D0D0-46BA-91EC-13FFE75FDB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753100"/>
            <a:ext cx="3562350" cy="62865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E8F4F2"/>
          </a:solidFill>
          <a:ln xmlns:a="http://schemas.openxmlformats.org/drawingml/2006/main" w="9525">
            <a:solidFill>
              <a:srgbClr val="0B8687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44DE09E-3CFB-45A9-9A96-DD3F00B037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886450"/>
            <a:ext cx="31813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75" b="1">
                <a:solidFill>
                  <a:srgbClr val="096C6D"/>
                </a:solidFill>
              </a:defRPr>
            </a:pPr>
            <a:r>
              <a:rPr sz="1275" b="1">
                <a:solidFill>
                  <a:srgbClr val="096C6D"/>
                </a:solidFill>
              </a:rPr>
              <a:t>Invoice 9407: 18 passed, 0 calculation failures.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86785D8-AE8A-47C7-A6FD-E62DDE5D36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1504950"/>
            <a:ext cx="7600950" cy="5314950"/>
          </a:xfrm>
          <a:prstGeom xmlns:a="http://schemas.openxmlformats.org/drawingml/2006/main" prst="roundRect">
            <a:avLst>
              <a:gd name="adj" fmla="val 215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0B8687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6"/>
          <a:fontRef xmlns:a="http://schemas.openxmlformats.org/drawingml/2006/main" idx="major"/>
        </p:style>
      </p:sp>
      <p:sp>
        <p:nvSpPr>
          <p:cNvPr id="23" name="rect-539">
            <a:extLst xmlns:a="http://schemas.openxmlformats.org/drawingml/2006/main">
              <a:ext uri="{FF2B5EF4-FFF2-40B4-BE49-F238E27FC236}">
                <a16:creationId xmlns:a16="http://schemas.microsoft.com/office/drawing/2014/main" id="{A3B929BF-3A2D-4262-97DD-5C6A3CF63C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1562100"/>
            <a:ext cx="7486650" cy="5200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DDE3E8"/>
            </a:solidFill>
            <a:prstDash val="solid"/>
          </a:ln>
        </p:spPr>
      </p:sp>
      <p:sp>
        <p:nvSpPr>
          <p:cNvPr id="24" name="rect-540">
            <a:extLst xmlns:a="http://schemas.openxmlformats.org/drawingml/2006/main">
              <a:ext uri="{FF2B5EF4-FFF2-40B4-BE49-F238E27FC236}">
                <a16:creationId xmlns:a16="http://schemas.microsoft.com/office/drawing/2014/main" id="{EECEFF24-CB9E-4EDC-A90B-D7F6E1E843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1562100"/>
            <a:ext cx="74866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7F8"/>
          </a:solidFill>
          <a:ln xmlns:a="http://schemas.openxmlformats.org/drawingml/2006/main" w="0">
            <a:solidFill>
              <a:srgbClr val="DDE3E8"/>
            </a:solidFill>
            <a:prstDash val="solid"/>
          </a:ln>
        </p:spPr>
      </p:sp>
      <p:sp>
        <p:nvSpPr>
          <p:cNvPr id="25" name="roundRect-541">
            <a:extLst xmlns:a="http://schemas.openxmlformats.org/drawingml/2006/main">
              <a:ext uri="{FF2B5EF4-FFF2-40B4-BE49-F238E27FC236}">
                <a16:creationId xmlns:a16="http://schemas.microsoft.com/office/drawing/2014/main" id="{7C993A2C-8C8D-472C-AD3A-F2280AB2D5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1628775"/>
            <a:ext cx="190500" cy="1905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071B3D"/>
          </a:solidFill>
          <a:ln xmlns:a="http://schemas.openxmlformats.org/drawingml/2006/main" w="9525">
            <a:solidFill>
              <a:srgbClr val="071B3D"/>
            </a:solidFill>
            <a:prstDash val="solid"/>
          </a:ln>
        </p:spPr>
      </p:sp>
      <p:sp>
        <p:nvSpPr>
          <p:cNvPr id="26" name="textbox-542">
            <a:extLst xmlns:a="http://schemas.openxmlformats.org/drawingml/2006/main">
              <a:ext uri="{FF2B5EF4-FFF2-40B4-BE49-F238E27FC236}">
                <a16:creationId xmlns:a16="http://schemas.microsoft.com/office/drawing/2014/main" id="{488D467F-E2A3-4E6E-B4D3-F95061B508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1638300"/>
            <a:ext cx="19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600" b="1">
                <a:solidFill>
                  <a:srgbClr val="FFFFFF"/>
                </a:solidFill>
              </a:defRPr>
            </a:pPr>
            <a:r>
              <a:rPr sz="600" b="1">
                <a:solidFill>
                  <a:srgbClr val="FFFFFF"/>
                </a:solidFill>
              </a:rPr>
              <a:t>CG</a:t>
            </a:r>
          </a:p>
        </p:txBody>
      </p:sp>
      <p:sp>
        <p:nvSpPr>
          <p:cNvPr id="27" name="textbox-543">
            <a:extLst xmlns:a="http://schemas.openxmlformats.org/drawingml/2006/main">
              <a:ext uri="{FF2B5EF4-FFF2-40B4-BE49-F238E27FC236}">
                <a16:creationId xmlns:a16="http://schemas.microsoft.com/office/drawing/2014/main" id="{4ABAFBE6-EFC0-4763-AF07-8B7DB8063A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1628775"/>
            <a:ext cx="95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071B3D"/>
                </a:solidFill>
              </a:defRPr>
            </a:pPr>
            <a:r>
              <a:rPr sz="825" b="1">
                <a:solidFill>
                  <a:srgbClr val="071B3D"/>
                </a:solidFill>
              </a:rPr>
              <a:t>ClaimGuard</a:t>
            </a:r>
          </a:p>
        </p:txBody>
      </p:sp>
      <p:sp>
        <p:nvSpPr>
          <p:cNvPr id="28" name="roundRect-544">
            <a:extLst xmlns:a="http://schemas.openxmlformats.org/drawingml/2006/main">
              <a:ext uri="{FF2B5EF4-FFF2-40B4-BE49-F238E27FC236}">
                <a16:creationId xmlns:a16="http://schemas.microsoft.com/office/drawing/2014/main" id="{4A11F008-52A6-4E6F-8AC3-791450375F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91800" y="1619250"/>
            <a:ext cx="952500" cy="2286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FF7EC"/>
          </a:solidFill>
          <a:ln xmlns:a="http://schemas.openxmlformats.org/drawingml/2006/main" w="9525">
            <a:solidFill>
              <a:srgbClr val="EFF7EC"/>
            </a:solidFill>
            <a:prstDash val="solid"/>
          </a:ln>
        </p:spPr>
      </p:sp>
      <p:sp>
        <p:nvSpPr>
          <p:cNvPr id="29" name="textbox-545">
            <a:extLst xmlns:a="http://schemas.openxmlformats.org/drawingml/2006/main">
              <a:ext uri="{FF2B5EF4-FFF2-40B4-BE49-F238E27FC236}">
                <a16:creationId xmlns:a16="http://schemas.microsoft.com/office/drawing/2014/main" id="{40DF2EEE-3DBB-44CC-B72D-CE07557E32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48950" y="1628775"/>
            <a:ext cx="838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2E7D5B"/>
                </a:solidFill>
              </a:defRPr>
            </a:pPr>
            <a:r>
              <a:rPr sz="825" b="1">
                <a:solidFill>
                  <a:srgbClr val="2E7D5B"/>
                </a:solidFill>
              </a:rPr>
              <a:t>API connected</a:t>
            </a:r>
          </a:p>
        </p:txBody>
      </p:sp>
      <p:sp>
        <p:nvSpPr>
          <p:cNvPr id="30" name="rect-546">
            <a:extLst xmlns:a="http://schemas.openxmlformats.org/drawingml/2006/main">
              <a:ext uri="{FF2B5EF4-FFF2-40B4-BE49-F238E27FC236}">
                <a16:creationId xmlns:a16="http://schemas.microsoft.com/office/drawing/2014/main" id="{852E6C46-534D-4264-A758-50ABF9ED5A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1885950"/>
            <a:ext cx="1066800" cy="487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A"/>
          </a:solidFill>
          <a:ln xmlns:a="http://schemas.openxmlformats.org/drawingml/2006/main" w="0">
            <a:solidFill>
              <a:srgbClr val="DDE3E8"/>
            </a:solidFill>
            <a:prstDash val="solid"/>
          </a:ln>
        </p:spPr>
      </p:sp>
      <p:sp>
        <p:nvSpPr>
          <p:cNvPr id="31" name="textbox-547">
            <a:extLst xmlns:a="http://schemas.openxmlformats.org/drawingml/2006/main">
              <a:ext uri="{FF2B5EF4-FFF2-40B4-BE49-F238E27FC236}">
                <a16:creationId xmlns:a16="http://schemas.microsoft.com/office/drawing/2014/main" id="{108FC96E-506C-404B-8BCA-8A8AC2DB3B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2076450"/>
            <a:ext cx="8001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638" b="0">
                <a:solidFill>
                  <a:srgbClr val="465365"/>
                </a:solidFill>
              </a:defRPr>
            </a:pPr>
            <a:r>
              <a:rPr sz="638" b="0">
                <a:solidFill>
                  <a:srgbClr val="465365"/>
                </a:solidFill>
              </a:rPr>
              <a:t>Overview</a:t>
            </a:r>
          </a:p>
        </p:txBody>
      </p:sp>
      <p:sp>
        <p:nvSpPr>
          <p:cNvPr id="32" name="textbox-548">
            <a:extLst xmlns:a="http://schemas.openxmlformats.org/drawingml/2006/main">
              <a:ext uri="{FF2B5EF4-FFF2-40B4-BE49-F238E27FC236}">
                <a16:creationId xmlns:a16="http://schemas.microsoft.com/office/drawing/2014/main" id="{2CF6CA84-1E9A-4513-8148-5076181516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2400300"/>
            <a:ext cx="8001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638" b="0">
                <a:solidFill>
                  <a:srgbClr val="465365"/>
                </a:solidFill>
              </a:defRPr>
            </a:pPr>
            <a:r>
              <a:rPr sz="638" b="0">
                <a:solidFill>
                  <a:srgbClr val="465365"/>
                </a:solidFill>
              </a:rPr>
              <a:t>Documents</a:t>
            </a:r>
          </a:p>
        </p:txBody>
      </p:sp>
      <p:sp>
        <p:nvSpPr>
          <p:cNvPr id="33" name="textbox-549">
            <a:extLst xmlns:a="http://schemas.openxmlformats.org/drawingml/2006/main">
              <a:ext uri="{FF2B5EF4-FFF2-40B4-BE49-F238E27FC236}">
                <a16:creationId xmlns:a16="http://schemas.microsoft.com/office/drawing/2014/main" id="{7C4B326A-5283-4224-AEDC-3CF05A0EF6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2724150"/>
            <a:ext cx="8001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638" b="0">
                <a:solidFill>
                  <a:srgbClr val="465365"/>
                </a:solidFill>
              </a:defRPr>
            </a:pPr>
            <a:r>
              <a:rPr sz="638" b="0">
                <a:solidFill>
                  <a:srgbClr val="465365"/>
                </a:solidFill>
              </a:rPr>
              <a:t>Review findings</a:t>
            </a:r>
          </a:p>
        </p:txBody>
      </p:sp>
      <p:sp>
        <p:nvSpPr>
          <p:cNvPr id="34" name="textbox-550">
            <a:extLst xmlns:a="http://schemas.openxmlformats.org/drawingml/2006/main">
              <a:ext uri="{FF2B5EF4-FFF2-40B4-BE49-F238E27FC236}">
                <a16:creationId xmlns:a16="http://schemas.microsoft.com/office/drawing/2014/main" id="{F607ED45-7A55-4BDB-97A1-A548E9F2DA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3048000"/>
            <a:ext cx="8001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638" b="0">
                <a:solidFill>
                  <a:srgbClr val="465365"/>
                </a:solidFill>
              </a:defRPr>
            </a:pPr>
            <a:r>
              <a:rPr sz="638" b="0">
                <a:solidFill>
                  <a:srgbClr val="465365"/>
                </a:solidFill>
              </a:rPr>
              <a:t>Approve challenge</a:t>
            </a:r>
          </a:p>
        </p:txBody>
      </p:sp>
      <p:sp>
        <p:nvSpPr>
          <p:cNvPr id="35" name="textbox-551">
            <a:extLst xmlns:a="http://schemas.openxmlformats.org/drawingml/2006/main">
              <a:ext uri="{FF2B5EF4-FFF2-40B4-BE49-F238E27FC236}">
                <a16:creationId xmlns:a16="http://schemas.microsoft.com/office/drawing/2014/main" id="{6C78739B-B5EB-4682-BD3B-44B1762EED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3371850"/>
            <a:ext cx="8001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638" b="0">
                <a:solidFill>
                  <a:srgbClr val="465365"/>
                </a:solidFill>
              </a:defRPr>
            </a:pPr>
            <a:r>
              <a:rPr sz="638" b="0">
                <a:solidFill>
                  <a:srgbClr val="465365"/>
                </a:solidFill>
              </a:rPr>
              <a:t>Audit trail</a:t>
            </a:r>
          </a:p>
        </p:txBody>
      </p:sp>
      <p:sp>
        <p:nvSpPr>
          <p:cNvPr id="36" name="textbox-552">
            <a:extLst xmlns:a="http://schemas.openxmlformats.org/drawingml/2006/main">
              <a:ext uri="{FF2B5EF4-FFF2-40B4-BE49-F238E27FC236}">
                <a16:creationId xmlns:a16="http://schemas.microsoft.com/office/drawing/2014/main" id="{8B4AA5FE-2225-4337-8173-8B758A79DA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3695700"/>
            <a:ext cx="8001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638" b="0">
                <a:solidFill>
                  <a:srgbClr val="465365"/>
                </a:solidFill>
              </a:defRPr>
            </a:pPr>
            <a:r>
              <a:rPr sz="638" b="0">
                <a:solidFill>
                  <a:srgbClr val="465365"/>
                </a:solidFill>
              </a:rPr>
              <a:t>Extracted invoice</a:t>
            </a:r>
          </a:p>
        </p:txBody>
      </p:sp>
      <p:sp>
        <p:nvSpPr>
          <p:cNvPr id="37" name="roundRect-553">
            <a:extLst xmlns:a="http://schemas.openxmlformats.org/drawingml/2006/main">
              <a:ext uri="{FF2B5EF4-FFF2-40B4-BE49-F238E27FC236}">
                <a16:creationId xmlns:a16="http://schemas.microsoft.com/office/drawing/2014/main" id="{991EEFE8-5A9E-4729-8012-11022E317A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4000500"/>
            <a:ext cx="914400" cy="247650"/>
          </a:xfrm>
          <a:prstGeom xmlns:a="http://schemas.openxmlformats.org/drawingml/2006/main" prst="roundRect">
            <a:avLst>
              <a:gd name="adj" fmla="val 7692"/>
            </a:avLst>
          </a:prstGeom>
          <a:solidFill xmlns:a="http://schemas.openxmlformats.org/drawingml/2006/main">
            <a:srgbClr val="E8F4F2"/>
          </a:solidFill>
          <a:ln xmlns:a="http://schemas.openxmlformats.org/drawingml/2006/main" w="9525">
            <a:solidFill>
              <a:srgbClr val="E8F4F2"/>
            </a:solidFill>
            <a:prstDash val="solid"/>
          </a:ln>
        </p:spPr>
      </p:sp>
      <p:sp>
        <p:nvSpPr>
          <p:cNvPr id="38" name="textbox-554">
            <a:extLst xmlns:a="http://schemas.openxmlformats.org/drawingml/2006/main">
              <a:ext uri="{FF2B5EF4-FFF2-40B4-BE49-F238E27FC236}">
                <a16:creationId xmlns:a16="http://schemas.microsoft.com/office/drawing/2014/main" id="{7DD3320A-62D8-47A9-BD62-7EA01724FD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4019550"/>
            <a:ext cx="8001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638" b="1">
                <a:solidFill>
                  <a:srgbClr val="096C6D"/>
                </a:solidFill>
              </a:defRPr>
            </a:pPr>
            <a:r>
              <a:rPr sz="638" b="1">
                <a:solidFill>
                  <a:srgbClr val="096C6D"/>
                </a:solidFill>
              </a:rPr>
              <a:t>Calculation checks</a:t>
            </a:r>
          </a:p>
        </p:txBody>
      </p:sp>
      <p:sp>
        <p:nvSpPr>
          <p:cNvPr id="39" name="textbox-555">
            <a:extLst xmlns:a="http://schemas.openxmlformats.org/drawingml/2006/main">
              <a:ext uri="{FF2B5EF4-FFF2-40B4-BE49-F238E27FC236}">
                <a16:creationId xmlns:a16="http://schemas.microsoft.com/office/drawing/2014/main" id="{5084FD96-71AD-4C5E-9E61-0C318FDB9D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4343400"/>
            <a:ext cx="8001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638" b="0">
                <a:solidFill>
                  <a:srgbClr val="465365"/>
                </a:solidFill>
              </a:defRPr>
            </a:pPr>
            <a:r>
              <a:rPr sz="638" b="0">
                <a:solidFill>
                  <a:srgbClr val="465365"/>
                </a:solidFill>
              </a:rPr>
              <a:t>Ontology mapping</a:t>
            </a:r>
          </a:p>
        </p:txBody>
      </p:sp>
      <p:sp>
        <p:nvSpPr>
          <p:cNvPr id="40" name="textbox-556">
            <a:extLst xmlns:a="http://schemas.openxmlformats.org/drawingml/2006/main">
              <a:ext uri="{FF2B5EF4-FFF2-40B4-BE49-F238E27FC236}">
                <a16:creationId xmlns:a16="http://schemas.microsoft.com/office/drawing/2014/main" id="{F28819A1-C2CD-4D08-A507-E31A15C41B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4667250"/>
            <a:ext cx="8001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638" b="0">
                <a:solidFill>
                  <a:srgbClr val="465365"/>
                </a:solidFill>
              </a:defRPr>
            </a:pPr>
            <a:r>
              <a:rPr sz="638" b="0">
                <a:solidFill>
                  <a:srgbClr val="465365"/>
                </a:solidFill>
              </a:rPr>
              <a:t>Repair benchmarks</a:t>
            </a:r>
          </a:p>
        </p:txBody>
      </p:sp>
      <p:sp>
        <p:nvSpPr>
          <p:cNvPr id="41" name="textbox-557">
            <a:extLst xmlns:a="http://schemas.openxmlformats.org/drawingml/2006/main">
              <a:ext uri="{FF2B5EF4-FFF2-40B4-BE49-F238E27FC236}">
                <a16:creationId xmlns:a16="http://schemas.microsoft.com/office/drawing/2014/main" id="{16C25A6F-C553-4135-B1C1-CED5EADD17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2057400"/>
            <a:ext cx="5810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71B3D"/>
                </a:solidFill>
              </a:defRPr>
            </a:pPr>
            <a:r>
              <a:rPr sz="1350" b="1">
                <a:solidFill>
                  <a:srgbClr val="071B3D"/>
                </a:solidFill>
              </a:rPr>
              <a:t>Calculation Checks</a:t>
            </a:r>
          </a:p>
        </p:txBody>
      </p:sp>
      <p:sp>
        <p:nvSpPr>
          <p:cNvPr id="42" name="textbox-558">
            <a:extLst xmlns:a="http://schemas.openxmlformats.org/drawingml/2006/main">
              <a:ext uri="{FF2B5EF4-FFF2-40B4-BE49-F238E27FC236}">
                <a16:creationId xmlns:a16="http://schemas.microsoft.com/office/drawing/2014/main" id="{9DADBE55-32B0-41D5-9B7D-D913F8CEBE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2343150"/>
            <a:ext cx="5810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750">
                <a:solidFill>
                  <a:srgbClr val="6F7A89"/>
                </a:solidFill>
              </a:defRPr>
            </a:pPr>
            <a:r>
              <a:rPr sz="750">
                <a:solidFill>
                  <a:srgbClr val="6F7A89"/>
                </a:solidFill>
              </a:rPr>
              <a:t>Invoice integrity is verified before benchmarking.</a:t>
            </a:r>
          </a:p>
        </p:txBody>
      </p:sp>
      <p:sp>
        <p:nvSpPr>
          <p:cNvPr id="43" name="roundRect-559">
            <a:extLst xmlns:a="http://schemas.openxmlformats.org/drawingml/2006/main">
              <a:ext uri="{FF2B5EF4-FFF2-40B4-BE49-F238E27FC236}">
                <a16:creationId xmlns:a16="http://schemas.microsoft.com/office/drawing/2014/main" id="{C2CA6874-CB3F-4F81-9693-51C2501368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2686050"/>
            <a:ext cx="1381125" cy="619125"/>
          </a:xfrm>
          <a:prstGeom xmlns:a="http://schemas.openxmlformats.org/drawingml/2006/main" prst="roundRect">
            <a:avLst>
              <a:gd name="adj" fmla="val 1230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3E8"/>
            </a:solidFill>
            <a:prstDash val="solid"/>
          </a:ln>
        </p:spPr>
      </p:sp>
      <p:sp>
        <p:nvSpPr>
          <p:cNvPr id="44" name="textbox-560">
            <a:extLst xmlns:a="http://schemas.openxmlformats.org/drawingml/2006/main">
              <a:ext uri="{FF2B5EF4-FFF2-40B4-BE49-F238E27FC236}">
                <a16:creationId xmlns:a16="http://schemas.microsoft.com/office/drawing/2014/main" id="{12092835-C4B6-4C3A-A937-3B8F389529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8800" y="2762250"/>
            <a:ext cx="11525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675" b="1">
                <a:solidFill>
                  <a:srgbClr val="6F7A89"/>
                </a:solidFill>
              </a:defRPr>
            </a:pPr>
            <a:r>
              <a:rPr sz="675" b="1">
                <a:solidFill>
                  <a:srgbClr val="6F7A89"/>
                </a:solidFill>
              </a:rPr>
              <a:t>Checks passed</a:t>
            </a:r>
          </a:p>
        </p:txBody>
      </p:sp>
      <p:sp>
        <p:nvSpPr>
          <p:cNvPr id="45" name="textbox-561">
            <a:extLst xmlns:a="http://schemas.openxmlformats.org/drawingml/2006/main">
              <a:ext uri="{FF2B5EF4-FFF2-40B4-BE49-F238E27FC236}">
                <a16:creationId xmlns:a16="http://schemas.microsoft.com/office/drawing/2014/main" id="{ED7D9DA6-90BA-4E74-ABC7-E44149434C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8800" y="2952750"/>
            <a:ext cx="11525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2E7D5B"/>
                </a:solidFill>
              </a:defRPr>
            </a:pPr>
            <a:r>
              <a:rPr sz="1350" b="1">
                <a:solidFill>
                  <a:srgbClr val="2E7D5B"/>
                </a:solidFill>
              </a:rPr>
              <a:t>18</a:t>
            </a:r>
          </a:p>
        </p:txBody>
      </p:sp>
      <p:sp>
        <p:nvSpPr>
          <p:cNvPr id="46" name="roundRect-562">
            <a:extLst xmlns:a="http://schemas.openxmlformats.org/drawingml/2006/main">
              <a:ext uri="{FF2B5EF4-FFF2-40B4-BE49-F238E27FC236}">
                <a16:creationId xmlns:a16="http://schemas.microsoft.com/office/drawing/2014/main" id="{52DDBF74-5F7D-4C0A-AA87-B0FE78569A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2686050"/>
            <a:ext cx="1381125" cy="619125"/>
          </a:xfrm>
          <a:prstGeom xmlns:a="http://schemas.openxmlformats.org/drawingml/2006/main" prst="roundRect">
            <a:avLst>
              <a:gd name="adj" fmla="val 1230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3E8"/>
            </a:solidFill>
            <a:prstDash val="solid"/>
          </a:ln>
        </p:spPr>
      </p:sp>
      <p:sp>
        <p:nvSpPr>
          <p:cNvPr id="47" name="textbox-563">
            <a:extLst xmlns:a="http://schemas.openxmlformats.org/drawingml/2006/main">
              <a:ext uri="{FF2B5EF4-FFF2-40B4-BE49-F238E27FC236}">
                <a16:creationId xmlns:a16="http://schemas.microsoft.com/office/drawing/2014/main" id="{4C58EE70-5C11-4558-959F-0F788078B0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15175" y="2762250"/>
            <a:ext cx="11525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675" b="1">
                <a:solidFill>
                  <a:srgbClr val="6F7A89"/>
                </a:solidFill>
              </a:defRPr>
            </a:pPr>
            <a:r>
              <a:rPr sz="675" b="1">
                <a:solidFill>
                  <a:srgbClr val="6F7A89"/>
                </a:solidFill>
              </a:rPr>
              <a:t>Failed</a:t>
            </a:r>
          </a:p>
        </p:txBody>
      </p:sp>
      <p:sp>
        <p:nvSpPr>
          <p:cNvPr id="48" name="textbox-564">
            <a:extLst xmlns:a="http://schemas.openxmlformats.org/drawingml/2006/main">
              <a:ext uri="{FF2B5EF4-FFF2-40B4-BE49-F238E27FC236}">
                <a16:creationId xmlns:a16="http://schemas.microsoft.com/office/drawing/2014/main" id="{EA469EA0-AAE0-42DD-A979-2EBC6009B9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15175" y="2952750"/>
            <a:ext cx="11525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2E7D5B"/>
                </a:solidFill>
              </a:defRPr>
            </a:pPr>
            <a:r>
              <a:rPr sz="1350" b="1">
                <a:solidFill>
                  <a:srgbClr val="2E7D5B"/>
                </a:solidFill>
              </a:rPr>
              <a:t>0</a:t>
            </a:r>
          </a:p>
        </p:txBody>
      </p:sp>
      <p:sp>
        <p:nvSpPr>
          <p:cNvPr id="49" name="roundRect-565">
            <a:extLst xmlns:a="http://schemas.openxmlformats.org/drawingml/2006/main">
              <a:ext uri="{FF2B5EF4-FFF2-40B4-BE49-F238E27FC236}">
                <a16:creationId xmlns:a16="http://schemas.microsoft.com/office/drawing/2014/main" id="{BB81B40C-9D6B-4B84-B1B9-77F8A2A49B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2686050"/>
            <a:ext cx="1381125" cy="619125"/>
          </a:xfrm>
          <a:prstGeom xmlns:a="http://schemas.openxmlformats.org/drawingml/2006/main" prst="roundRect">
            <a:avLst>
              <a:gd name="adj" fmla="val 1230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3E8"/>
            </a:solidFill>
            <a:prstDash val="solid"/>
          </a:ln>
        </p:spPr>
      </p:sp>
      <p:sp>
        <p:nvSpPr>
          <p:cNvPr id="50" name="textbox-566">
            <a:extLst xmlns:a="http://schemas.openxmlformats.org/drawingml/2006/main">
              <a:ext uri="{FF2B5EF4-FFF2-40B4-BE49-F238E27FC236}">
                <a16:creationId xmlns:a16="http://schemas.microsoft.com/office/drawing/2014/main" id="{7795FC1A-CA3A-4381-8BAD-28064AA31C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2762250"/>
            <a:ext cx="11525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675" b="1">
                <a:solidFill>
                  <a:srgbClr val="6F7A89"/>
                </a:solidFill>
              </a:defRPr>
            </a:pPr>
            <a:r>
              <a:rPr sz="675" b="1">
                <a:solidFill>
                  <a:srgbClr val="6F7A89"/>
                </a:solidFill>
              </a:rPr>
              <a:t>Not applicable</a:t>
            </a:r>
          </a:p>
        </p:txBody>
      </p:sp>
      <p:sp>
        <p:nvSpPr>
          <p:cNvPr id="51" name="textbox-567">
            <a:extLst xmlns:a="http://schemas.openxmlformats.org/drawingml/2006/main">
              <a:ext uri="{FF2B5EF4-FFF2-40B4-BE49-F238E27FC236}">
                <a16:creationId xmlns:a16="http://schemas.microsoft.com/office/drawing/2014/main" id="{4799F55C-9FB9-4280-880B-E2CF397687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2952750"/>
            <a:ext cx="11525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6F7A89"/>
                </a:solidFill>
              </a:defRPr>
            </a:pPr>
            <a:r>
              <a:rPr sz="1350" b="1">
                <a:solidFill>
                  <a:srgbClr val="6F7A89"/>
                </a:solidFill>
              </a:rPr>
              <a:t>2</a:t>
            </a:r>
          </a:p>
        </p:txBody>
      </p:sp>
      <p:sp>
        <p:nvSpPr>
          <p:cNvPr id="52" name="roundRect-568">
            <a:extLst xmlns:a="http://schemas.openxmlformats.org/drawingml/2006/main">
              <a:ext uri="{FF2B5EF4-FFF2-40B4-BE49-F238E27FC236}">
                <a16:creationId xmlns:a16="http://schemas.microsoft.com/office/drawing/2014/main" id="{3C2DBFD3-EDD8-4C8F-9DCB-EEC7EE0AB7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53625" y="2686050"/>
            <a:ext cx="1571625" cy="619125"/>
          </a:xfrm>
          <a:prstGeom xmlns:a="http://schemas.openxmlformats.org/drawingml/2006/main" prst="roundRect">
            <a:avLst>
              <a:gd name="adj" fmla="val 1230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3E8"/>
            </a:solidFill>
            <a:prstDash val="solid"/>
          </a:ln>
        </p:spPr>
      </p:sp>
      <p:sp>
        <p:nvSpPr>
          <p:cNvPr id="53" name="textbox-569">
            <a:extLst xmlns:a="http://schemas.openxmlformats.org/drawingml/2006/main">
              <a:ext uri="{FF2B5EF4-FFF2-40B4-BE49-F238E27FC236}">
                <a16:creationId xmlns:a16="http://schemas.microsoft.com/office/drawing/2014/main" id="{BCE1D89C-780A-4D1D-AF01-C4802CE5FA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67925" y="2762250"/>
            <a:ext cx="13430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675" b="1">
                <a:solidFill>
                  <a:srgbClr val="6F7A89"/>
                </a:solidFill>
              </a:defRPr>
            </a:pPr>
            <a:r>
              <a:rPr sz="675" b="1">
                <a:solidFill>
                  <a:srgbClr val="6F7A89"/>
                </a:solidFill>
              </a:rPr>
              <a:t>Invoice total</a:t>
            </a:r>
          </a:p>
        </p:txBody>
      </p:sp>
      <p:sp>
        <p:nvSpPr>
          <p:cNvPr id="54" name="textbox-570">
            <a:extLst xmlns:a="http://schemas.openxmlformats.org/drawingml/2006/main">
              <a:ext uri="{FF2B5EF4-FFF2-40B4-BE49-F238E27FC236}">
                <a16:creationId xmlns:a16="http://schemas.microsoft.com/office/drawing/2014/main" id="{F316390B-253A-4143-B5D7-765BA7C998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67925" y="2952750"/>
            <a:ext cx="13430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71B3D"/>
                </a:solidFill>
              </a:defRPr>
            </a:pPr>
            <a:r>
              <a:rPr sz="1350" b="1">
                <a:solidFill>
                  <a:srgbClr val="071B3D"/>
                </a:solidFill>
              </a:rPr>
              <a:t>£1,396.44</a:t>
            </a:r>
          </a:p>
        </p:txBody>
      </p:sp>
      <p:sp>
        <p:nvSpPr>
          <p:cNvPr id="55" name="roundRect-571">
            <a:extLst xmlns:a="http://schemas.openxmlformats.org/drawingml/2006/main">
              <a:ext uri="{FF2B5EF4-FFF2-40B4-BE49-F238E27FC236}">
                <a16:creationId xmlns:a16="http://schemas.microsoft.com/office/drawing/2014/main" id="{2D5635B6-0890-4F57-8FC8-DE505EA588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3486150"/>
            <a:ext cx="6000750" cy="2667000"/>
          </a:xfrm>
          <a:prstGeom xmlns:a="http://schemas.openxmlformats.org/drawingml/2006/main" prst="roundRect">
            <a:avLst>
              <a:gd name="adj" fmla="val 71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3E8"/>
            </a:solidFill>
            <a:prstDash val="solid"/>
          </a:ln>
        </p:spPr>
      </p:sp>
      <p:sp>
        <p:nvSpPr>
          <p:cNvPr id="56" name="rect-572">
            <a:extLst xmlns:a="http://schemas.openxmlformats.org/drawingml/2006/main">
              <a:ext uri="{FF2B5EF4-FFF2-40B4-BE49-F238E27FC236}">
                <a16:creationId xmlns:a16="http://schemas.microsoft.com/office/drawing/2014/main" id="{D0EDF732-E31F-4856-BE13-4CC24836F6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3486150"/>
            <a:ext cx="6000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4F6"/>
          </a:solidFill>
          <a:ln xmlns:a="http://schemas.openxmlformats.org/drawingml/2006/main" w="0">
            <a:solidFill>
              <a:srgbClr val="F1F4F6"/>
            </a:solidFill>
            <a:prstDash val="solid"/>
          </a:ln>
        </p:spPr>
      </p:sp>
      <p:sp>
        <p:nvSpPr>
          <p:cNvPr id="57" name="textbox-573">
            <a:extLst xmlns:a="http://schemas.openxmlformats.org/drawingml/2006/main">
              <a:ext uri="{FF2B5EF4-FFF2-40B4-BE49-F238E27FC236}">
                <a16:creationId xmlns:a16="http://schemas.microsoft.com/office/drawing/2014/main" id="{FA83D69D-6636-4559-B015-0B0D7BAFB7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1650" y="3533775"/>
            <a:ext cx="1981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638" b="1">
                <a:solidFill>
                  <a:srgbClr val="465365"/>
                </a:solidFill>
              </a:defRPr>
            </a:pPr>
            <a:r>
              <a:rPr sz="638" b="1">
                <a:solidFill>
                  <a:srgbClr val="465365"/>
                </a:solidFill>
              </a:rPr>
              <a:t>Check</a:t>
            </a:r>
          </a:p>
        </p:txBody>
      </p:sp>
      <p:sp>
        <p:nvSpPr>
          <p:cNvPr id="58" name="rect-574">
            <a:extLst xmlns:a="http://schemas.openxmlformats.org/drawingml/2006/main">
              <a:ext uri="{FF2B5EF4-FFF2-40B4-BE49-F238E27FC236}">
                <a16:creationId xmlns:a16="http://schemas.microsoft.com/office/drawing/2014/main" id="{C72844FD-8065-4794-A507-F0D09FAED3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3486150"/>
            <a:ext cx="9525" cy="266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3E8"/>
          </a:solidFill>
          <a:ln xmlns:a="http://schemas.openxmlformats.org/drawingml/2006/main" w="0">
            <a:solidFill>
              <a:srgbClr val="DDE3E8"/>
            </a:solidFill>
            <a:prstDash val="solid"/>
          </a:ln>
        </p:spPr>
      </p:sp>
      <p:sp>
        <p:nvSpPr>
          <p:cNvPr id="59" name="textbox-575">
            <a:extLst xmlns:a="http://schemas.openxmlformats.org/drawingml/2006/main">
              <a:ext uri="{FF2B5EF4-FFF2-40B4-BE49-F238E27FC236}">
                <a16:creationId xmlns:a16="http://schemas.microsoft.com/office/drawing/2014/main" id="{0CD3AA48-BAAA-4D6B-96F4-AE3CE61812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7150" y="3533775"/>
            <a:ext cx="26479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638" b="1">
                <a:solidFill>
                  <a:srgbClr val="465365"/>
                </a:solidFill>
              </a:defRPr>
            </a:pPr>
            <a:r>
              <a:rPr sz="638" b="1">
                <a:solidFill>
                  <a:srgbClr val="465365"/>
                </a:solidFill>
              </a:rPr>
              <a:t>Rule</a:t>
            </a:r>
          </a:p>
        </p:txBody>
      </p:sp>
      <p:sp>
        <p:nvSpPr>
          <p:cNvPr id="60" name="rect-576">
            <a:extLst xmlns:a="http://schemas.openxmlformats.org/drawingml/2006/main">
              <a:ext uri="{FF2B5EF4-FFF2-40B4-BE49-F238E27FC236}">
                <a16:creationId xmlns:a16="http://schemas.microsoft.com/office/drawing/2014/main" id="{8C419F1C-899A-4501-939B-4BE04021AA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3486150"/>
            <a:ext cx="9525" cy="266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3E8"/>
          </a:solidFill>
          <a:ln xmlns:a="http://schemas.openxmlformats.org/drawingml/2006/main" w="0">
            <a:solidFill>
              <a:srgbClr val="DDE3E8"/>
            </a:solidFill>
            <a:prstDash val="solid"/>
          </a:ln>
        </p:spPr>
      </p:sp>
      <p:sp>
        <p:nvSpPr>
          <p:cNvPr id="61" name="textbox-577">
            <a:extLst xmlns:a="http://schemas.openxmlformats.org/drawingml/2006/main">
              <a:ext uri="{FF2B5EF4-FFF2-40B4-BE49-F238E27FC236}">
                <a16:creationId xmlns:a16="http://schemas.microsoft.com/office/drawing/2014/main" id="{C7A9034C-9674-444A-9766-D369BEFAAE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39400" y="3533775"/>
            <a:ext cx="10287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638" b="1">
                <a:solidFill>
                  <a:srgbClr val="465365"/>
                </a:solidFill>
              </a:defRPr>
            </a:pPr>
            <a:r>
              <a:rPr sz="638" b="1">
                <a:solidFill>
                  <a:srgbClr val="465365"/>
                </a:solidFill>
              </a:rPr>
              <a:t>Result</a:t>
            </a:r>
          </a:p>
        </p:txBody>
      </p:sp>
      <p:sp>
        <p:nvSpPr>
          <p:cNvPr id="62" name="rect-578">
            <a:extLst xmlns:a="http://schemas.openxmlformats.org/drawingml/2006/main">
              <a:ext uri="{FF2B5EF4-FFF2-40B4-BE49-F238E27FC236}">
                <a16:creationId xmlns:a16="http://schemas.microsoft.com/office/drawing/2014/main" id="{E567A686-8B93-4542-9B25-347E599B58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3752850"/>
            <a:ext cx="6000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3E8"/>
          </a:solidFill>
          <a:ln xmlns:a="http://schemas.openxmlformats.org/drawingml/2006/main" w="0">
            <a:solidFill>
              <a:srgbClr val="DDE3E8"/>
            </a:solidFill>
            <a:prstDash val="solid"/>
          </a:ln>
        </p:spPr>
      </p:sp>
      <p:sp>
        <p:nvSpPr>
          <p:cNvPr id="63" name="textbox-579">
            <a:extLst xmlns:a="http://schemas.openxmlformats.org/drawingml/2006/main">
              <a:ext uri="{FF2B5EF4-FFF2-40B4-BE49-F238E27FC236}">
                <a16:creationId xmlns:a16="http://schemas.microsoft.com/office/drawing/2014/main" id="{E0050B8F-42A1-4902-870A-EB73655511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1650" y="3790950"/>
            <a:ext cx="1981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675" b="1">
                <a:solidFill>
                  <a:srgbClr val="132238"/>
                </a:solidFill>
              </a:defRPr>
            </a:pPr>
            <a:r>
              <a:rPr sz="675" b="1">
                <a:solidFill>
                  <a:srgbClr val="132238"/>
                </a:solidFill>
              </a:rPr>
              <a:t>Quantity × unit price</a:t>
            </a:r>
          </a:p>
        </p:txBody>
      </p:sp>
      <p:sp>
        <p:nvSpPr>
          <p:cNvPr id="64" name="textbox-580">
            <a:extLst xmlns:a="http://schemas.openxmlformats.org/drawingml/2006/main">
              <a:ext uri="{FF2B5EF4-FFF2-40B4-BE49-F238E27FC236}">
                <a16:creationId xmlns:a16="http://schemas.microsoft.com/office/drawing/2014/main" id="{3FA4997E-C860-49E5-AF34-CA2CE754A6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7150" y="3790950"/>
            <a:ext cx="2647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675" b="0">
                <a:solidFill>
                  <a:srgbClr val="132238"/>
                </a:solidFill>
              </a:defRPr>
            </a:pPr>
            <a:r>
              <a:rPr sz="675" b="0">
                <a:solidFill>
                  <a:srgbClr val="132238"/>
                </a:solidFill>
              </a:rPr>
              <a:t>Line totals reconcile</a:t>
            </a:r>
          </a:p>
        </p:txBody>
      </p:sp>
      <p:sp>
        <p:nvSpPr>
          <p:cNvPr id="65" name="textbox-581">
            <a:extLst xmlns:a="http://schemas.openxmlformats.org/drawingml/2006/main">
              <a:ext uri="{FF2B5EF4-FFF2-40B4-BE49-F238E27FC236}">
                <a16:creationId xmlns:a16="http://schemas.microsoft.com/office/drawing/2014/main" id="{4D879901-9129-41CA-82FA-E78A793814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39400" y="3790950"/>
            <a:ext cx="1028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675" b="1">
                <a:solidFill>
                  <a:srgbClr val="2E7D5B"/>
                </a:solidFill>
              </a:defRPr>
            </a:pPr>
            <a:r>
              <a:rPr sz="675" b="1">
                <a:solidFill>
                  <a:srgbClr val="2E7D5B"/>
                </a:solidFill>
              </a:rPr>
              <a:t>Pass</a:t>
            </a:r>
          </a:p>
        </p:txBody>
      </p:sp>
      <p:sp>
        <p:nvSpPr>
          <p:cNvPr id="66" name="rect-582">
            <a:extLst xmlns:a="http://schemas.openxmlformats.org/drawingml/2006/main">
              <a:ext uri="{FF2B5EF4-FFF2-40B4-BE49-F238E27FC236}">
                <a16:creationId xmlns:a16="http://schemas.microsoft.com/office/drawing/2014/main" id="{D63F2D30-B8A3-4492-A2B8-AC8CB58F3D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4152900"/>
            <a:ext cx="6000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3E8"/>
          </a:solidFill>
          <a:ln xmlns:a="http://schemas.openxmlformats.org/drawingml/2006/main" w="0">
            <a:solidFill>
              <a:srgbClr val="DDE3E8"/>
            </a:solidFill>
            <a:prstDash val="solid"/>
          </a:ln>
        </p:spPr>
      </p:sp>
      <p:sp>
        <p:nvSpPr>
          <p:cNvPr id="67" name="textbox-583">
            <a:extLst xmlns:a="http://schemas.openxmlformats.org/drawingml/2006/main">
              <a:ext uri="{FF2B5EF4-FFF2-40B4-BE49-F238E27FC236}">
                <a16:creationId xmlns:a16="http://schemas.microsoft.com/office/drawing/2014/main" id="{5C1CC89B-536F-49A7-8582-65162245DC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1650" y="4191000"/>
            <a:ext cx="1981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675" b="1">
                <a:solidFill>
                  <a:srgbClr val="132238"/>
                </a:solidFill>
              </a:defRPr>
            </a:pPr>
            <a:r>
              <a:rPr sz="675" b="1">
                <a:solidFill>
                  <a:srgbClr val="132238"/>
                </a:solidFill>
              </a:rPr>
              <a:t>Parts subtotal</a:t>
            </a:r>
          </a:p>
        </p:txBody>
      </p:sp>
      <p:sp>
        <p:nvSpPr>
          <p:cNvPr id="68" name="textbox-584">
            <a:extLst xmlns:a="http://schemas.openxmlformats.org/drawingml/2006/main">
              <a:ext uri="{FF2B5EF4-FFF2-40B4-BE49-F238E27FC236}">
                <a16:creationId xmlns:a16="http://schemas.microsoft.com/office/drawing/2014/main" id="{0D0DBEF4-5D01-4208-A7DB-5201BAD6EA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7150" y="4191000"/>
            <a:ext cx="2647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675" b="0">
                <a:solidFill>
                  <a:srgbClr val="132238"/>
                </a:solidFill>
              </a:defRPr>
            </a:pPr>
            <a:r>
              <a:rPr sz="675" b="0">
                <a:solidFill>
                  <a:srgbClr val="132238"/>
                </a:solidFill>
              </a:rPr>
              <a:t>Sum of parts lines</a:t>
            </a:r>
          </a:p>
        </p:txBody>
      </p:sp>
      <p:sp>
        <p:nvSpPr>
          <p:cNvPr id="69" name="textbox-585">
            <a:extLst xmlns:a="http://schemas.openxmlformats.org/drawingml/2006/main">
              <a:ext uri="{FF2B5EF4-FFF2-40B4-BE49-F238E27FC236}">
                <a16:creationId xmlns:a16="http://schemas.microsoft.com/office/drawing/2014/main" id="{C4B8507A-9B9F-40E5-BC00-85DB30648C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39400" y="4191000"/>
            <a:ext cx="1028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675" b="1">
                <a:solidFill>
                  <a:srgbClr val="2E7D5B"/>
                </a:solidFill>
              </a:defRPr>
            </a:pPr>
            <a:r>
              <a:rPr sz="675" b="1">
                <a:solidFill>
                  <a:srgbClr val="2E7D5B"/>
                </a:solidFill>
              </a:rPr>
              <a:t>Pass</a:t>
            </a:r>
          </a:p>
        </p:txBody>
      </p:sp>
      <p:sp>
        <p:nvSpPr>
          <p:cNvPr id="70" name="rect-586">
            <a:extLst xmlns:a="http://schemas.openxmlformats.org/drawingml/2006/main">
              <a:ext uri="{FF2B5EF4-FFF2-40B4-BE49-F238E27FC236}">
                <a16:creationId xmlns:a16="http://schemas.microsoft.com/office/drawing/2014/main" id="{1F93E35C-69A7-48BA-AB42-1E9A5081C9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4552950"/>
            <a:ext cx="6000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3E8"/>
          </a:solidFill>
          <a:ln xmlns:a="http://schemas.openxmlformats.org/drawingml/2006/main" w="0">
            <a:solidFill>
              <a:srgbClr val="DDE3E8"/>
            </a:solidFill>
            <a:prstDash val="solid"/>
          </a:ln>
        </p:spPr>
      </p:sp>
      <p:sp>
        <p:nvSpPr>
          <p:cNvPr id="71" name="textbox-587">
            <a:extLst xmlns:a="http://schemas.openxmlformats.org/drawingml/2006/main">
              <a:ext uri="{FF2B5EF4-FFF2-40B4-BE49-F238E27FC236}">
                <a16:creationId xmlns:a16="http://schemas.microsoft.com/office/drawing/2014/main" id="{646EC2E9-CEB8-4742-960F-F0B23A6BC8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1650" y="4591050"/>
            <a:ext cx="1981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675" b="1">
                <a:solidFill>
                  <a:srgbClr val="132238"/>
                </a:solidFill>
              </a:defRPr>
            </a:pPr>
            <a:r>
              <a:rPr sz="675" b="1">
                <a:solidFill>
                  <a:srgbClr val="132238"/>
                </a:solidFill>
              </a:rPr>
              <a:t>Labour subtotal</a:t>
            </a:r>
          </a:p>
        </p:txBody>
      </p:sp>
      <p:sp>
        <p:nvSpPr>
          <p:cNvPr id="72" name="textbox-588">
            <a:extLst xmlns:a="http://schemas.openxmlformats.org/drawingml/2006/main">
              <a:ext uri="{FF2B5EF4-FFF2-40B4-BE49-F238E27FC236}">
                <a16:creationId xmlns:a16="http://schemas.microsoft.com/office/drawing/2014/main" id="{6C1F495A-7FA3-433D-BC9F-BDEC760860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7150" y="4591050"/>
            <a:ext cx="2647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675" b="0">
                <a:solidFill>
                  <a:srgbClr val="132238"/>
                </a:solidFill>
              </a:defRPr>
            </a:pPr>
            <a:r>
              <a:rPr sz="675" b="0">
                <a:solidFill>
                  <a:srgbClr val="132238"/>
                </a:solidFill>
              </a:rPr>
              <a:t>Sum of labour lines</a:t>
            </a:r>
          </a:p>
        </p:txBody>
      </p:sp>
      <p:sp>
        <p:nvSpPr>
          <p:cNvPr id="73" name="textbox-589">
            <a:extLst xmlns:a="http://schemas.openxmlformats.org/drawingml/2006/main">
              <a:ext uri="{FF2B5EF4-FFF2-40B4-BE49-F238E27FC236}">
                <a16:creationId xmlns:a16="http://schemas.microsoft.com/office/drawing/2014/main" id="{236B6990-5797-44ED-8E70-5240F00956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39400" y="4591050"/>
            <a:ext cx="1028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675" b="1">
                <a:solidFill>
                  <a:srgbClr val="2E7D5B"/>
                </a:solidFill>
              </a:defRPr>
            </a:pPr>
            <a:r>
              <a:rPr sz="675" b="1">
                <a:solidFill>
                  <a:srgbClr val="2E7D5B"/>
                </a:solidFill>
              </a:rPr>
              <a:t>Pass</a:t>
            </a:r>
          </a:p>
        </p:txBody>
      </p:sp>
      <p:sp>
        <p:nvSpPr>
          <p:cNvPr id="74" name="rect-590">
            <a:extLst xmlns:a="http://schemas.openxmlformats.org/drawingml/2006/main">
              <a:ext uri="{FF2B5EF4-FFF2-40B4-BE49-F238E27FC236}">
                <a16:creationId xmlns:a16="http://schemas.microsoft.com/office/drawing/2014/main" id="{0C9ABD93-1EC7-44A0-8B9F-AC446AF73D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4953000"/>
            <a:ext cx="6000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3E8"/>
          </a:solidFill>
          <a:ln xmlns:a="http://schemas.openxmlformats.org/drawingml/2006/main" w="0">
            <a:solidFill>
              <a:srgbClr val="DDE3E8"/>
            </a:solidFill>
            <a:prstDash val="solid"/>
          </a:ln>
        </p:spPr>
      </p:sp>
      <p:sp>
        <p:nvSpPr>
          <p:cNvPr id="75" name="textbox-591">
            <a:extLst xmlns:a="http://schemas.openxmlformats.org/drawingml/2006/main">
              <a:ext uri="{FF2B5EF4-FFF2-40B4-BE49-F238E27FC236}">
                <a16:creationId xmlns:a16="http://schemas.microsoft.com/office/drawing/2014/main" id="{FD6D62D5-2887-4D7F-B693-BD3E94CBC8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1650" y="4991100"/>
            <a:ext cx="1981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675" b="1">
                <a:solidFill>
                  <a:srgbClr val="132238"/>
                </a:solidFill>
              </a:defRPr>
            </a:pPr>
            <a:r>
              <a:rPr sz="675" b="1">
                <a:solidFill>
                  <a:srgbClr val="132238"/>
                </a:solidFill>
              </a:rPr>
              <a:t>VAT treatment</a:t>
            </a:r>
          </a:p>
        </p:txBody>
      </p:sp>
      <p:sp>
        <p:nvSpPr>
          <p:cNvPr id="76" name="textbox-592">
            <a:extLst xmlns:a="http://schemas.openxmlformats.org/drawingml/2006/main">
              <a:ext uri="{FF2B5EF4-FFF2-40B4-BE49-F238E27FC236}">
                <a16:creationId xmlns:a16="http://schemas.microsoft.com/office/drawing/2014/main" id="{42879002-3BD3-4F1F-AB4D-E525514CC9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7150" y="4991100"/>
            <a:ext cx="2647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675" b="0">
                <a:solidFill>
                  <a:srgbClr val="132238"/>
                </a:solidFill>
              </a:defRPr>
            </a:pPr>
            <a:r>
              <a:rPr sz="675" b="0">
                <a:solidFill>
                  <a:srgbClr val="132238"/>
                </a:solidFill>
              </a:rPr>
              <a:t>MOT excluded from VAT</a:t>
            </a:r>
          </a:p>
        </p:txBody>
      </p:sp>
      <p:sp>
        <p:nvSpPr>
          <p:cNvPr id="77" name="textbox-593">
            <a:extLst xmlns:a="http://schemas.openxmlformats.org/drawingml/2006/main">
              <a:ext uri="{FF2B5EF4-FFF2-40B4-BE49-F238E27FC236}">
                <a16:creationId xmlns:a16="http://schemas.microsoft.com/office/drawing/2014/main" id="{BAB28C80-E5A3-47FF-B7D5-3350926A51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39400" y="4991100"/>
            <a:ext cx="1028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675" b="1">
                <a:solidFill>
                  <a:srgbClr val="2E7D5B"/>
                </a:solidFill>
              </a:defRPr>
            </a:pPr>
            <a:r>
              <a:rPr sz="675" b="1">
                <a:solidFill>
                  <a:srgbClr val="2E7D5B"/>
                </a:solidFill>
              </a:rPr>
              <a:t>Pass</a:t>
            </a:r>
          </a:p>
        </p:txBody>
      </p:sp>
      <p:sp>
        <p:nvSpPr>
          <p:cNvPr id="78" name="rect-594">
            <a:extLst xmlns:a="http://schemas.openxmlformats.org/drawingml/2006/main">
              <a:ext uri="{FF2B5EF4-FFF2-40B4-BE49-F238E27FC236}">
                <a16:creationId xmlns:a16="http://schemas.microsoft.com/office/drawing/2014/main" id="{C46E3CD8-39D7-4FC1-BB0D-D38CDE664B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5353050"/>
            <a:ext cx="6000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3E8"/>
          </a:solidFill>
          <a:ln xmlns:a="http://schemas.openxmlformats.org/drawingml/2006/main" w="0">
            <a:solidFill>
              <a:srgbClr val="DDE3E8"/>
            </a:solidFill>
            <a:prstDash val="solid"/>
          </a:ln>
        </p:spPr>
      </p:sp>
      <p:sp>
        <p:nvSpPr>
          <p:cNvPr id="79" name="textbox-595">
            <a:extLst xmlns:a="http://schemas.openxmlformats.org/drawingml/2006/main">
              <a:ext uri="{FF2B5EF4-FFF2-40B4-BE49-F238E27FC236}">
                <a16:creationId xmlns:a16="http://schemas.microsoft.com/office/drawing/2014/main" id="{4B3BECD0-7341-4458-99D6-C11396180E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1650" y="5391150"/>
            <a:ext cx="1981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675" b="1">
                <a:solidFill>
                  <a:srgbClr val="132238"/>
                </a:solidFill>
              </a:defRPr>
            </a:pPr>
            <a:r>
              <a:rPr sz="675" b="1">
                <a:solidFill>
                  <a:srgbClr val="132238"/>
                </a:solidFill>
              </a:rPr>
              <a:t>Invoice gross total</a:t>
            </a:r>
          </a:p>
        </p:txBody>
      </p:sp>
      <p:sp>
        <p:nvSpPr>
          <p:cNvPr id="80" name="textbox-596">
            <a:extLst xmlns:a="http://schemas.openxmlformats.org/drawingml/2006/main">
              <a:ext uri="{FF2B5EF4-FFF2-40B4-BE49-F238E27FC236}">
                <a16:creationId xmlns:a16="http://schemas.microsoft.com/office/drawing/2014/main" id="{6D5C02FF-D221-4774-AD37-1CCB6E3E20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7150" y="5391150"/>
            <a:ext cx="2647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675" b="0">
                <a:solidFill>
                  <a:srgbClr val="132238"/>
                </a:solidFill>
              </a:defRPr>
            </a:pPr>
            <a:r>
              <a:rPr sz="675" b="0">
                <a:solidFill>
                  <a:srgbClr val="132238"/>
                </a:solidFill>
              </a:rPr>
              <a:t>Net + VAT matches total</a:t>
            </a:r>
          </a:p>
        </p:txBody>
      </p:sp>
      <p:sp>
        <p:nvSpPr>
          <p:cNvPr id="81" name="textbox-597">
            <a:extLst xmlns:a="http://schemas.openxmlformats.org/drawingml/2006/main">
              <a:ext uri="{FF2B5EF4-FFF2-40B4-BE49-F238E27FC236}">
                <a16:creationId xmlns:a16="http://schemas.microsoft.com/office/drawing/2014/main" id="{2E498851-5088-488C-9DB3-69DF076930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39400" y="5391150"/>
            <a:ext cx="1028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675" b="1">
                <a:solidFill>
                  <a:srgbClr val="2E7D5B"/>
                </a:solidFill>
              </a:defRPr>
            </a:pPr>
            <a:r>
              <a:rPr sz="675" b="1">
                <a:solidFill>
                  <a:srgbClr val="2E7D5B"/>
                </a:solidFill>
              </a:rPr>
              <a:t>Pass</a:t>
            </a:r>
          </a:p>
        </p:txBody>
      </p:sp>
      <p:sp>
        <p:nvSpPr>
          <p:cNvPr id="82" name="rect-598">
            <a:extLst xmlns:a="http://schemas.openxmlformats.org/drawingml/2006/main">
              <a:ext uri="{FF2B5EF4-FFF2-40B4-BE49-F238E27FC236}">
                <a16:creationId xmlns:a16="http://schemas.microsoft.com/office/drawing/2014/main" id="{C02A589D-6C20-4766-9CC8-D2B732540F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5753100"/>
            <a:ext cx="6000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3E8"/>
          </a:solidFill>
          <a:ln xmlns:a="http://schemas.openxmlformats.org/drawingml/2006/main" w="0">
            <a:solidFill>
              <a:srgbClr val="DDE3E8"/>
            </a:solidFill>
            <a:prstDash val="solid"/>
          </a:ln>
        </p:spPr>
      </p:sp>
      <p:sp>
        <p:nvSpPr>
          <p:cNvPr id="83" name="textbox-599">
            <a:extLst xmlns:a="http://schemas.openxmlformats.org/drawingml/2006/main">
              <a:ext uri="{FF2B5EF4-FFF2-40B4-BE49-F238E27FC236}">
                <a16:creationId xmlns:a16="http://schemas.microsoft.com/office/drawing/2014/main" id="{BDDCC0C4-85CC-405E-A669-DA468F4D5D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1650" y="5791200"/>
            <a:ext cx="1981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675" b="1">
                <a:solidFill>
                  <a:srgbClr val="132238"/>
                </a:solidFill>
              </a:defRPr>
            </a:pPr>
            <a:r>
              <a:rPr sz="675" b="1">
                <a:solidFill>
                  <a:srgbClr val="132238"/>
                </a:solidFill>
              </a:rPr>
              <a:t>Discount allocation</a:t>
            </a:r>
          </a:p>
        </p:txBody>
      </p:sp>
      <p:sp>
        <p:nvSpPr>
          <p:cNvPr id="84" name="textbox-600">
            <a:extLst xmlns:a="http://schemas.openxmlformats.org/drawingml/2006/main">
              <a:ext uri="{FF2B5EF4-FFF2-40B4-BE49-F238E27FC236}">
                <a16:creationId xmlns:a16="http://schemas.microsoft.com/office/drawing/2014/main" id="{C5693EE9-E9F7-478C-87C3-A7DCD34A15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7150" y="5791200"/>
            <a:ext cx="2647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675" b="0">
                <a:solidFill>
                  <a:srgbClr val="132238"/>
                </a:solidFill>
              </a:defRPr>
            </a:pPr>
            <a:r>
              <a:rPr sz="675" b="0">
                <a:solidFill>
                  <a:srgbClr val="132238"/>
                </a:solidFill>
              </a:rPr>
              <a:t>No discount supplied</a:t>
            </a:r>
          </a:p>
        </p:txBody>
      </p:sp>
      <p:sp>
        <p:nvSpPr>
          <p:cNvPr id="85" name="textbox-601">
            <a:extLst xmlns:a="http://schemas.openxmlformats.org/drawingml/2006/main">
              <a:ext uri="{FF2B5EF4-FFF2-40B4-BE49-F238E27FC236}">
                <a16:creationId xmlns:a16="http://schemas.microsoft.com/office/drawing/2014/main" id="{DF0E5502-495C-42E0-8CF0-9BB15F8330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39400" y="5791200"/>
            <a:ext cx="1028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675" b="1">
                <a:solidFill>
                  <a:srgbClr val="132238"/>
                </a:solidFill>
              </a:defRPr>
            </a:pPr>
            <a:r>
              <a:rPr sz="675" b="1">
                <a:solidFill>
                  <a:srgbClr val="132238"/>
                </a:solidFill>
              </a:rPr>
              <a:t>N/A</a:t>
            </a:r>
          </a:p>
        </p:txBody>
      </p:sp>
      <p:sp>
        <p:nvSpPr>
          <p:cNvPr id="86" name="roundRect-602">
            <a:extLst xmlns:a="http://schemas.openxmlformats.org/drawingml/2006/main">
              <a:ext uri="{FF2B5EF4-FFF2-40B4-BE49-F238E27FC236}">
                <a16:creationId xmlns:a16="http://schemas.microsoft.com/office/drawing/2014/main" id="{17DE382F-9B3C-46ED-ADA4-C45886F0BB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6057900"/>
            <a:ext cx="6000750" cy="36195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EFF7EC"/>
          </a:solidFill>
          <a:ln xmlns:a="http://schemas.openxmlformats.org/drawingml/2006/main" w="9525">
            <a:solidFill>
              <a:srgbClr val="2E7D5B"/>
            </a:solidFill>
            <a:prstDash val="solid"/>
          </a:ln>
        </p:spPr>
      </p:sp>
      <p:sp>
        <p:nvSpPr>
          <p:cNvPr id="87" name="textbox-603">
            <a:extLst xmlns:a="http://schemas.openxmlformats.org/drawingml/2006/main">
              <a:ext uri="{FF2B5EF4-FFF2-40B4-BE49-F238E27FC236}">
                <a16:creationId xmlns:a16="http://schemas.microsoft.com/office/drawing/2014/main" id="{40F3C620-C384-4D5D-998D-6CEC854E06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95950" y="6124575"/>
            <a:ext cx="5657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2E7D5B"/>
                </a:solidFill>
              </a:defRPr>
            </a:pPr>
            <a:r>
              <a:rPr sz="825" b="1">
                <a:solidFill>
                  <a:srgbClr val="2E7D5B"/>
                </a:solidFill>
              </a:rPr>
              <a:t>Invoice 9407: 18 passed, 0 calculation failures.</a:t>
            </a:r>
          </a:p>
        </p:txBody>
      </p:sp>
    </p:spTree>
    <p:extLst>
      <p:ext uri="{BB962C8B-B14F-4D97-AF65-F5344CB8AC3E}">
        <p14:creationId xmlns:p14="http://schemas.microsoft.com/office/powerpoint/2010/main" val="474550523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CFB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eyebrow-10">
            <a:extLst xmlns:a="http://schemas.openxmlformats.org/drawingml/2006/main">
              <a:ext uri="{FF2B5EF4-FFF2-40B4-BE49-F238E27FC236}">
                <a16:creationId xmlns:a16="http://schemas.microsoft.com/office/drawing/2014/main" id="{92BD8CC5-0134-4D59-B58B-E960739C88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47650"/>
            <a:ext cx="285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975" b="1">
                <a:solidFill>
                  <a:srgbClr val="0B8687"/>
                </a:solidFill>
              </a:defRPr>
            </a:pPr>
            <a:r>
              <a:rPr sz="975" b="1">
                <a:solidFill>
                  <a:srgbClr val="0B8687"/>
                </a:solidFill>
              </a:rPr>
              <a:t>LIVE PRODUCT EVIDENCE</a:t>
            </a:r>
          </a:p>
        </p:txBody>
      </p:sp>
      <p:sp>
        <p:nvSpPr>
          <p:cNvPr id="2" name="title-10">
            <a:extLst xmlns:a="http://schemas.openxmlformats.org/drawingml/2006/main">
              <a:ext uri="{FF2B5EF4-FFF2-40B4-BE49-F238E27FC236}">
                <a16:creationId xmlns:a16="http://schemas.microsoft.com/office/drawing/2014/main" id="{231959FA-E5C6-4E94-A350-F25F41ADD0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95300"/>
            <a:ext cx="11049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3150" b="1">
                <a:solidFill>
                  <a:srgbClr val="071B3D"/>
                </a:solidFill>
              </a:defRPr>
            </a:pPr>
            <a:r>
              <a:rPr sz="3150" b="1">
                <a:solidFill>
                  <a:srgbClr val="071B3D"/>
                </a:solidFill>
              </a:rPr>
              <a:t>Different descriptions map to one repair item</a:t>
            </a:r>
          </a:p>
        </p:txBody>
      </p:sp>
      <p:sp>
        <p:nvSpPr>
          <p:cNvPr id="3" name="subtitle-10">
            <a:extLst xmlns:a="http://schemas.openxmlformats.org/drawingml/2006/main">
              <a:ext uri="{FF2B5EF4-FFF2-40B4-BE49-F238E27FC236}">
                <a16:creationId xmlns:a16="http://schemas.microsoft.com/office/drawing/2014/main" id="{90702894-888D-4804-9ABE-E2B8FE3569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028700"/>
            <a:ext cx="10763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350">
                <a:solidFill>
                  <a:srgbClr val="6F7A89"/>
                </a:solidFill>
              </a:defRPr>
            </a:pPr>
            <a:r>
              <a:rPr sz="1350">
                <a:solidFill>
                  <a:srgbClr val="6F7A89"/>
                </a:solidFill>
              </a:rPr>
              <a:t>Governed normalisation creates the consistent categories required for fair benchmarking.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9ED38E7-63CF-46ED-BD63-F23FA77804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362075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3E8"/>
          </a:solidFill>
          <a:ln xmlns:a="http://schemas.openxmlformats.org/drawingml/2006/main" w="0">
            <a:solidFill>
              <a:srgbClr val="DDE3E8"/>
            </a:solidFill>
            <a:prstDash val="solid"/>
          </a:ln>
        </p:spPr>
      </p:sp>
      <p:sp>
        <p:nvSpPr>
          <p:cNvPr id="5" name="page-10">
            <a:extLst xmlns:a="http://schemas.openxmlformats.org/drawingml/2006/main">
              <a:ext uri="{FF2B5EF4-FFF2-40B4-BE49-F238E27FC236}">
                <a16:creationId xmlns:a16="http://schemas.microsoft.com/office/drawing/2014/main" id="{017C848C-846C-4C6E-9F1D-C25308B0E3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0" y="6477000"/>
            <a:ext cx="3048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900" b="1">
                <a:solidFill>
                  <a:srgbClr val="6F7A89"/>
                </a:solidFill>
              </a:defRPr>
            </a:pPr>
            <a:r>
              <a:rPr sz="900" b="1">
                <a:solidFill>
                  <a:srgbClr val="6F7A89"/>
                </a:solidFill>
              </a:rPr>
              <a:t>10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2FE37D9-B450-4873-9D22-15F0C72CA9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752600"/>
            <a:ext cx="419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350" b="1">
                <a:solidFill>
                  <a:srgbClr val="0B8687"/>
                </a:solidFill>
              </a:defRPr>
            </a:pPr>
            <a:r>
              <a:rPr sz="1350" b="1">
                <a:solidFill>
                  <a:srgbClr val="0B8687"/>
                </a:solidFill>
              </a:rPr>
              <a:t>01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3233F72-CD9D-4FC2-A4D1-21583DBC11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866900"/>
            <a:ext cx="381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8687"/>
          </a:solidFill>
          <a:ln xmlns:a="http://schemas.openxmlformats.org/drawingml/2006/main" w="0">
            <a:solidFill>
              <a:srgbClr val="0B8687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7282EEB-4423-42DD-9F31-7DADF772A0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1733550"/>
            <a:ext cx="2571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725" b="1">
                <a:solidFill>
                  <a:srgbClr val="132238"/>
                </a:solidFill>
              </a:defRPr>
            </a:pPr>
            <a:r>
              <a:rPr sz="1725" b="1">
                <a:solidFill>
                  <a:srgbClr val="132238"/>
                </a:solidFill>
              </a:rPr>
              <a:t>Approved matches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001C166-8F30-4795-A71F-71E1781637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2076450"/>
            <a:ext cx="25527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75">
                <a:solidFill>
                  <a:srgbClr val="465365"/>
                </a:solidFill>
              </a:defRPr>
            </a:pPr>
            <a:r>
              <a:rPr sz="1275">
                <a:solidFill>
                  <a:srgbClr val="465365"/>
                </a:solidFill>
              </a:rPr>
              <a:t>High-confidence mappings are ready for price comparison.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0A57D58-47A7-4975-95F1-87D18E42F1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2971800"/>
            <a:ext cx="419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350" b="1">
                <a:solidFill>
                  <a:srgbClr val="0B8687"/>
                </a:solidFill>
              </a:defRPr>
            </a:pPr>
            <a:r>
              <a:rPr sz="1350" b="1">
                <a:solidFill>
                  <a:srgbClr val="0B8687"/>
                </a:solidFill>
              </a:rPr>
              <a:t>02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2303431-6651-451F-875F-22D934186F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086100"/>
            <a:ext cx="381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8687"/>
          </a:solidFill>
          <a:ln xmlns:a="http://schemas.openxmlformats.org/drawingml/2006/main" w="0">
            <a:solidFill>
              <a:srgbClr val="0B8687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52D3A55-D457-4597-94AC-28FF02C505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2952750"/>
            <a:ext cx="2571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725" b="1">
                <a:solidFill>
                  <a:srgbClr val="132238"/>
                </a:solidFill>
              </a:defRPr>
            </a:pPr>
            <a:r>
              <a:rPr sz="1725" b="1">
                <a:solidFill>
                  <a:srgbClr val="132238"/>
                </a:solidFill>
              </a:rPr>
              <a:t>Human review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D45D7A6-0461-4B8C-889E-BBFBB2B7A9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3295650"/>
            <a:ext cx="25527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75">
                <a:solidFill>
                  <a:srgbClr val="465365"/>
                </a:solidFill>
              </a:defRPr>
            </a:pPr>
            <a:r>
              <a:rPr sz="1275">
                <a:solidFill>
                  <a:srgbClr val="465365"/>
                </a:solidFill>
              </a:rPr>
              <a:t>The uncertain item stays visible for a handler decision.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C938865-9033-49B5-B7C7-D4670B6F93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4191000"/>
            <a:ext cx="419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350" b="1">
                <a:solidFill>
                  <a:srgbClr val="0B8687"/>
                </a:solidFill>
              </a:defRPr>
            </a:pPr>
            <a:r>
              <a:rPr sz="1350" b="1">
                <a:solidFill>
                  <a:srgbClr val="0B8687"/>
                </a:solidFill>
              </a:rPr>
              <a:t>03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65BB633-5B14-4CEF-85CB-B8A4D31195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305300"/>
            <a:ext cx="381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8687"/>
          </a:solidFill>
          <a:ln xmlns:a="http://schemas.openxmlformats.org/drawingml/2006/main" w="0">
            <a:solidFill>
              <a:srgbClr val="0B8687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B775033-DCFD-4A19-9A73-6C9A9C815A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4171950"/>
            <a:ext cx="2571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725" b="1">
                <a:solidFill>
                  <a:srgbClr val="132238"/>
                </a:solidFill>
              </a:defRPr>
            </a:pPr>
            <a:r>
              <a:rPr sz="1725" b="1">
                <a:solidFill>
                  <a:srgbClr val="132238"/>
                </a:solidFill>
              </a:rPr>
              <a:t>No guessed bundles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9CD64EA-16BD-4370-A08E-935E7575AC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4514850"/>
            <a:ext cx="25527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75">
                <a:solidFill>
                  <a:srgbClr val="465365"/>
                </a:solidFill>
              </a:defRPr>
            </a:pPr>
            <a:r>
              <a:rPr sz="1275">
                <a:solidFill>
                  <a:srgbClr val="465365"/>
                </a:solidFill>
              </a:rPr>
              <a:t>Unsafe price allocations are never split automatically.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92669AD-EA4C-447E-B563-C54FD0816A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753100"/>
            <a:ext cx="3562350" cy="62865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E8F4F2"/>
          </a:solidFill>
          <a:ln xmlns:a="http://schemas.openxmlformats.org/drawingml/2006/main" w="9525">
            <a:solidFill>
              <a:srgbClr val="0B8687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6A0DCB3-5B1B-4010-808C-01027EF5B8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886450"/>
            <a:ext cx="31813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75" b="1">
                <a:solidFill>
                  <a:srgbClr val="096C6D"/>
                </a:solidFill>
              </a:defRPr>
            </a:pPr>
            <a:r>
              <a:rPr sz="1275" b="1">
                <a:solidFill>
                  <a:srgbClr val="096C6D"/>
                </a:solidFill>
              </a:rPr>
              <a:t>Consistent mapping is the foundation of fair comparison.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B513AB7-F4D4-4FCD-A257-63F2DE0B4B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1504950"/>
            <a:ext cx="7600950" cy="5314950"/>
          </a:xfrm>
          <a:prstGeom xmlns:a="http://schemas.openxmlformats.org/drawingml/2006/main" prst="roundRect">
            <a:avLst>
              <a:gd name="adj" fmla="val 215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0B8687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6"/>
          <a:fontRef xmlns:a="http://schemas.openxmlformats.org/drawingml/2006/main" idx="major"/>
        </p:style>
      </p:sp>
      <p:sp>
        <p:nvSpPr>
          <p:cNvPr id="23" name="rect-604">
            <a:extLst xmlns:a="http://schemas.openxmlformats.org/drawingml/2006/main">
              <a:ext uri="{FF2B5EF4-FFF2-40B4-BE49-F238E27FC236}">
                <a16:creationId xmlns:a16="http://schemas.microsoft.com/office/drawing/2014/main" id="{7392CA70-B815-4719-9320-9FA24DDFE6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1562100"/>
            <a:ext cx="7486650" cy="5200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DDE3E8"/>
            </a:solidFill>
            <a:prstDash val="solid"/>
          </a:ln>
        </p:spPr>
      </p:sp>
      <p:sp>
        <p:nvSpPr>
          <p:cNvPr id="24" name="rect-605">
            <a:extLst xmlns:a="http://schemas.openxmlformats.org/drawingml/2006/main">
              <a:ext uri="{FF2B5EF4-FFF2-40B4-BE49-F238E27FC236}">
                <a16:creationId xmlns:a16="http://schemas.microsoft.com/office/drawing/2014/main" id="{5E5047F2-CC90-4A82-A8A0-AB69F44011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1562100"/>
            <a:ext cx="74866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7F8"/>
          </a:solidFill>
          <a:ln xmlns:a="http://schemas.openxmlformats.org/drawingml/2006/main" w="0">
            <a:solidFill>
              <a:srgbClr val="DDE3E8"/>
            </a:solidFill>
            <a:prstDash val="solid"/>
          </a:ln>
        </p:spPr>
      </p:sp>
      <p:sp>
        <p:nvSpPr>
          <p:cNvPr id="25" name="roundRect-606">
            <a:extLst xmlns:a="http://schemas.openxmlformats.org/drawingml/2006/main">
              <a:ext uri="{FF2B5EF4-FFF2-40B4-BE49-F238E27FC236}">
                <a16:creationId xmlns:a16="http://schemas.microsoft.com/office/drawing/2014/main" id="{E18D575E-5C3F-41D3-A3B9-76D8B85E2D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1628775"/>
            <a:ext cx="190500" cy="1905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071B3D"/>
          </a:solidFill>
          <a:ln xmlns:a="http://schemas.openxmlformats.org/drawingml/2006/main" w="9525">
            <a:solidFill>
              <a:srgbClr val="071B3D"/>
            </a:solidFill>
            <a:prstDash val="solid"/>
          </a:ln>
        </p:spPr>
      </p:sp>
      <p:sp>
        <p:nvSpPr>
          <p:cNvPr id="26" name="textbox-607">
            <a:extLst xmlns:a="http://schemas.openxmlformats.org/drawingml/2006/main">
              <a:ext uri="{FF2B5EF4-FFF2-40B4-BE49-F238E27FC236}">
                <a16:creationId xmlns:a16="http://schemas.microsoft.com/office/drawing/2014/main" id="{77A2EA56-F57E-46D6-99B9-2D2D1927CE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1638300"/>
            <a:ext cx="19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600" b="1">
                <a:solidFill>
                  <a:srgbClr val="FFFFFF"/>
                </a:solidFill>
              </a:defRPr>
            </a:pPr>
            <a:r>
              <a:rPr sz="600" b="1">
                <a:solidFill>
                  <a:srgbClr val="FFFFFF"/>
                </a:solidFill>
              </a:rPr>
              <a:t>CG</a:t>
            </a:r>
          </a:p>
        </p:txBody>
      </p:sp>
      <p:sp>
        <p:nvSpPr>
          <p:cNvPr id="27" name="textbox-608">
            <a:extLst xmlns:a="http://schemas.openxmlformats.org/drawingml/2006/main">
              <a:ext uri="{FF2B5EF4-FFF2-40B4-BE49-F238E27FC236}">
                <a16:creationId xmlns:a16="http://schemas.microsoft.com/office/drawing/2014/main" id="{3BF4C7C2-723F-4377-8363-F8970A1AEE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1628775"/>
            <a:ext cx="95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071B3D"/>
                </a:solidFill>
              </a:defRPr>
            </a:pPr>
            <a:r>
              <a:rPr sz="825" b="1">
                <a:solidFill>
                  <a:srgbClr val="071B3D"/>
                </a:solidFill>
              </a:rPr>
              <a:t>ClaimGuard</a:t>
            </a:r>
          </a:p>
        </p:txBody>
      </p:sp>
      <p:sp>
        <p:nvSpPr>
          <p:cNvPr id="28" name="roundRect-609">
            <a:extLst xmlns:a="http://schemas.openxmlformats.org/drawingml/2006/main">
              <a:ext uri="{FF2B5EF4-FFF2-40B4-BE49-F238E27FC236}">
                <a16:creationId xmlns:a16="http://schemas.microsoft.com/office/drawing/2014/main" id="{1724C960-96E7-4E26-BBA8-C83F997A95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91800" y="1619250"/>
            <a:ext cx="952500" cy="2286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FF7EC"/>
          </a:solidFill>
          <a:ln xmlns:a="http://schemas.openxmlformats.org/drawingml/2006/main" w="9525">
            <a:solidFill>
              <a:srgbClr val="EFF7EC"/>
            </a:solidFill>
            <a:prstDash val="solid"/>
          </a:ln>
        </p:spPr>
      </p:sp>
      <p:sp>
        <p:nvSpPr>
          <p:cNvPr id="29" name="textbox-610">
            <a:extLst xmlns:a="http://schemas.openxmlformats.org/drawingml/2006/main">
              <a:ext uri="{FF2B5EF4-FFF2-40B4-BE49-F238E27FC236}">
                <a16:creationId xmlns:a16="http://schemas.microsoft.com/office/drawing/2014/main" id="{1D5D048A-D7C4-4CDD-AE32-12C7CD879D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48950" y="1628775"/>
            <a:ext cx="838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2E7D5B"/>
                </a:solidFill>
              </a:defRPr>
            </a:pPr>
            <a:r>
              <a:rPr sz="825" b="1">
                <a:solidFill>
                  <a:srgbClr val="2E7D5B"/>
                </a:solidFill>
              </a:rPr>
              <a:t>API connected</a:t>
            </a:r>
          </a:p>
        </p:txBody>
      </p:sp>
      <p:sp>
        <p:nvSpPr>
          <p:cNvPr id="30" name="rect-611">
            <a:extLst xmlns:a="http://schemas.openxmlformats.org/drawingml/2006/main">
              <a:ext uri="{FF2B5EF4-FFF2-40B4-BE49-F238E27FC236}">
                <a16:creationId xmlns:a16="http://schemas.microsoft.com/office/drawing/2014/main" id="{5AB18502-8D5D-4396-B811-FA0512B498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1885950"/>
            <a:ext cx="1066800" cy="487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A"/>
          </a:solidFill>
          <a:ln xmlns:a="http://schemas.openxmlformats.org/drawingml/2006/main" w="0">
            <a:solidFill>
              <a:srgbClr val="DDE3E8"/>
            </a:solidFill>
            <a:prstDash val="solid"/>
          </a:ln>
        </p:spPr>
      </p:sp>
      <p:sp>
        <p:nvSpPr>
          <p:cNvPr id="31" name="textbox-612">
            <a:extLst xmlns:a="http://schemas.openxmlformats.org/drawingml/2006/main">
              <a:ext uri="{FF2B5EF4-FFF2-40B4-BE49-F238E27FC236}">
                <a16:creationId xmlns:a16="http://schemas.microsoft.com/office/drawing/2014/main" id="{6B81A777-38FF-4BD4-876F-7AF2719523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2076450"/>
            <a:ext cx="8001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638" b="0">
                <a:solidFill>
                  <a:srgbClr val="465365"/>
                </a:solidFill>
              </a:defRPr>
            </a:pPr>
            <a:r>
              <a:rPr sz="638" b="0">
                <a:solidFill>
                  <a:srgbClr val="465365"/>
                </a:solidFill>
              </a:rPr>
              <a:t>Overview</a:t>
            </a:r>
          </a:p>
        </p:txBody>
      </p:sp>
      <p:sp>
        <p:nvSpPr>
          <p:cNvPr id="32" name="textbox-613">
            <a:extLst xmlns:a="http://schemas.openxmlformats.org/drawingml/2006/main">
              <a:ext uri="{FF2B5EF4-FFF2-40B4-BE49-F238E27FC236}">
                <a16:creationId xmlns:a16="http://schemas.microsoft.com/office/drawing/2014/main" id="{95CD276B-9704-4CA0-A13E-B8DBE8F366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2400300"/>
            <a:ext cx="8001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638" b="0">
                <a:solidFill>
                  <a:srgbClr val="465365"/>
                </a:solidFill>
              </a:defRPr>
            </a:pPr>
            <a:r>
              <a:rPr sz="638" b="0">
                <a:solidFill>
                  <a:srgbClr val="465365"/>
                </a:solidFill>
              </a:rPr>
              <a:t>Documents</a:t>
            </a:r>
          </a:p>
        </p:txBody>
      </p:sp>
      <p:sp>
        <p:nvSpPr>
          <p:cNvPr id="33" name="textbox-614">
            <a:extLst xmlns:a="http://schemas.openxmlformats.org/drawingml/2006/main">
              <a:ext uri="{FF2B5EF4-FFF2-40B4-BE49-F238E27FC236}">
                <a16:creationId xmlns:a16="http://schemas.microsoft.com/office/drawing/2014/main" id="{7ADA4965-1B95-4499-89C5-B6AB41E617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2724150"/>
            <a:ext cx="8001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638" b="0">
                <a:solidFill>
                  <a:srgbClr val="465365"/>
                </a:solidFill>
              </a:defRPr>
            </a:pPr>
            <a:r>
              <a:rPr sz="638" b="0">
                <a:solidFill>
                  <a:srgbClr val="465365"/>
                </a:solidFill>
              </a:rPr>
              <a:t>Review findings</a:t>
            </a:r>
          </a:p>
        </p:txBody>
      </p:sp>
      <p:sp>
        <p:nvSpPr>
          <p:cNvPr id="34" name="textbox-615">
            <a:extLst xmlns:a="http://schemas.openxmlformats.org/drawingml/2006/main">
              <a:ext uri="{FF2B5EF4-FFF2-40B4-BE49-F238E27FC236}">
                <a16:creationId xmlns:a16="http://schemas.microsoft.com/office/drawing/2014/main" id="{F56E9679-AD9E-43E3-84A2-F481178A2A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3048000"/>
            <a:ext cx="8001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638" b="0">
                <a:solidFill>
                  <a:srgbClr val="465365"/>
                </a:solidFill>
              </a:defRPr>
            </a:pPr>
            <a:r>
              <a:rPr sz="638" b="0">
                <a:solidFill>
                  <a:srgbClr val="465365"/>
                </a:solidFill>
              </a:rPr>
              <a:t>Approve challenge</a:t>
            </a:r>
          </a:p>
        </p:txBody>
      </p:sp>
      <p:sp>
        <p:nvSpPr>
          <p:cNvPr id="35" name="textbox-616">
            <a:extLst xmlns:a="http://schemas.openxmlformats.org/drawingml/2006/main">
              <a:ext uri="{FF2B5EF4-FFF2-40B4-BE49-F238E27FC236}">
                <a16:creationId xmlns:a16="http://schemas.microsoft.com/office/drawing/2014/main" id="{2BB380D3-7342-4D61-9BBC-1E76381DE6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3371850"/>
            <a:ext cx="8001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638" b="0">
                <a:solidFill>
                  <a:srgbClr val="465365"/>
                </a:solidFill>
              </a:defRPr>
            </a:pPr>
            <a:r>
              <a:rPr sz="638" b="0">
                <a:solidFill>
                  <a:srgbClr val="465365"/>
                </a:solidFill>
              </a:rPr>
              <a:t>Audit trail</a:t>
            </a:r>
          </a:p>
        </p:txBody>
      </p:sp>
      <p:sp>
        <p:nvSpPr>
          <p:cNvPr id="36" name="textbox-617">
            <a:extLst xmlns:a="http://schemas.openxmlformats.org/drawingml/2006/main">
              <a:ext uri="{FF2B5EF4-FFF2-40B4-BE49-F238E27FC236}">
                <a16:creationId xmlns:a16="http://schemas.microsoft.com/office/drawing/2014/main" id="{607FC5E3-C114-48AA-A8D5-7B86F6B531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3695700"/>
            <a:ext cx="8001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638" b="0">
                <a:solidFill>
                  <a:srgbClr val="465365"/>
                </a:solidFill>
              </a:defRPr>
            </a:pPr>
            <a:r>
              <a:rPr sz="638" b="0">
                <a:solidFill>
                  <a:srgbClr val="465365"/>
                </a:solidFill>
              </a:rPr>
              <a:t>Extracted invoice</a:t>
            </a:r>
          </a:p>
        </p:txBody>
      </p:sp>
      <p:sp>
        <p:nvSpPr>
          <p:cNvPr id="37" name="textbox-618">
            <a:extLst xmlns:a="http://schemas.openxmlformats.org/drawingml/2006/main">
              <a:ext uri="{FF2B5EF4-FFF2-40B4-BE49-F238E27FC236}">
                <a16:creationId xmlns:a16="http://schemas.microsoft.com/office/drawing/2014/main" id="{2B547F98-5CC9-4E10-8ED4-132FE709A2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4019550"/>
            <a:ext cx="8001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638" b="0">
                <a:solidFill>
                  <a:srgbClr val="465365"/>
                </a:solidFill>
              </a:defRPr>
            </a:pPr>
            <a:r>
              <a:rPr sz="638" b="0">
                <a:solidFill>
                  <a:srgbClr val="465365"/>
                </a:solidFill>
              </a:rPr>
              <a:t>Calculation checks</a:t>
            </a:r>
          </a:p>
        </p:txBody>
      </p:sp>
      <p:sp>
        <p:nvSpPr>
          <p:cNvPr id="38" name="roundRect-619">
            <a:extLst xmlns:a="http://schemas.openxmlformats.org/drawingml/2006/main">
              <a:ext uri="{FF2B5EF4-FFF2-40B4-BE49-F238E27FC236}">
                <a16:creationId xmlns:a16="http://schemas.microsoft.com/office/drawing/2014/main" id="{4325A536-AFBC-49E8-9836-9BA1BB8E1C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4324350"/>
            <a:ext cx="914400" cy="247650"/>
          </a:xfrm>
          <a:prstGeom xmlns:a="http://schemas.openxmlformats.org/drawingml/2006/main" prst="roundRect">
            <a:avLst>
              <a:gd name="adj" fmla="val 7692"/>
            </a:avLst>
          </a:prstGeom>
          <a:solidFill xmlns:a="http://schemas.openxmlformats.org/drawingml/2006/main">
            <a:srgbClr val="E8F4F2"/>
          </a:solidFill>
          <a:ln xmlns:a="http://schemas.openxmlformats.org/drawingml/2006/main" w="9525">
            <a:solidFill>
              <a:srgbClr val="E8F4F2"/>
            </a:solidFill>
            <a:prstDash val="solid"/>
          </a:ln>
        </p:spPr>
      </p:sp>
      <p:sp>
        <p:nvSpPr>
          <p:cNvPr id="39" name="textbox-620">
            <a:extLst xmlns:a="http://schemas.openxmlformats.org/drawingml/2006/main">
              <a:ext uri="{FF2B5EF4-FFF2-40B4-BE49-F238E27FC236}">
                <a16:creationId xmlns:a16="http://schemas.microsoft.com/office/drawing/2014/main" id="{77747414-9EBE-4E0A-B53C-7E4C77DD91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4343400"/>
            <a:ext cx="8001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638" b="1">
                <a:solidFill>
                  <a:srgbClr val="096C6D"/>
                </a:solidFill>
              </a:defRPr>
            </a:pPr>
            <a:r>
              <a:rPr sz="638" b="1">
                <a:solidFill>
                  <a:srgbClr val="096C6D"/>
                </a:solidFill>
              </a:rPr>
              <a:t>Ontology mapping</a:t>
            </a:r>
          </a:p>
        </p:txBody>
      </p:sp>
      <p:sp>
        <p:nvSpPr>
          <p:cNvPr id="40" name="textbox-621">
            <a:extLst xmlns:a="http://schemas.openxmlformats.org/drawingml/2006/main">
              <a:ext uri="{FF2B5EF4-FFF2-40B4-BE49-F238E27FC236}">
                <a16:creationId xmlns:a16="http://schemas.microsoft.com/office/drawing/2014/main" id="{84528E9A-21F2-4D71-AFD9-E4975B457A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4667250"/>
            <a:ext cx="8001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638" b="0">
                <a:solidFill>
                  <a:srgbClr val="465365"/>
                </a:solidFill>
              </a:defRPr>
            </a:pPr>
            <a:r>
              <a:rPr sz="638" b="0">
                <a:solidFill>
                  <a:srgbClr val="465365"/>
                </a:solidFill>
              </a:rPr>
              <a:t>Repair benchmarks</a:t>
            </a:r>
          </a:p>
        </p:txBody>
      </p:sp>
      <p:sp>
        <p:nvSpPr>
          <p:cNvPr id="41" name="textbox-622">
            <a:extLst xmlns:a="http://schemas.openxmlformats.org/drawingml/2006/main">
              <a:ext uri="{FF2B5EF4-FFF2-40B4-BE49-F238E27FC236}">
                <a16:creationId xmlns:a16="http://schemas.microsoft.com/office/drawing/2014/main" id="{6422FC87-8AF3-4649-856D-EF80FC02AF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2057400"/>
            <a:ext cx="5810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71B3D"/>
                </a:solidFill>
              </a:defRPr>
            </a:pPr>
            <a:r>
              <a:rPr sz="1350" b="1">
                <a:solidFill>
                  <a:srgbClr val="071B3D"/>
                </a:solidFill>
              </a:rPr>
              <a:t>Repair Item Matching</a:t>
            </a:r>
          </a:p>
        </p:txBody>
      </p:sp>
      <p:sp>
        <p:nvSpPr>
          <p:cNvPr id="42" name="textbox-623">
            <a:extLst xmlns:a="http://schemas.openxmlformats.org/drawingml/2006/main">
              <a:ext uri="{FF2B5EF4-FFF2-40B4-BE49-F238E27FC236}">
                <a16:creationId xmlns:a16="http://schemas.microsoft.com/office/drawing/2014/main" id="{169468EF-873C-4830-A56E-4E340D54FB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2343150"/>
            <a:ext cx="5810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750">
                <a:solidFill>
                  <a:srgbClr val="6F7A89"/>
                </a:solidFill>
              </a:defRPr>
            </a:pPr>
            <a:r>
              <a:rPr sz="750">
                <a:solidFill>
                  <a:srgbClr val="6F7A89"/>
                </a:solidFill>
              </a:rPr>
              <a:t>Descriptions are normalised before price comparison.</a:t>
            </a:r>
          </a:p>
        </p:txBody>
      </p:sp>
      <p:sp>
        <p:nvSpPr>
          <p:cNvPr id="43" name="roundRect-624">
            <a:extLst xmlns:a="http://schemas.openxmlformats.org/drawingml/2006/main">
              <a:ext uri="{FF2B5EF4-FFF2-40B4-BE49-F238E27FC236}">
                <a16:creationId xmlns:a16="http://schemas.microsoft.com/office/drawing/2014/main" id="{94FA985E-35A1-4553-8A39-6281B03699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2686050"/>
            <a:ext cx="180975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3E8"/>
            </a:solidFill>
            <a:prstDash val="solid"/>
          </a:ln>
        </p:spPr>
      </p:sp>
      <p:sp>
        <p:nvSpPr>
          <p:cNvPr id="44" name="textbox-625">
            <a:extLst xmlns:a="http://schemas.openxmlformats.org/drawingml/2006/main">
              <a:ext uri="{FF2B5EF4-FFF2-40B4-BE49-F238E27FC236}">
                <a16:creationId xmlns:a16="http://schemas.microsoft.com/office/drawing/2014/main" id="{0E6945FC-5AF6-41FC-8B58-D0A2A3BE8F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8800" y="2762250"/>
            <a:ext cx="15811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675" b="1">
                <a:solidFill>
                  <a:srgbClr val="6F7A89"/>
                </a:solidFill>
              </a:defRPr>
            </a:pPr>
            <a:r>
              <a:rPr sz="675" b="1">
                <a:solidFill>
                  <a:srgbClr val="6F7A89"/>
                </a:solidFill>
              </a:rPr>
              <a:t>Approved mappings</a:t>
            </a:r>
          </a:p>
        </p:txBody>
      </p:sp>
      <p:sp>
        <p:nvSpPr>
          <p:cNvPr id="45" name="textbox-626">
            <a:extLst xmlns:a="http://schemas.openxmlformats.org/drawingml/2006/main">
              <a:ext uri="{FF2B5EF4-FFF2-40B4-BE49-F238E27FC236}">
                <a16:creationId xmlns:a16="http://schemas.microsoft.com/office/drawing/2014/main" id="{A15E438C-D0BE-4973-959D-D4173F6F4E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8800" y="2952750"/>
            <a:ext cx="15811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2E7D5B"/>
                </a:solidFill>
              </a:defRPr>
            </a:pPr>
            <a:r>
              <a:rPr sz="1350" b="1">
                <a:solidFill>
                  <a:srgbClr val="2E7D5B"/>
                </a:solidFill>
              </a:rPr>
              <a:t>17</a:t>
            </a:r>
          </a:p>
        </p:txBody>
      </p:sp>
      <p:sp>
        <p:nvSpPr>
          <p:cNvPr id="46" name="roundRect-627">
            <a:extLst xmlns:a="http://schemas.openxmlformats.org/drawingml/2006/main">
              <a:ext uri="{FF2B5EF4-FFF2-40B4-BE49-F238E27FC236}">
                <a16:creationId xmlns:a16="http://schemas.microsoft.com/office/drawing/2014/main" id="{18ABC7DA-7B1D-405B-A7C1-22B7A7ED09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77125" y="2686050"/>
            <a:ext cx="180975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3E8"/>
            </a:solidFill>
            <a:prstDash val="solid"/>
          </a:ln>
        </p:spPr>
      </p:sp>
      <p:sp>
        <p:nvSpPr>
          <p:cNvPr id="47" name="textbox-628">
            <a:extLst xmlns:a="http://schemas.openxmlformats.org/drawingml/2006/main">
              <a:ext uri="{FF2B5EF4-FFF2-40B4-BE49-F238E27FC236}">
                <a16:creationId xmlns:a16="http://schemas.microsoft.com/office/drawing/2014/main" id="{BD41EFCD-5631-47BA-B910-1B18D22313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91425" y="2762250"/>
            <a:ext cx="15811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675" b="1">
                <a:solidFill>
                  <a:srgbClr val="6F7A89"/>
                </a:solidFill>
              </a:defRPr>
            </a:pPr>
            <a:r>
              <a:rPr sz="675" b="1">
                <a:solidFill>
                  <a:srgbClr val="6F7A89"/>
                </a:solidFill>
              </a:rPr>
              <a:t>Needs review</a:t>
            </a:r>
          </a:p>
        </p:txBody>
      </p:sp>
      <p:sp>
        <p:nvSpPr>
          <p:cNvPr id="48" name="textbox-629">
            <a:extLst xmlns:a="http://schemas.openxmlformats.org/drawingml/2006/main">
              <a:ext uri="{FF2B5EF4-FFF2-40B4-BE49-F238E27FC236}">
                <a16:creationId xmlns:a16="http://schemas.microsoft.com/office/drawing/2014/main" id="{93D121CA-6C1F-475A-81BD-9BD9D0A0CD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91425" y="2952750"/>
            <a:ext cx="15811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C98A16"/>
                </a:solidFill>
              </a:defRPr>
            </a:pPr>
            <a:r>
              <a:rPr sz="1350" b="1">
                <a:solidFill>
                  <a:srgbClr val="C98A16"/>
                </a:solidFill>
              </a:rPr>
              <a:t>1</a:t>
            </a:r>
          </a:p>
        </p:txBody>
      </p:sp>
      <p:sp>
        <p:nvSpPr>
          <p:cNvPr id="49" name="roundRect-630">
            <a:extLst xmlns:a="http://schemas.openxmlformats.org/drawingml/2006/main">
              <a:ext uri="{FF2B5EF4-FFF2-40B4-BE49-F238E27FC236}">
                <a16:creationId xmlns:a16="http://schemas.microsoft.com/office/drawing/2014/main" id="{2A59EDB2-ACA5-45F8-BD5C-0ECE9A55CE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2686050"/>
            <a:ext cx="20955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3E8"/>
            </a:solidFill>
            <a:prstDash val="solid"/>
          </a:ln>
        </p:spPr>
      </p:sp>
      <p:sp>
        <p:nvSpPr>
          <p:cNvPr id="50" name="textbox-631">
            <a:extLst xmlns:a="http://schemas.openxmlformats.org/drawingml/2006/main">
              <a:ext uri="{FF2B5EF4-FFF2-40B4-BE49-F238E27FC236}">
                <a16:creationId xmlns:a16="http://schemas.microsoft.com/office/drawing/2014/main" id="{6108DFFE-7D86-4816-96CD-8603B4A6EB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4050" y="2762250"/>
            <a:ext cx="18669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675" b="1">
                <a:solidFill>
                  <a:srgbClr val="6F7A89"/>
                </a:solidFill>
              </a:defRPr>
            </a:pPr>
            <a:r>
              <a:rPr sz="675" b="1">
                <a:solidFill>
                  <a:srgbClr val="6F7A89"/>
                </a:solidFill>
              </a:rPr>
              <a:t>Ontology version</a:t>
            </a:r>
          </a:p>
        </p:txBody>
      </p:sp>
      <p:sp>
        <p:nvSpPr>
          <p:cNvPr id="51" name="textbox-632">
            <a:extLst xmlns:a="http://schemas.openxmlformats.org/drawingml/2006/main">
              <a:ext uri="{FF2B5EF4-FFF2-40B4-BE49-F238E27FC236}">
                <a16:creationId xmlns:a16="http://schemas.microsoft.com/office/drawing/2014/main" id="{00D081D8-F7B7-47BC-BF7D-2AC678272C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4050" y="2952750"/>
            <a:ext cx="18669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B8687"/>
                </a:solidFill>
              </a:defRPr>
            </a:pPr>
            <a:r>
              <a:rPr sz="1350" b="1">
                <a:solidFill>
                  <a:srgbClr val="0B8687"/>
                </a:solidFill>
              </a:rPr>
              <a:t>v1.0</a:t>
            </a:r>
          </a:p>
        </p:txBody>
      </p:sp>
      <p:sp>
        <p:nvSpPr>
          <p:cNvPr id="52" name="roundRect-633">
            <a:extLst xmlns:a="http://schemas.openxmlformats.org/drawingml/2006/main">
              <a:ext uri="{FF2B5EF4-FFF2-40B4-BE49-F238E27FC236}">
                <a16:creationId xmlns:a16="http://schemas.microsoft.com/office/drawing/2014/main" id="{2243F7CF-1AE2-465B-A23C-6246AF2D27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3429000"/>
            <a:ext cx="6000750" cy="2609850"/>
          </a:xfrm>
          <a:prstGeom xmlns:a="http://schemas.openxmlformats.org/drawingml/2006/main" prst="roundRect">
            <a:avLst>
              <a:gd name="adj" fmla="val 73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3E8"/>
            </a:solidFill>
            <a:prstDash val="solid"/>
          </a:ln>
        </p:spPr>
      </p:sp>
      <p:sp>
        <p:nvSpPr>
          <p:cNvPr id="53" name="rect-634">
            <a:extLst xmlns:a="http://schemas.openxmlformats.org/drawingml/2006/main">
              <a:ext uri="{FF2B5EF4-FFF2-40B4-BE49-F238E27FC236}">
                <a16:creationId xmlns:a16="http://schemas.microsoft.com/office/drawing/2014/main" id="{925BEE1C-23AC-42B1-931B-FA3E3EC23F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3429000"/>
            <a:ext cx="6000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4F6"/>
          </a:solidFill>
          <a:ln xmlns:a="http://schemas.openxmlformats.org/drawingml/2006/main" w="0">
            <a:solidFill>
              <a:srgbClr val="F1F4F6"/>
            </a:solidFill>
            <a:prstDash val="solid"/>
          </a:ln>
        </p:spPr>
      </p:sp>
      <p:sp>
        <p:nvSpPr>
          <p:cNvPr id="54" name="textbox-635">
            <a:extLst xmlns:a="http://schemas.openxmlformats.org/drawingml/2006/main">
              <a:ext uri="{FF2B5EF4-FFF2-40B4-BE49-F238E27FC236}">
                <a16:creationId xmlns:a16="http://schemas.microsoft.com/office/drawing/2014/main" id="{1D2ED0F1-C9FD-4347-8B5A-1A34180DDE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1650" y="3476625"/>
            <a:ext cx="20764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638" b="1">
                <a:solidFill>
                  <a:srgbClr val="465365"/>
                </a:solidFill>
              </a:defRPr>
            </a:pPr>
            <a:r>
              <a:rPr sz="638" b="1">
                <a:solidFill>
                  <a:srgbClr val="465365"/>
                </a:solidFill>
              </a:rPr>
              <a:t>Invoice description</a:t>
            </a:r>
          </a:p>
        </p:txBody>
      </p:sp>
      <p:sp>
        <p:nvSpPr>
          <p:cNvPr id="55" name="rect-636">
            <a:extLst xmlns:a="http://schemas.openxmlformats.org/drawingml/2006/main">
              <a:ext uri="{FF2B5EF4-FFF2-40B4-BE49-F238E27FC236}">
                <a16:creationId xmlns:a16="http://schemas.microsoft.com/office/drawing/2014/main" id="{25A3BCF2-AAF8-44B3-8317-8162A6DDE5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3429000"/>
            <a:ext cx="9525" cy="2609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3E8"/>
          </a:solidFill>
          <a:ln xmlns:a="http://schemas.openxmlformats.org/drawingml/2006/main" w="0">
            <a:solidFill>
              <a:srgbClr val="DDE3E8"/>
            </a:solidFill>
            <a:prstDash val="solid"/>
          </a:ln>
        </p:spPr>
      </p:sp>
      <p:sp>
        <p:nvSpPr>
          <p:cNvPr id="56" name="textbox-637">
            <a:extLst xmlns:a="http://schemas.openxmlformats.org/drawingml/2006/main">
              <a:ext uri="{FF2B5EF4-FFF2-40B4-BE49-F238E27FC236}">
                <a16:creationId xmlns:a16="http://schemas.microsoft.com/office/drawing/2014/main" id="{8706538D-8B43-4430-8093-6FA373F692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3476625"/>
            <a:ext cx="1981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638" b="1">
                <a:solidFill>
                  <a:srgbClr val="465365"/>
                </a:solidFill>
              </a:defRPr>
            </a:pPr>
            <a:r>
              <a:rPr sz="638" b="1">
                <a:solidFill>
                  <a:srgbClr val="465365"/>
                </a:solidFill>
              </a:rPr>
              <a:t>Standard repair item</a:t>
            </a:r>
          </a:p>
        </p:txBody>
      </p:sp>
      <p:sp>
        <p:nvSpPr>
          <p:cNvPr id="57" name="rect-638">
            <a:extLst xmlns:a="http://schemas.openxmlformats.org/drawingml/2006/main">
              <a:ext uri="{FF2B5EF4-FFF2-40B4-BE49-F238E27FC236}">
                <a16:creationId xmlns:a16="http://schemas.microsoft.com/office/drawing/2014/main" id="{C526D5E0-4C86-42F9-9206-0A03141F18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3429000"/>
            <a:ext cx="9525" cy="2609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3E8"/>
          </a:solidFill>
          <a:ln xmlns:a="http://schemas.openxmlformats.org/drawingml/2006/main" w="0">
            <a:solidFill>
              <a:srgbClr val="DDE3E8"/>
            </a:solidFill>
            <a:prstDash val="solid"/>
          </a:ln>
        </p:spPr>
      </p:sp>
      <p:sp>
        <p:nvSpPr>
          <p:cNvPr id="58" name="textbox-639">
            <a:extLst xmlns:a="http://schemas.openxmlformats.org/drawingml/2006/main">
              <a:ext uri="{FF2B5EF4-FFF2-40B4-BE49-F238E27FC236}">
                <a16:creationId xmlns:a16="http://schemas.microsoft.com/office/drawing/2014/main" id="{E0DBA037-1421-4EF5-93D7-1A85A7E06A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3476625"/>
            <a:ext cx="6477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638" b="1">
                <a:solidFill>
                  <a:srgbClr val="465365"/>
                </a:solidFill>
              </a:defRPr>
            </a:pPr>
            <a:r>
              <a:rPr sz="638" b="1">
                <a:solidFill>
                  <a:srgbClr val="465365"/>
                </a:solidFill>
              </a:rPr>
              <a:t>Confidence</a:t>
            </a:r>
          </a:p>
        </p:txBody>
      </p:sp>
      <p:sp>
        <p:nvSpPr>
          <p:cNvPr id="59" name="rect-640">
            <a:extLst xmlns:a="http://schemas.openxmlformats.org/drawingml/2006/main">
              <a:ext uri="{FF2B5EF4-FFF2-40B4-BE49-F238E27FC236}">
                <a16:creationId xmlns:a16="http://schemas.microsoft.com/office/drawing/2014/main" id="{59EDF315-A235-45AF-B231-20772C7FFE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3429000"/>
            <a:ext cx="9525" cy="2609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3E8"/>
          </a:solidFill>
          <a:ln xmlns:a="http://schemas.openxmlformats.org/drawingml/2006/main" w="0">
            <a:solidFill>
              <a:srgbClr val="DDE3E8"/>
            </a:solidFill>
            <a:prstDash val="solid"/>
          </a:ln>
        </p:spPr>
      </p:sp>
      <p:sp>
        <p:nvSpPr>
          <p:cNvPr id="60" name="textbox-641">
            <a:extLst xmlns:a="http://schemas.openxmlformats.org/drawingml/2006/main">
              <a:ext uri="{FF2B5EF4-FFF2-40B4-BE49-F238E27FC236}">
                <a16:creationId xmlns:a16="http://schemas.microsoft.com/office/drawing/2014/main" id="{D4334AF6-6F6C-4482-9702-1E16287EA0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29900" y="3476625"/>
            <a:ext cx="838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638" b="1">
                <a:solidFill>
                  <a:srgbClr val="465365"/>
                </a:solidFill>
              </a:defRPr>
            </a:pPr>
            <a:r>
              <a:rPr sz="638" b="1">
                <a:solidFill>
                  <a:srgbClr val="465365"/>
                </a:solidFill>
              </a:rPr>
              <a:t>Status</a:t>
            </a:r>
          </a:p>
        </p:txBody>
      </p:sp>
      <p:sp>
        <p:nvSpPr>
          <p:cNvPr id="61" name="rect-642">
            <a:extLst xmlns:a="http://schemas.openxmlformats.org/drawingml/2006/main">
              <a:ext uri="{FF2B5EF4-FFF2-40B4-BE49-F238E27FC236}">
                <a16:creationId xmlns:a16="http://schemas.microsoft.com/office/drawing/2014/main" id="{B84C5035-63A8-45F8-B15D-39D83AE8B8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3695700"/>
            <a:ext cx="6000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3E8"/>
          </a:solidFill>
          <a:ln xmlns:a="http://schemas.openxmlformats.org/drawingml/2006/main" w="0">
            <a:solidFill>
              <a:srgbClr val="DDE3E8"/>
            </a:solidFill>
            <a:prstDash val="solid"/>
          </a:ln>
        </p:spPr>
      </p:sp>
      <p:sp>
        <p:nvSpPr>
          <p:cNvPr id="62" name="textbox-643">
            <a:extLst xmlns:a="http://schemas.openxmlformats.org/drawingml/2006/main">
              <a:ext uri="{FF2B5EF4-FFF2-40B4-BE49-F238E27FC236}">
                <a16:creationId xmlns:a16="http://schemas.microsoft.com/office/drawing/2014/main" id="{5311A138-7F90-409C-83F9-CB9F7E4549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1650" y="3733800"/>
            <a:ext cx="207645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638" b="1">
                <a:solidFill>
                  <a:srgbClr val="132238"/>
                </a:solidFill>
              </a:defRPr>
            </a:pPr>
            <a:r>
              <a:rPr sz="638" b="1">
                <a:solidFill>
                  <a:srgbClr val="132238"/>
                </a:solidFill>
              </a:rPr>
              <a:t>Oil &amp; Filter Disposal</a:t>
            </a:r>
          </a:p>
        </p:txBody>
      </p:sp>
      <p:sp>
        <p:nvSpPr>
          <p:cNvPr id="63" name="textbox-644">
            <a:extLst xmlns:a="http://schemas.openxmlformats.org/drawingml/2006/main">
              <a:ext uri="{FF2B5EF4-FFF2-40B4-BE49-F238E27FC236}">
                <a16:creationId xmlns:a16="http://schemas.microsoft.com/office/drawing/2014/main" id="{AD6472C9-18A4-45E2-AF46-F5CA4BBA28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3733800"/>
            <a:ext cx="198120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638" b="0">
                <a:solidFill>
                  <a:srgbClr val="132238"/>
                </a:solidFill>
              </a:defRPr>
            </a:pPr>
            <a:r>
              <a:rPr sz="638" b="0">
                <a:solidFill>
                  <a:srgbClr val="132238"/>
                </a:solidFill>
              </a:rPr>
              <a:t>Oil &amp; Filter Disposal</a:t>
            </a:r>
          </a:p>
        </p:txBody>
      </p:sp>
      <p:sp>
        <p:nvSpPr>
          <p:cNvPr id="64" name="textbox-645">
            <a:extLst xmlns:a="http://schemas.openxmlformats.org/drawingml/2006/main">
              <a:ext uri="{FF2B5EF4-FFF2-40B4-BE49-F238E27FC236}">
                <a16:creationId xmlns:a16="http://schemas.microsoft.com/office/drawing/2014/main" id="{4E97FEC5-1E41-4E19-B87F-7D80D522C5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3733800"/>
            <a:ext cx="64770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638" b="0">
                <a:solidFill>
                  <a:srgbClr val="132238"/>
                </a:solidFill>
              </a:defRPr>
            </a:pPr>
            <a:r>
              <a:rPr sz="638" b="0">
                <a:solidFill>
                  <a:srgbClr val="132238"/>
                </a:solidFill>
              </a:rPr>
              <a:t>99%</a:t>
            </a:r>
          </a:p>
        </p:txBody>
      </p:sp>
      <p:sp>
        <p:nvSpPr>
          <p:cNvPr id="65" name="textbox-646">
            <a:extLst xmlns:a="http://schemas.openxmlformats.org/drawingml/2006/main">
              <a:ext uri="{FF2B5EF4-FFF2-40B4-BE49-F238E27FC236}">
                <a16:creationId xmlns:a16="http://schemas.microsoft.com/office/drawing/2014/main" id="{2A64A034-9448-4E3F-98EF-C95301EDBC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29900" y="3733800"/>
            <a:ext cx="83820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638" b="1">
                <a:solidFill>
                  <a:srgbClr val="2E7D5B"/>
                </a:solidFill>
              </a:defRPr>
            </a:pPr>
            <a:r>
              <a:rPr sz="638" b="1">
                <a:solidFill>
                  <a:srgbClr val="2E7D5B"/>
                </a:solidFill>
              </a:rPr>
              <a:t>Approved</a:t>
            </a:r>
          </a:p>
        </p:txBody>
      </p:sp>
      <p:sp>
        <p:nvSpPr>
          <p:cNvPr id="66" name="rect-647">
            <a:extLst xmlns:a="http://schemas.openxmlformats.org/drawingml/2006/main">
              <a:ext uri="{FF2B5EF4-FFF2-40B4-BE49-F238E27FC236}">
                <a16:creationId xmlns:a16="http://schemas.microsoft.com/office/drawing/2014/main" id="{48A4E8A2-93DF-4A7F-A28E-5F5C086F62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4086225"/>
            <a:ext cx="6000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3E8"/>
          </a:solidFill>
          <a:ln xmlns:a="http://schemas.openxmlformats.org/drawingml/2006/main" w="0">
            <a:solidFill>
              <a:srgbClr val="DDE3E8"/>
            </a:solidFill>
            <a:prstDash val="solid"/>
          </a:ln>
        </p:spPr>
      </p:sp>
      <p:sp>
        <p:nvSpPr>
          <p:cNvPr id="67" name="textbox-648">
            <a:extLst xmlns:a="http://schemas.openxmlformats.org/drawingml/2006/main">
              <a:ext uri="{FF2B5EF4-FFF2-40B4-BE49-F238E27FC236}">
                <a16:creationId xmlns:a16="http://schemas.microsoft.com/office/drawing/2014/main" id="{05CDFD14-842B-4F1B-BEEA-CD064FAED7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1650" y="4124325"/>
            <a:ext cx="207645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638" b="1">
                <a:solidFill>
                  <a:srgbClr val="132238"/>
                </a:solidFill>
              </a:defRPr>
            </a:pPr>
            <a:r>
              <a:rPr sz="638" b="1">
                <a:solidFill>
                  <a:srgbClr val="132238"/>
                </a:solidFill>
              </a:rPr>
              <a:t>Oil Filter</a:t>
            </a:r>
          </a:p>
        </p:txBody>
      </p:sp>
      <p:sp>
        <p:nvSpPr>
          <p:cNvPr id="68" name="textbox-649">
            <a:extLst xmlns:a="http://schemas.openxmlformats.org/drawingml/2006/main">
              <a:ext uri="{FF2B5EF4-FFF2-40B4-BE49-F238E27FC236}">
                <a16:creationId xmlns:a16="http://schemas.microsoft.com/office/drawing/2014/main" id="{7D8B23C9-945E-4E20-929F-6C18F0967A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4124325"/>
            <a:ext cx="198120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638" b="0">
                <a:solidFill>
                  <a:srgbClr val="132238"/>
                </a:solidFill>
              </a:defRPr>
            </a:pPr>
            <a:r>
              <a:rPr sz="638" b="0">
                <a:solidFill>
                  <a:srgbClr val="132238"/>
                </a:solidFill>
              </a:rPr>
              <a:t>Oil Filter (engine)</a:t>
            </a:r>
          </a:p>
        </p:txBody>
      </p:sp>
      <p:sp>
        <p:nvSpPr>
          <p:cNvPr id="69" name="textbox-650">
            <a:extLst xmlns:a="http://schemas.openxmlformats.org/drawingml/2006/main">
              <a:ext uri="{FF2B5EF4-FFF2-40B4-BE49-F238E27FC236}">
                <a16:creationId xmlns:a16="http://schemas.microsoft.com/office/drawing/2014/main" id="{D30923CB-BCD9-46AF-AFF7-0FABE56022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4124325"/>
            <a:ext cx="64770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638" b="0">
                <a:solidFill>
                  <a:srgbClr val="132238"/>
                </a:solidFill>
              </a:defRPr>
            </a:pPr>
            <a:r>
              <a:rPr sz="638" b="0">
                <a:solidFill>
                  <a:srgbClr val="132238"/>
                </a:solidFill>
              </a:rPr>
              <a:t>99%</a:t>
            </a:r>
          </a:p>
        </p:txBody>
      </p:sp>
      <p:sp>
        <p:nvSpPr>
          <p:cNvPr id="70" name="textbox-651">
            <a:extLst xmlns:a="http://schemas.openxmlformats.org/drawingml/2006/main">
              <a:ext uri="{FF2B5EF4-FFF2-40B4-BE49-F238E27FC236}">
                <a16:creationId xmlns:a16="http://schemas.microsoft.com/office/drawing/2014/main" id="{47941D4B-4A05-4653-9EC0-E85FAD9C1E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29900" y="4124325"/>
            <a:ext cx="83820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638" b="1">
                <a:solidFill>
                  <a:srgbClr val="2E7D5B"/>
                </a:solidFill>
              </a:defRPr>
            </a:pPr>
            <a:r>
              <a:rPr sz="638" b="1">
                <a:solidFill>
                  <a:srgbClr val="2E7D5B"/>
                </a:solidFill>
              </a:rPr>
              <a:t>Approved</a:t>
            </a:r>
          </a:p>
        </p:txBody>
      </p:sp>
      <p:sp>
        <p:nvSpPr>
          <p:cNvPr id="71" name="rect-652">
            <a:extLst xmlns:a="http://schemas.openxmlformats.org/drawingml/2006/main">
              <a:ext uri="{FF2B5EF4-FFF2-40B4-BE49-F238E27FC236}">
                <a16:creationId xmlns:a16="http://schemas.microsoft.com/office/drawing/2014/main" id="{BD9982F5-5DA5-43FC-8FE5-3FF91621BB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4476750"/>
            <a:ext cx="6000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3E8"/>
          </a:solidFill>
          <a:ln xmlns:a="http://schemas.openxmlformats.org/drawingml/2006/main" w="0">
            <a:solidFill>
              <a:srgbClr val="DDE3E8"/>
            </a:solidFill>
            <a:prstDash val="solid"/>
          </a:ln>
        </p:spPr>
      </p:sp>
      <p:sp>
        <p:nvSpPr>
          <p:cNvPr id="72" name="textbox-653">
            <a:extLst xmlns:a="http://schemas.openxmlformats.org/drawingml/2006/main">
              <a:ext uri="{FF2B5EF4-FFF2-40B4-BE49-F238E27FC236}">
                <a16:creationId xmlns:a16="http://schemas.microsoft.com/office/drawing/2014/main" id="{09671DAC-DCE0-405F-A32C-F9704F6125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1650" y="4514850"/>
            <a:ext cx="207645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638" b="1">
                <a:solidFill>
                  <a:srgbClr val="132238"/>
                </a:solidFill>
              </a:defRPr>
            </a:pPr>
            <a:r>
              <a:rPr sz="638" b="1">
                <a:solidFill>
                  <a:srgbClr val="132238"/>
                </a:solidFill>
              </a:rPr>
              <a:t>Air Filter</a:t>
            </a:r>
          </a:p>
        </p:txBody>
      </p:sp>
      <p:sp>
        <p:nvSpPr>
          <p:cNvPr id="73" name="textbox-654">
            <a:extLst xmlns:a="http://schemas.openxmlformats.org/drawingml/2006/main">
              <a:ext uri="{FF2B5EF4-FFF2-40B4-BE49-F238E27FC236}">
                <a16:creationId xmlns:a16="http://schemas.microsoft.com/office/drawing/2014/main" id="{4B378D64-687C-4FA4-8EA1-5495804545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4514850"/>
            <a:ext cx="198120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638" b="0">
                <a:solidFill>
                  <a:srgbClr val="132238"/>
                </a:solidFill>
              </a:defRPr>
            </a:pPr>
            <a:r>
              <a:rPr sz="638" b="0">
                <a:solidFill>
                  <a:srgbClr val="132238"/>
                </a:solidFill>
              </a:rPr>
              <a:t>Air Filter (engine)</a:t>
            </a:r>
          </a:p>
        </p:txBody>
      </p:sp>
      <p:sp>
        <p:nvSpPr>
          <p:cNvPr id="74" name="textbox-655">
            <a:extLst xmlns:a="http://schemas.openxmlformats.org/drawingml/2006/main">
              <a:ext uri="{FF2B5EF4-FFF2-40B4-BE49-F238E27FC236}">
                <a16:creationId xmlns:a16="http://schemas.microsoft.com/office/drawing/2014/main" id="{17F53502-5029-4F8C-8A01-4C3A26C0C8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4514850"/>
            <a:ext cx="64770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638" b="0">
                <a:solidFill>
                  <a:srgbClr val="132238"/>
                </a:solidFill>
              </a:defRPr>
            </a:pPr>
            <a:r>
              <a:rPr sz="638" b="0">
                <a:solidFill>
                  <a:srgbClr val="132238"/>
                </a:solidFill>
              </a:rPr>
              <a:t>98%</a:t>
            </a:r>
          </a:p>
        </p:txBody>
      </p:sp>
      <p:sp>
        <p:nvSpPr>
          <p:cNvPr id="75" name="textbox-656">
            <a:extLst xmlns:a="http://schemas.openxmlformats.org/drawingml/2006/main">
              <a:ext uri="{FF2B5EF4-FFF2-40B4-BE49-F238E27FC236}">
                <a16:creationId xmlns:a16="http://schemas.microsoft.com/office/drawing/2014/main" id="{1D765069-9000-46F6-8767-46BCFE9357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29900" y="4514850"/>
            <a:ext cx="83820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638" b="1">
                <a:solidFill>
                  <a:srgbClr val="2E7D5B"/>
                </a:solidFill>
              </a:defRPr>
            </a:pPr>
            <a:r>
              <a:rPr sz="638" b="1">
                <a:solidFill>
                  <a:srgbClr val="2E7D5B"/>
                </a:solidFill>
              </a:rPr>
              <a:t>Approved</a:t>
            </a:r>
          </a:p>
        </p:txBody>
      </p:sp>
      <p:sp>
        <p:nvSpPr>
          <p:cNvPr id="76" name="rect-657">
            <a:extLst xmlns:a="http://schemas.openxmlformats.org/drawingml/2006/main">
              <a:ext uri="{FF2B5EF4-FFF2-40B4-BE49-F238E27FC236}">
                <a16:creationId xmlns:a16="http://schemas.microsoft.com/office/drawing/2014/main" id="{6CE6479B-8E5F-477B-B0CE-AF466ED89F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4867275"/>
            <a:ext cx="6000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3E8"/>
          </a:solidFill>
          <a:ln xmlns:a="http://schemas.openxmlformats.org/drawingml/2006/main" w="0">
            <a:solidFill>
              <a:srgbClr val="DDE3E8"/>
            </a:solidFill>
            <a:prstDash val="solid"/>
          </a:ln>
        </p:spPr>
      </p:sp>
      <p:sp>
        <p:nvSpPr>
          <p:cNvPr id="77" name="textbox-658">
            <a:extLst xmlns:a="http://schemas.openxmlformats.org/drawingml/2006/main">
              <a:ext uri="{FF2B5EF4-FFF2-40B4-BE49-F238E27FC236}">
                <a16:creationId xmlns:a16="http://schemas.microsoft.com/office/drawing/2014/main" id="{67EBF235-33E2-42A2-8707-0F4EC74F83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1650" y="4905375"/>
            <a:ext cx="207645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638" b="1">
                <a:solidFill>
                  <a:srgbClr val="132238"/>
                </a:solidFill>
              </a:defRPr>
            </a:pPr>
            <a:r>
              <a:rPr sz="638" b="1">
                <a:solidFill>
                  <a:srgbClr val="132238"/>
                </a:solidFill>
              </a:rPr>
              <a:t>Pollen Filter</a:t>
            </a:r>
          </a:p>
        </p:txBody>
      </p:sp>
      <p:sp>
        <p:nvSpPr>
          <p:cNvPr id="78" name="textbox-659">
            <a:extLst xmlns:a="http://schemas.openxmlformats.org/drawingml/2006/main">
              <a:ext uri="{FF2B5EF4-FFF2-40B4-BE49-F238E27FC236}">
                <a16:creationId xmlns:a16="http://schemas.microsoft.com/office/drawing/2014/main" id="{212F6879-705A-4F23-86D8-2391999252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4905375"/>
            <a:ext cx="198120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638" b="0">
                <a:solidFill>
                  <a:srgbClr val="132238"/>
                </a:solidFill>
              </a:defRPr>
            </a:pPr>
            <a:r>
              <a:rPr sz="638" b="0">
                <a:solidFill>
                  <a:srgbClr val="132238"/>
                </a:solidFill>
              </a:rPr>
              <a:t>Cabin / pollen filter</a:t>
            </a:r>
          </a:p>
        </p:txBody>
      </p:sp>
      <p:sp>
        <p:nvSpPr>
          <p:cNvPr id="79" name="textbox-660">
            <a:extLst xmlns:a="http://schemas.openxmlformats.org/drawingml/2006/main">
              <a:ext uri="{FF2B5EF4-FFF2-40B4-BE49-F238E27FC236}">
                <a16:creationId xmlns:a16="http://schemas.microsoft.com/office/drawing/2014/main" id="{DF161D68-7D3E-4EB7-83B2-097E2AA32E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4905375"/>
            <a:ext cx="64770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638" b="0">
                <a:solidFill>
                  <a:srgbClr val="132238"/>
                </a:solidFill>
              </a:defRPr>
            </a:pPr>
            <a:r>
              <a:rPr sz="638" b="0">
                <a:solidFill>
                  <a:srgbClr val="132238"/>
                </a:solidFill>
              </a:rPr>
              <a:t>98%</a:t>
            </a:r>
          </a:p>
        </p:txBody>
      </p:sp>
      <p:sp>
        <p:nvSpPr>
          <p:cNvPr id="80" name="textbox-661">
            <a:extLst xmlns:a="http://schemas.openxmlformats.org/drawingml/2006/main">
              <a:ext uri="{FF2B5EF4-FFF2-40B4-BE49-F238E27FC236}">
                <a16:creationId xmlns:a16="http://schemas.microsoft.com/office/drawing/2014/main" id="{5B601B0D-6F72-44D6-BCDB-415F2A6E97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29900" y="4905375"/>
            <a:ext cx="83820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638" b="1">
                <a:solidFill>
                  <a:srgbClr val="2E7D5B"/>
                </a:solidFill>
              </a:defRPr>
            </a:pPr>
            <a:r>
              <a:rPr sz="638" b="1">
                <a:solidFill>
                  <a:srgbClr val="2E7D5B"/>
                </a:solidFill>
              </a:rPr>
              <a:t>Approved</a:t>
            </a:r>
          </a:p>
        </p:txBody>
      </p:sp>
      <p:sp>
        <p:nvSpPr>
          <p:cNvPr id="81" name="rect-662">
            <a:extLst xmlns:a="http://schemas.openxmlformats.org/drawingml/2006/main">
              <a:ext uri="{FF2B5EF4-FFF2-40B4-BE49-F238E27FC236}">
                <a16:creationId xmlns:a16="http://schemas.microsoft.com/office/drawing/2014/main" id="{5E5F57AC-0DC4-4C32-B7EA-4DA83F9215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5257800"/>
            <a:ext cx="6000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3E8"/>
          </a:solidFill>
          <a:ln xmlns:a="http://schemas.openxmlformats.org/drawingml/2006/main" w="0">
            <a:solidFill>
              <a:srgbClr val="DDE3E8"/>
            </a:solidFill>
            <a:prstDash val="solid"/>
          </a:ln>
        </p:spPr>
      </p:sp>
      <p:sp>
        <p:nvSpPr>
          <p:cNvPr id="82" name="textbox-663">
            <a:extLst xmlns:a="http://schemas.openxmlformats.org/drawingml/2006/main">
              <a:ext uri="{FF2B5EF4-FFF2-40B4-BE49-F238E27FC236}">
                <a16:creationId xmlns:a16="http://schemas.microsoft.com/office/drawing/2014/main" id="{88E5BE81-BD2B-488C-A8CA-CDC30D7D8E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1650" y="5295900"/>
            <a:ext cx="207645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638" b="1">
                <a:solidFill>
                  <a:srgbClr val="132238"/>
                </a:solidFill>
              </a:defRPr>
            </a:pPr>
            <a:r>
              <a:rPr sz="638" b="1">
                <a:solidFill>
                  <a:srgbClr val="132238"/>
                </a:solidFill>
              </a:rPr>
              <a:t>Spark Plugs</a:t>
            </a:r>
          </a:p>
        </p:txBody>
      </p:sp>
      <p:sp>
        <p:nvSpPr>
          <p:cNvPr id="83" name="textbox-664">
            <a:extLst xmlns:a="http://schemas.openxmlformats.org/drawingml/2006/main">
              <a:ext uri="{FF2B5EF4-FFF2-40B4-BE49-F238E27FC236}">
                <a16:creationId xmlns:a16="http://schemas.microsoft.com/office/drawing/2014/main" id="{0961881A-DF3A-4AD4-8BA1-8555524219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5295900"/>
            <a:ext cx="198120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638" b="0">
                <a:solidFill>
                  <a:srgbClr val="132238"/>
                </a:solidFill>
              </a:defRPr>
            </a:pPr>
            <a:r>
              <a:rPr sz="638" b="0">
                <a:solidFill>
                  <a:srgbClr val="132238"/>
                </a:solidFill>
              </a:rPr>
              <a:t>Spark plug replacement</a:t>
            </a:r>
          </a:p>
        </p:txBody>
      </p:sp>
      <p:sp>
        <p:nvSpPr>
          <p:cNvPr id="84" name="textbox-665">
            <a:extLst xmlns:a="http://schemas.openxmlformats.org/drawingml/2006/main">
              <a:ext uri="{FF2B5EF4-FFF2-40B4-BE49-F238E27FC236}">
                <a16:creationId xmlns:a16="http://schemas.microsoft.com/office/drawing/2014/main" id="{E3EC02EB-B775-46E1-AC3B-A6259BC4A6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5295900"/>
            <a:ext cx="64770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638" b="0">
                <a:solidFill>
                  <a:srgbClr val="132238"/>
                </a:solidFill>
              </a:defRPr>
            </a:pPr>
            <a:r>
              <a:rPr sz="638" b="0">
                <a:solidFill>
                  <a:srgbClr val="132238"/>
                </a:solidFill>
              </a:rPr>
              <a:t>97%</a:t>
            </a:r>
          </a:p>
        </p:txBody>
      </p:sp>
      <p:sp>
        <p:nvSpPr>
          <p:cNvPr id="85" name="textbox-666">
            <a:extLst xmlns:a="http://schemas.openxmlformats.org/drawingml/2006/main">
              <a:ext uri="{FF2B5EF4-FFF2-40B4-BE49-F238E27FC236}">
                <a16:creationId xmlns:a16="http://schemas.microsoft.com/office/drawing/2014/main" id="{00ADAA49-7333-4F46-AF37-1C5C11E595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29900" y="5295900"/>
            <a:ext cx="83820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638" b="1">
                <a:solidFill>
                  <a:srgbClr val="2E7D5B"/>
                </a:solidFill>
              </a:defRPr>
            </a:pPr>
            <a:r>
              <a:rPr sz="638" b="1">
                <a:solidFill>
                  <a:srgbClr val="2E7D5B"/>
                </a:solidFill>
              </a:rPr>
              <a:t>Approved</a:t>
            </a:r>
          </a:p>
        </p:txBody>
      </p:sp>
      <p:sp>
        <p:nvSpPr>
          <p:cNvPr id="86" name="rect-667">
            <a:extLst xmlns:a="http://schemas.openxmlformats.org/drawingml/2006/main">
              <a:ext uri="{FF2B5EF4-FFF2-40B4-BE49-F238E27FC236}">
                <a16:creationId xmlns:a16="http://schemas.microsoft.com/office/drawing/2014/main" id="{EC3DD596-C24B-415B-8EA1-36F5A2CC44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5648325"/>
            <a:ext cx="6000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3E8"/>
          </a:solidFill>
          <a:ln xmlns:a="http://schemas.openxmlformats.org/drawingml/2006/main" w="0">
            <a:solidFill>
              <a:srgbClr val="DDE3E8"/>
            </a:solidFill>
            <a:prstDash val="solid"/>
          </a:ln>
        </p:spPr>
      </p:sp>
      <p:sp>
        <p:nvSpPr>
          <p:cNvPr id="87" name="textbox-668">
            <a:extLst xmlns:a="http://schemas.openxmlformats.org/drawingml/2006/main">
              <a:ext uri="{FF2B5EF4-FFF2-40B4-BE49-F238E27FC236}">
                <a16:creationId xmlns:a16="http://schemas.microsoft.com/office/drawing/2014/main" id="{3B62679F-CA76-4F02-8749-C8E02D74C0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1650" y="5686425"/>
            <a:ext cx="207645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638" b="1">
                <a:solidFill>
                  <a:srgbClr val="132238"/>
                </a:solidFill>
              </a:defRPr>
            </a:pPr>
            <a:r>
              <a:rPr sz="638" b="1">
                <a:solidFill>
                  <a:srgbClr val="132238"/>
                </a:solidFill>
              </a:rPr>
              <a:t>Sundries / Oil Etc.</a:t>
            </a:r>
          </a:p>
        </p:txBody>
      </p:sp>
      <p:sp>
        <p:nvSpPr>
          <p:cNvPr id="88" name="textbox-669">
            <a:extLst xmlns:a="http://schemas.openxmlformats.org/drawingml/2006/main">
              <a:ext uri="{FF2B5EF4-FFF2-40B4-BE49-F238E27FC236}">
                <a16:creationId xmlns:a16="http://schemas.microsoft.com/office/drawing/2014/main" id="{6B971C28-A51A-4F5B-B425-8BC40E12F4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5686425"/>
            <a:ext cx="198120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638" b="0">
                <a:solidFill>
                  <a:srgbClr val="132238"/>
                </a:solidFill>
              </a:defRPr>
            </a:pPr>
            <a:r>
              <a:rPr sz="638" b="0">
                <a:solidFill>
                  <a:srgbClr val="132238"/>
                </a:solidFill>
              </a:rPr>
              <a:t>No approved candidate</a:t>
            </a:r>
          </a:p>
        </p:txBody>
      </p:sp>
      <p:sp>
        <p:nvSpPr>
          <p:cNvPr id="89" name="textbox-670">
            <a:extLst xmlns:a="http://schemas.openxmlformats.org/drawingml/2006/main">
              <a:ext uri="{FF2B5EF4-FFF2-40B4-BE49-F238E27FC236}">
                <a16:creationId xmlns:a16="http://schemas.microsoft.com/office/drawing/2014/main" id="{F505B324-28BA-4926-8F48-9833421CD5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5686425"/>
            <a:ext cx="64770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638" b="0">
                <a:solidFill>
                  <a:srgbClr val="132238"/>
                </a:solidFill>
              </a:defRPr>
            </a:pPr>
            <a:r>
              <a:rPr sz="638" b="0">
                <a:solidFill>
                  <a:srgbClr val="132238"/>
                </a:solidFill>
              </a:rPr>
              <a:t>71%</a:t>
            </a:r>
          </a:p>
        </p:txBody>
      </p:sp>
      <p:sp>
        <p:nvSpPr>
          <p:cNvPr id="90" name="textbox-671">
            <a:extLst xmlns:a="http://schemas.openxmlformats.org/drawingml/2006/main">
              <a:ext uri="{FF2B5EF4-FFF2-40B4-BE49-F238E27FC236}">
                <a16:creationId xmlns:a16="http://schemas.microsoft.com/office/drawing/2014/main" id="{185A0329-2359-4809-8683-337B041C18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29900" y="5686425"/>
            <a:ext cx="83820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638" b="1">
                <a:solidFill>
                  <a:srgbClr val="E85D4A"/>
                </a:solidFill>
              </a:defRPr>
            </a:pPr>
            <a:r>
              <a:rPr sz="638" b="1">
                <a:solidFill>
                  <a:srgbClr val="E85D4A"/>
                </a:solidFill>
              </a:rPr>
              <a:t>Review</a:t>
            </a:r>
          </a:p>
        </p:txBody>
      </p:sp>
      <p:sp>
        <p:nvSpPr>
          <p:cNvPr id="91" name="roundRect-672">
            <a:extLst xmlns:a="http://schemas.openxmlformats.org/drawingml/2006/main">
              <a:ext uri="{FF2B5EF4-FFF2-40B4-BE49-F238E27FC236}">
                <a16:creationId xmlns:a16="http://schemas.microsoft.com/office/drawing/2014/main" id="{3F242885-F8DB-44C0-A4D6-4D6DB5361D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6172200"/>
            <a:ext cx="600075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FFF7DF"/>
          </a:solidFill>
          <a:ln xmlns:a="http://schemas.openxmlformats.org/drawingml/2006/main" w="9525">
            <a:solidFill>
              <a:srgbClr val="C98A16"/>
            </a:solidFill>
            <a:prstDash val="solid"/>
          </a:ln>
        </p:spPr>
      </p:sp>
      <p:sp>
        <p:nvSpPr>
          <p:cNvPr id="92" name="textbox-673">
            <a:extLst xmlns:a="http://schemas.openxmlformats.org/drawingml/2006/main">
              <a:ext uri="{FF2B5EF4-FFF2-40B4-BE49-F238E27FC236}">
                <a16:creationId xmlns:a16="http://schemas.microsoft.com/office/drawing/2014/main" id="{66B29399-6566-475A-AE6A-22D3CECCCE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57850" y="6229350"/>
            <a:ext cx="5734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713" b="1">
                <a:solidFill>
                  <a:srgbClr val="C98A16"/>
                </a:solidFill>
              </a:defRPr>
            </a:pPr>
            <a:r>
              <a:rPr sz="713" b="1">
                <a:solidFill>
                  <a:srgbClr val="C98A16"/>
                </a:solidFill>
              </a:rPr>
              <a:t>Bundled or uncertain lines remain with the handler—no financial split is guessed.</a:t>
            </a:r>
          </a:p>
        </p:txBody>
      </p:sp>
    </p:spTree>
    <p:extLst>
      <p:ext uri="{BB962C8B-B14F-4D97-AF65-F5344CB8AC3E}">
        <p14:creationId xmlns:p14="http://schemas.microsoft.com/office/powerpoint/2010/main" val="984843216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CFB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eyebrow-11">
            <a:extLst xmlns:a="http://schemas.openxmlformats.org/drawingml/2006/main">
              <a:ext uri="{FF2B5EF4-FFF2-40B4-BE49-F238E27FC236}">
                <a16:creationId xmlns:a16="http://schemas.microsoft.com/office/drawing/2014/main" id="{2E238570-D1A8-42E8-B648-9BCD0FAD08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47650"/>
            <a:ext cx="285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975" b="1">
                <a:solidFill>
                  <a:srgbClr val="0B8687"/>
                </a:solidFill>
              </a:defRPr>
            </a:pPr>
            <a:r>
              <a:rPr sz="975" b="1">
                <a:solidFill>
                  <a:srgbClr val="0B8687"/>
                </a:solidFill>
              </a:rPr>
              <a:t>LIVE PRODUCT EVIDENCE</a:t>
            </a:r>
          </a:p>
        </p:txBody>
      </p:sp>
      <p:sp>
        <p:nvSpPr>
          <p:cNvPr id="2" name="title-11">
            <a:extLst xmlns:a="http://schemas.openxmlformats.org/drawingml/2006/main">
              <a:ext uri="{FF2B5EF4-FFF2-40B4-BE49-F238E27FC236}">
                <a16:creationId xmlns:a16="http://schemas.microsoft.com/office/drawing/2014/main" id="{C80BCFF0-E0C0-4C06-9ECA-7BBF32D9B3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95300"/>
            <a:ext cx="11049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3150" b="1">
                <a:solidFill>
                  <a:srgbClr val="071B3D"/>
                </a:solidFill>
              </a:defRPr>
            </a:pPr>
            <a:r>
              <a:rPr sz="3150" b="1">
                <a:solidFill>
                  <a:srgbClr val="071B3D"/>
                </a:solidFill>
              </a:rPr>
              <a:t>P90 decisions are backed by exact evidence</a:t>
            </a:r>
          </a:p>
        </p:txBody>
      </p:sp>
      <p:sp>
        <p:nvSpPr>
          <p:cNvPr id="3" name="subtitle-11">
            <a:extLst xmlns:a="http://schemas.openxmlformats.org/drawingml/2006/main">
              <a:ext uri="{FF2B5EF4-FFF2-40B4-BE49-F238E27FC236}">
                <a16:creationId xmlns:a16="http://schemas.microsoft.com/office/drawing/2014/main" id="{6C4A74E1-7979-4AC3-91D6-540914946E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028700"/>
            <a:ext cx="10763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350">
                <a:solidFill>
                  <a:srgbClr val="6F7A89"/>
                </a:solidFill>
              </a:defRPr>
            </a:pPr>
            <a:r>
              <a:rPr sz="1350">
                <a:solidFill>
                  <a:srgbClr val="6F7A89"/>
                </a:solidFill>
              </a:rPr>
              <a:t>The benchmark can be traced to the earlier invoices used for the comparison.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F148E78-16FB-469A-99F8-0DC317FE69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362075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3E8"/>
          </a:solidFill>
          <a:ln xmlns:a="http://schemas.openxmlformats.org/drawingml/2006/main" w="0">
            <a:solidFill>
              <a:srgbClr val="DDE3E8"/>
            </a:solidFill>
            <a:prstDash val="solid"/>
          </a:ln>
        </p:spPr>
      </p:sp>
      <p:sp>
        <p:nvSpPr>
          <p:cNvPr id="5" name="page-11">
            <a:extLst xmlns:a="http://schemas.openxmlformats.org/drawingml/2006/main">
              <a:ext uri="{FF2B5EF4-FFF2-40B4-BE49-F238E27FC236}">
                <a16:creationId xmlns:a16="http://schemas.microsoft.com/office/drawing/2014/main" id="{76AF64C8-0369-4E6F-B7FC-DA6BCCF8E2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0" y="6477000"/>
            <a:ext cx="3048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900" b="1">
                <a:solidFill>
                  <a:srgbClr val="6F7A89"/>
                </a:solidFill>
              </a:defRPr>
            </a:pPr>
            <a:r>
              <a:rPr sz="900" b="1">
                <a:solidFill>
                  <a:srgbClr val="6F7A89"/>
                </a:solidFill>
              </a:rPr>
              <a:t>11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3F28F9A-F2E5-46A6-BC10-D6845BBCAE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752600"/>
            <a:ext cx="419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350" b="1">
                <a:solidFill>
                  <a:srgbClr val="0B8687"/>
                </a:solidFill>
              </a:defRPr>
            </a:pPr>
            <a:r>
              <a:rPr sz="1350" b="1">
                <a:solidFill>
                  <a:srgbClr val="0B8687"/>
                </a:solidFill>
              </a:rPr>
              <a:t>01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C7ECFD8-9622-45E0-83C1-64A5DD0C1C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866900"/>
            <a:ext cx="381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8687"/>
          </a:solidFill>
          <a:ln xmlns:a="http://schemas.openxmlformats.org/drawingml/2006/main" w="0">
            <a:solidFill>
              <a:srgbClr val="0B8687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671340F-1269-43A4-BF60-1D69BC3127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1733550"/>
            <a:ext cx="2571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725" b="1">
                <a:solidFill>
                  <a:srgbClr val="132238"/>
                </a:solidFill>
              </a:defRPr>
            </a:pPr>
            <a:r>
              <a:rPr sz="1725" b="1">
                <a:solidFill>
                  <a:srgbClr val="132238"/>
                </a:solidFill>
              </a:rPr>
              <a:t>Comparable history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B4DB83F-657F-491A-A1A9-D297C63650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2076450"/>
            <a:ext cx="25527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75">
                <a:solidFill>
                  <a:srgbClr val="465365"/>
                </a:solidFill>
              </a:defRPr>
            </a:pPr>
            <a:r>
              <a:rPr sz="1275">
                <a:solidFill>
                  <a:srgbClr val="465365"/>
                </a:solidFill>
              </a:rPr>
              <a:t>Earlier prices are grouped under the same governed repair item.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55B7AA2-8751-4E74-9E22-DD8A351DC3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2971800"/>
            <a:ext cx="419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350" b="1">
                <a:solidFill>
                  <a:srgbClr val="0B8687"/>
                </a:solidFill>
              </a:defRPr>
            </a:pPr>
            <a:r>
              <a:rPr sz="1350" b="1">
                <a:solidFill>
                  <a:srgbClr val="0B8687"/>
                </a:solidFill>
              </a:rPr>
              <a:t>02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336040A-4BB0-45BE-A226-157F1087FD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086100"/>
            <a:ext cx="381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8687"/>
          </a:solidFill>
          <a:ln xmlns:a="http://schemas.openxmlformats.org/drawingml/2006/main" w="0">
            <a:solidFill>
              <a:srgbClr val="0B8687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CB2826D-5177-4595-AE45-B055D4C3B6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2952750"/>
            <a:ext cx="2571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725" b="1">
                <a:solidFill>
                  <a:srgbClr val="132238"/>
                </a:solidFill>
              </a:defRPr>
            </a:pPr>
            <a:r>
              <a:rPr sz="1725" b="1">
                <a:solidFill>
                  <a:srgbClr val="132238"/>
                </a:solidFill>
              </a:rPr>
              <a:t>Current excluded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8980922-9542-404A-8B89-9ADFEBE8DC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3295650"/>
            <a:ext cx="25527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75">
                <a:solidFill>
                  <a:srgbClr val="465365"/>
                </a:solidFill>
              </a:defRPr>
            </a:pPr>
            <a:r>
              <a:rPr sz="1275">
                <a:solidFill>
                  <a:srgbClr val="465365"/>
                </a:solidFill>
              </a:rPr>
              <a:t>The invoice being evaluated never influences its own P90.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16B2C79-9212-4667-A5DE-4F7F1652C4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4191000"/>
            <a:ext cx="419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350" b="1">
                <a:solidFill>
                  <a:srgbClr val="0B8687"/>
                </a:solidFill>
              </a:defRPr>
            </a:pPr>
            <a:r>
              <a:rPr sz="1350" b="1">
                <a:solidFill>
                  <a:srgbClr val="0B8687"/>
                </a:solidFill>
              </a:rPr>
              <a:t>03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85E5FB6-59B6-47A9-A049-57EC8502F5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305300"/>
            <a:ext cx="381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8687"/>
          </a:solidFill>
          <a:ln xmlns:a="http://schemas.openxmlformats.org/drawingml/2006/main" w="0">
            <a:solidFill>
              <a:srgbClr val="0B8687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A33464C-2948-4D00-8A62-D327A6759C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4171950"/>
            <a:ext cx="2571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725" b="1">
                <a:solidFill>
                  <a:srgbClr val="132238"/>
                </a:solidFill>
              </a:defRPr>
            </a:pPr>
            <a:r>
              <a:rPr sz="1725" b="1">
                <a:solidFill>
                  <a:srgbClr val="132238"/>
                </a:solidFill>
              </a:rPr>
              <a:t>Evidence on demand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F77DECC-3A75-479E-815B-06E072EF84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4514850"/>
            <a:ext cx="25527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75">
                <a:solidFill>
                  <a:srgbClr val="465365"/>
                </a:solidFill>
              </a:defRPr>
            </a:pPr>
            <a:r>
              <a:rPr sz="1275">
                <a:solidFill>
                  <a:srgbClr val="465365"/>
                </a:solidFill>
              </a:rPr>
              <a:t>Invoice number, date, description and price remain visible.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78EB4B1-6084-4D68-90DA-1464123F8C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753100"/>
            <a:ext cx="3562350" cy="62865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E8F4F2"/>
          </a:solidFill>
          <a:ln xmlns:a="http://schemas.openxmlformats.org/drawingml/2006/main" w="9525">
            <a:solidFill>
              <a:srgbClr val="0B8687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0537C2B-BB9C-4E2C-8774-BA6BCE3AD6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886450"/>
            <a:ext cx="31813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75" b="1">
                <a:solidFill>
                  <a:srgbClr val="096C6D"/>
                </a:solidFill>
              </a:defRPr>
            </a:pPr>
            <a:r>
              <a:rPr sz="1275" b="1">
                <a:solidFill>
                  <a:srgbClr val="096C6D"/>
                </a:solidFill>
              </a:rPr>
              <a:t>Transparent benchmark. Explainable recommendation.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EF96A17-3C8D-477B-8315-4F48E49D5E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1504950"/>
            <a:ext cx="7600950" cy="5314950"/>
          </a:xfrm>
          <a:prstGeom xmlns:a="http://schemas.openxmlformats.org/drawingml/2006/main" prst="roundRect">
            <a:avLst>
              <a:gd name="adj" fmla="val 215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0B8687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6"/>
          <a:fontRef xmlns:a="http://schemas.openxmlformats.org/drawingml/2006/main" idx="major"/>
        </p:style>
      </p:sp>
      <p:sp>
        <p:nvSpPr>
          <p:cNvPr id="23" name="rect-674">
            <a:extLst xmlns:a="http://schemas.openxmlformats.org/drawingml/2006/main">
              <a:ext uri="{FF2B5EF4-FFF2-40B4-BE49-F238E27FC236}">
                <a16:creationId xmlns:a16="http://schemas.microsoft.com/office/drawing/2014/main" id="{DE1F3CCA-7184-4CF7-9C76-F132C1C494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1562100"/>
            <a:ext cx="7486650" cy="5200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DDE3E8"/>
            </a:solidFill>
            <a:prstDash val="solid"/>
          </a:ln>
        </p:spPr>
      </p:sp>
      <p:sp>
        <p:nvSpPr>
          <p:cNvPr id="24" name="rect-675">
            <a:extLst xmlns:a="http://schemas.openxmlformats.org/drawingml/2006/main">
              <a:ext uri="{FF2B5EF4-FFF2-40B4-BE49-F238E27FC236}">
                <a16:creationId xmlns:a16="http://schemas.microsoft.com/office/drawing/2014/main" id="{9C85FA01-E3A9-4B30-9EF7-C5368A3235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1562100"/>
            <a:ext cx="74866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7F8"/>
          </a:solidFill>
          <a:ln xmlns:a="http://schemas.openxmlformats.org/drawingml/2006/main" w="0">
            <a:solidFill>
              <a:srgbClr val="DDE3E8"/>
            </a:solidFill>
            <a:prstDash val="solid"/>
          </a:ln>
        </p:spPr>
      </p:sp>
      <p:sp>
        <p:nvSpPr>
          <p:cNvPr id="25" name="roundRect-676">
            <a:extLst xmlns:a="http://schemas.openxmlformats.org/drawingml/2006/main">
              <a:ext uri="{FF2B5EF4-FFF2-40B4-BE49-F238E27FC236}">
                <a16:creationId xmlns:a16="http://schemas.microsoft.com/office/drawing/2014/main" id="{59BF3749-82F5-4B3C-9555-48727AB742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1628775"/>
            <a:ext cx="190500" cy="1905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071B3D"/>
          </a:solidFill>
          <a:ln xmlns:a="http://schemas.openxmlformats.org/drawingml/2006/main" w="9525">
            <a:solidFill>
              <a:srgbClr val="071B3D"/>
            </a:solidFill>
            <a:prstDash val="solid"/>
          </a:ln>
        </p:spPr>
      </p:sp>
      <p:sp>
        <p:nvSpPr>
          <p:cNvPr id="26" name="textbox-677">
            <a:extLst xmlns:a="http://schemas.openxmlformats.org/drawingml/2006/main">
              <a:ext uri="{FF2B5EF4-FFF2-40B4-BE49-F238E27FC236}">
                <a16:creationId xmlns:a16="http://schemas.microsoft.com/office/drawing/2014/main" id="{3044F029-5B3B-4829-83B4-41ED9111EB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1638300"/>
            <a:ext cx="19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600" b="1">
                <a:solidFill>
                  <a:srgbClr val="FFFFFF"/>
                </a:solidFill>
              </a:defRPr>
            </a:pPr>
            <a:r>
              <a:rPr sz="600" b="1">
                <a:solidFill>
                  <a:srgbClr val="FFFFFF"/>
                </a:solidFill>
              </a:rPr>
              <a:t>CG</a:t>
            </a:r>
          </a:p>
        </p:txBody>
      </p:sp>
      <p:sp>
        <p:nvSpPr>
          <p:cNvPr id="27" name="textbox-678">
            <a:extLst xmlns:a="http://schemas.openxmlformats.org/drawingml/2006/main">
              <a:ext uri="{FF2B5EF4-FFF2-40B4-BE49-F238E27FC236}">
                <a16:creationId xmlns:a16="http://schemas.microsoft.com/office/drawing/2014/main" id="{58978D8E-2FC0-4E95-AA5E-988E4D2C47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1628775"/>
            <a:ext cx="95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071B3D"/>
                </a:solidFill>
              </a:defRPr>
            </a:pPr>
            <a:r>
              <a:rPr sz="825" b="1">
                <a:solidFill>
                  <a:srgbClr val="071B3D"/>
                </a:solidFill>
              </a:rPr>
              <a:t>ClaimGuard</a:t>
            </a:r>
          </a:p>
        </p:txBody>
      </p:sp>
      <p:sp>
        <p:nvSpPr>
          <p:cNvPr id="28" name="roundRect-679">
            <a:extLst xmlns:a="http://schemas.openxmlformats.org/drawingml/2006/main">
              <a:ext uri="{FF2B5EF4-FFF2-40B4-BE49-F238E27FC236}">
                <a16:creationId xmlns:a16="http://schemas.microsoft.com/office/drawing/2014/main" id="{896DF09F-D62C-4F21-89CD-2E4D15F1EA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91800" y="1619250"/>
            <a:ext cx="952500" cy="2286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FF7EC"/>
          </a:solidFill>
          <a:ln xmlns:a="http://schemas.openxmlformats.org/drawingml/2006/main" w="9525">
            <a:solidFill>
              <a:srgbClr val="EFF7EC"/>
            </a:solidFill>
            <a:prstDash val="solid"/>
          </a:ln>
        </p:spPr>
      </p:sp>
      <p:sp>
        <p:nvSpPr>
          <p:cNvPr id="29" name="textbox-680">
            <a:extLst xmlns:a="http://schemas.openxmlformats.org/drawingml/2006/main">
              <a:ext uri="{FF2B5EF4-FFF2-40B4-BE49-F238E27FC236}">
                <a16:creationId xmlns:a16="http://schemas.microsoft.com/office/drawing/2014/main" id="{1BC9C591-7BB7-44FF-AB75-C03F00BACE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48950" y="1628775"/>
            <a:ext cx="838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2E7D5B"/>
                </a:solidFill>
              </a:defRPr>
            </a:pPr>
            <a:r>
              <a:rPr sz="825" b="1">
                <a:solidFill>
                  <a:srgbClr val="2E7D5B"/>
                </a:solidFill>
              </a:rPr>
              <a:t>API connected</a:t>
            </a:r>
          </a:p>
        </p:txBody>
      </p:sp>
      <p:sp>
        <p:nvSpPr>
          <p:cNvPr id="30" name="rect-681">
            <a:extLst xmlns:a="http://schemas.openxmlformats.org/drawingml/2006/main">
              <a:ext uri="{FF2B5EF4-FFF2-40B4-BE49-F238E27FC236}">
                <a16:creationId xmlns:a16="http://schemas.microsoft.com/office/drawing/2014/main" id="{E4720FC2-46AA-4374-8020-B8ECFEF692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1885950"/>
            <a:ext cx="1066800" cy="487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A"/>
          </a:solidFill>
          <a:ln xmlns:a="http://schemas.openxmlformats.org/drawingml/2006/main" w="0">
            <a:solidFill>
              <a:srgbClr val="DDE3E8"/>
            </a:solidFill>
            <a:prstDash val="solid"/>
          </a:ln>
        </p:spPr>
      </p:sp>
      <p:sp>
        <p:nvSpPr>
          <p:cNvPr id="31" name="textbox-682">
            <a:extLst xmlns:a="http://schemas.openxmlformats.org/drawingml/2006/main">
              <a:ext uri="{FF2B5EF4-FFF2-40B4-BE49-F238E27FC236}">
                <a16:creationId xmlns:a16="http://schemas.microsoft.com/office/drawing/2014/main" id="{627F2044-57C3-4EBE-B5B1-FD23520BA0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2076450"/>
            <a:ext cx="8001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638" b="0">
                <a:solidFill>
                  <a:srgbClr val="465365"/>
                </a:solidFill>
              </a:defRPr>
            </a:pPr>
            <a:r>
              <a:rPr sz="638" b="0">
                <a:solidFill>
                  <a:srgbClr val="465365"/>
                </a:solidFill>
              </a:rPr>
              <a:t>Overview</a:t>
            </a:r>
          </a:p>
        </p:txBody>
      </p:sp>
      <p:sp>
        <p:nvSpPr>
          <p:cNvPr id="32" name="textbox-683">
            <a:extLst xmlns:a="http://schemas.openxmlformats.org/drawingml/2006/main">
              <a:ext uri="{FF2B5EF4-FFF2-40B4-BE49-F238E27FC236}">
                <a16:creationId xmlns:a16="http://schemas.microsoft.com/office/drawing/2014/main" id="{B0531482-5A03-40A0-89A4-B86D4F1C03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2400300"/>
            <a:ext cx="8001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638" b="0">
                <a:solidFill>
                  <a:srgbClr val="465365"/>
                </a:solidFill>
              </a:defRPr>
            </a:pPr>
            <a:r>
              <a:rPr sz="638" b="0">
                <a:solidFill>
                  <a:srgbClr val="465365"/>
                </a:solidFill>
              </a:rPr>
              <a:t>Documents</a:t>
            </a:r>
          </a:p>
        </p:txBody>
      </p:sp>
      <p:sp>
        <p:nvSpPr>
          <p:cNvPr id="33" name="textbox-684">
            <a:extLst xmlns:a="http://schemas.openxmlformats.org/drawingml/2006/main">
              <a:ext uri="{FF2B5EF4-FFF2-40B4-BE49-F238E27FC236}">
                <a16:creationId xmlns:a16="http://schemas.microsoft.com/office/drawing/2014/main" id="{43FE9713-BB1D-43D8-9A14-8961803AC1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2724150"/>
            <a:ext cx="8001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638" b="0">
                <a:solidFill>
                  <a:srgbClr val="465365"/>
                </a:solidFill>
              </a:defRPr>
            </a:pPr>
            <a:r>
              <a:rPr sz="638" b="0">
                <a:solidFill>
                  <a:srgbClr val="465365"/>
                </a:solidFill>
              </a:rPr>
              <a:t>Review findings</a:t>
            </a:r>
          </a:p>
        </p:txBody>
      </p:sp>
      <p:sp>
        <p:nvSpPr>
          <p:cNvPr id="34" name="textbox-685">
            <a:extLst xmlns:a="http://schemas.openxmlformats.org/drawingml/2006/main">
              <a:ext uri="{FF2B5EF4-FFF2-40B4-BE49-F238E27FC236}">
                <a16:creationId xmlns:a16="http://schemas.microsoft.com/office/drawing/2014/main" id="{B37D34BA-FE85-4D5F-B978-504A00034E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3048000"/>
            <a:ext cx="8001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638" b="0">
                <a:solidFill>
                  <a:srgbClr val="465365"/>
                </a:solidFill>
              </a:defRPr>
            </a:pPr>
            <a:r>
              <a:rPr sz="638" b="0">
                <a:solidFill>
                  <a:srgbClr val="465365"/>
                </a:solidFill>
              </a:rPr>
              <a:t>Approve challenge</a:t>
            </a:r>
          </a:p>
        </p:txBody>
      </p:sp>
      <p:sp>
        <p:nvSpPr>
          <p:cNvPr id="35" name="textbox-686">
            <a:extLst xmlns:a="http://schemas.openxmlformats.org/drawingml/2006/main">
              <a:ext uri="{FF2B5EF4-FFF2-40B4-BE49-F238E27FC236}">
                <a16:creationId xmlns:a16="http://schemas.microsoft.com/office/drawing/2014/main" id="{3F997B50-0AF2-404B-83AD-ED6845FB37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3371850"/>
            <a:ext cx="8001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638" b="0">
                <a:solidFill>
                  <a:srgbClr val="465365"/>
                </a:solidFill>
              </a:defRPr>
            </a:pPr>
            <a:r>
              <a:rPr sz="638" b="0">
                <a:solidFill>
                  <a:srgbClr val="465365"/>
                </a:solidFill>
              </a:rPr>
              <a:t>Audit trail</a:t>
            </a:r>
          </a:p>
        </p:txBody>
      </p:sp>
      <p:sp>
        <p:nvSpPr>
          <p:cNvPr id="36" name="textbox-687">
            <a:extLst xmlns:a="http://schemas.openxmlformats.org/drawingml/2006/main">
              <a:ext uri="{FF2B5EF4-FFF2-40B4-BE49-F238E27FC236}">
                <a16:creationId xmlns:a16="http://schemas.microsoft.com/office/drawing/2014/main" id="{41D3C114-75B6-43D4-AFCC-DA162E1F84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3695700"/>
            <a:ext cx="8001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638" b="0">
                <a:solidFill>
                  <a:srgbClr val="465365"/>
                </a:solidFill>
              </a:defRPr>
            </a:pPr>
            <a:r>
              <a:rPr sz="638" b="0">
                <a:solidFill>
                  <a:srgbClr val="465365"/>
                </a:solidFill>
              </a:rPr>
              <a:t>Extracted invoice</a:t>
            </a:r>
          </a:p>
        </p:txBody>
      </p:sp>
      <p:sp>
        <p:nvSpPr>
          <p:cNvPr id="37" name="textbox-688">
            <a:extLst xmlns:a="http://schemas.openxmlformats.org/drawingml/2006/main">
              <a:ext uri="{FF2B5EF4-FFF2-40B4-BE49-F238E27FC236}">
                <a16:creationId xmlns:a16="http://schemas.microsoft.com/office/drawing/2014/main" id="{49EE89D9-248B-42F0-B927-265630BF89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4019550"/>
            <a:ext cx="8001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638" b="0">
                <a:solidFill>
                  <a:srgbClr val="465365"/>
                </a:solidFill>
              </a:defRPr>
            </a:pPr>
            <a:r>
              <a:rPr sz="638" b="0">
                <a:solidFill>
                  <a:srgbClr val="465365"/>
                </a:solidFill>
              </a:rPr>
              <a:t>Calculation checks</a:t>
            </a:r>
          </a:p>
        </p:txBody>
      </p:sp>
      <p:sp>
        <p:nvSpPr>
          <p:cNvPr id="38" name="textbox-689">
            <a:extLst xmlns:a="http://schemas.openxmlformats.org/drawingml/2006/main">
              <a:ext uri="{FF2B5EF4-FFF2-40B4-BE49-F238E27FC236}">
                <a16:creationId xmlns:a16="http://schemas.microsoft.com/office/drawing/2014/main" id="{25B4843F-88E8-400E-8106-908B980B6D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4343400"/>
            <a:ext cx="8001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638" b="0">
                <a:solidFill>
                  <a:srgbClr val="465365"/>
                </a:solidFill>
              </a:defRPr>
            </a:pPr>
            <a:r>
              <a:rPr sz="638" b="0">
                <a:solidFill>
                  <a:srgbClr val="465365"/>
                </a:solidFill>
              </a:rPr>
              <a:t>Ontology mapping</a:t>
            </a:r>
          </a:p>
        </p:txBody>
      </p:sp>
      <p:sp>
        <p:nvSpPr>
          <p:cNvPr id="39" name="roundRect-690">
            <a:extLst xmlns:a="http://schemas.openxmlformats.org/drawingml/2006/main">
              <a:ext uri="{FF2B5EF4-FFF2-40B4-BE49-F238E27FC236}">
                <a16:creationId xmlns:a16="http://schemas.microsoft.com/office/drawing/2014/main" id="{BC10B7BC-F54B-4643-AB94-BD78B505CB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4648200"/>
            <a:ext cx="914400" cy="247650"/>
          </a:xfrm>
          <a:prstGeom xmlns:a="http://schemas.openxmlformats.org/drawingml/2006/main" prst="roundRect">
            <a:avLst>
              <a:gd name="adj" fmla="val 7692"/>
            </a:avLst>
          </a:prstGeom>
          <a:solidFill xmlns:a="http://schemas.openxmlformats.org/drawingml/2006/main">
            <a:srgbClr val="E8F4F2"/>
          </a:solidFill>
          <a:ln xmlns:a="http://schemas.openxmlformats.org/drawingml/2006/main" w="9525">
            <a:solidFill>
              <a:srgbClr val="E8F4F2"/>
            </a:solidFill>
            <a:prstDash val="solid"/>
          </a:ln>
        </p:spPr>
      </p:sp>
      <p:sp>
        <p:nvSpPr>
          <p:cNvPr id="40" name="textbox-691">
            <a:extLst xmlns:a="http://schemas.openxmlformats.org/drawingml/2006/main">
              <a:ext uri="{FF2B5EF4-FFF2-40B4-BE49-F238E27FC236}">
                <a16:creationId xmlns:a16="http://schemas.microsoft.com/office/drawing/2014/main" id="{D86784C2-FD94-438B-8189-A2A2D68912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4667250"/>
            <a:ext cx="8001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638" b="1">
                <a:solidFill>
                  <a:srgbClr val="096C6D"/>
                </a:solidFill>
              </a:defRPr>
            </a:pPr>
            <a:r>
              <a:rPr sz="638" b="1">
                <a:solidFill>
                  <a:srgbClr val="096C6D"/>
                </a:solidFill>
              </a:rPr>
              <a:t>Repair benchmarks</a:t>
            </a:r>
          </a:p>
        </p:txBody>
      </p:sp>
      <p:sp>
        <p:nvSpPr>
          <p:cNvPr id="41" name="textbox-692">
            <a:extLst xmlns:a="http://schemas.openxmlformats.org/drawingml/2006/main">
              <a:ext uri="{FF2B5EF4-FFF2-40B4-BE49-F238E27FC236}">
                <a16:creationId xmlns:a16="http://schemas.microsoft.com/office/drawing/2014/main" id="{93CA821F-C873-491A-8D92-5511A79C21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2057400"/>
            <a:ext cx="5810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71B3D"/>
                </a:solidFill>
              </a:defRPr>
            </a:pPr>
            <a:r>
              <a:rPr sz="1350" b="1">
                <a:solidFill>
                  <a:srgbClr val="071B3D"/>
                </a:solidFill>
              </a:rPr>
              <a:t>Benchmark evidence</a:t>
            </a:r>
          </a:p>
        </p:txBody>
      </p:sp>
      <p:sp>
        <p:nvSpPr>
          <p:cNvPr id="42" name="textbox-693">
            <a:extLst xmlns:a="http://schemas.openxmlformats.org/drawingml/2006/main">
              <a:ext uri="{FF2B5EF4-FFF2-40B4-BE49-F238E27FC236}">
                <a16:creationId xmlns:a16="http://schemas.microsoft.com/office/drawing/2014/main" id="{3005D773-71B9-4956-AFDF-FF1F9EB049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2343150"/>
            <a:ext cx="5810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750">
                <a:solidFill>
                  <a:srgbClr val="6F7A89"/>
                </a:solidFill>
              </a:defRPr>
            </a:pPr>
            <a:r>
              <a:rPr sz="750">
                <a:solidFill>
                  <a:srgbClr val="6F7A89"/>
                </a:solidFill>
              </a:rPr>
              <a:t>P90 is calculated from earlier comparable invoices only.</a:t>
            </a:r>
          </a:p>
        </p:txBody>
      </p:sp>
      <p:sp>
        <p:nvSpPr>
          <p:cNvPr id="43" name="roundRect-694">
            <a:extLst xmlns:a="http://schemas.openxmlformats.org/drawingml/2006/main">
              <a:ext uri="{FF2B5EF4-FFF2-40B4-BE49-F238E27FC236}">
                <a16:creationId xmlns:a16="http://schemas.microsoft.com/office/drawing/2014/main" id="{B1B293ED-D70E-4B73-ADCB-038C781EC6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2686050"/>
            <a:ext cx="1762125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3E8"/>
            </a:solidFill>
            <a:prstDash val="solid"/>
          </a:ln>
        </p:spPr>
      </p:sp>
      <p:sp>
        <p:nvSpPr>
          <p:cNvPr id="44" name="textbox-695">
            <a:extLst xmlns:a="http://schemas.openxmlformats.org/drawingml/2006/main">
              <a:ext uri="{FF2B5EF4-FFF2-40B4-BE49-F238E27FC236}">
                <a16:creationId xmlns:a16="http://schemas.microsoft.com/office/drawing/2014/main" id="{0BCDE52E-CFD4-463C-8F8E-22CED66E45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8800" y="2762250"/>
            <a:ext cx="15335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675" b="1">
                <a:solidFill>
                  <a:srgbClr val="6F7A89"/>
                </a:solidFill>
              </a:defRPr>
            </a:pPr>
            <a:r>
              <a:rPr sz="675" b="1">
                <a:solidFill>
                  <a:srgbClr val="6F7A89"/>
                </a:solidFill>
              </a:rPr>
              <a:t>Canonical item</a:t>
            </a:r>
          </a:p>
        </p:txBody>
      </p:sp>
      <p:sp>
        <p:nvSpPr>
          <p:cNvPr id="45" name="textbox-696">
            <a:extLst xmlns:a="http://schemas.openxmlformats.org/drawingml/2006/main">
              <a:ext uri="{FF2B5EF4-FFF2-40B4-BE49-F238E27FC236}">
                <a16:creationId xmlns:a16="http://schemas.microsoft.com/office/drawing/2014/main" id="{217BC232-2719-4CC5-A26A-5DC5EA95D9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8800" y="2952750"/>
            <a:ext cx="15335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71B3D"/>
                </a:solidFill>
              </a:defRPr>
            </a:pPr>
            <a:r>
              <a:rPr sz="1350" b="1">
                <a:solidFill>
                  <a:srgbClr val="071B3D"/>
                </a:solidFill>
              </a:rPr>
              <a:t>Oil Filter</a:t>
            </a:r>
          </a:p>
        </p:txBody>
      </p:sp>
      <p:sp>
        <p:nvSpPr>
          <p:cNvPr id="46" name="roundRect-697">
            <a:extLst xmlns:a="http://schemas.openxmlformats.org/drawingml/2006/main">
              <a:ext uri="{FF2B5EF4-FFF2-40B4-BE49-F238E27FC236}">
                <a16:creationId xmlns:a16="http://schemas.microsoft.com/office/drawing/2014/main" id="{708D196C-19BC-483E-9490-5DEBA6734B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81875" y="2686050"/>
            <a:ext cx="13335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3E8"/>
            </a:solidFill>
            <a:prstDash val="solid"/>
          </a:ln>
        </p:spPr>
      </p:sp>
      <p:sp>
        <p:nvSpPr>
          <p:cNvPr id="47" name="textbox-698">
            <a:extLst xmlns:a="http://schemas.openxmlformats.org/drawingml/2006/main">
              <a:ext uri="{FF2B5EF4-FFF2-40B4-BE49-F238E27FC236}">
                <a16:creationId xmlns:a16="http://schemas.microsoft.com/office/drawing/2014/main" id="{5758CDAC-5D08-417F-8A9C-C4CBE6CB84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96175" y="2762250"/>
            <a:ext cx="11049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675" b="1">
                <a:solidFill>
                  <a:srgbClr val="6F7A89"/>
                </a:solidFill>
              </a:defRPr>
            </a:pPr>
            <a:r>
              <a:rPr sz="675" b="1">
                <a:solidFill>
                  <a:srgbClr val="6F7A89"/>
                </a:solidFill>
              </a:rPr>
              <a:t>Observations</a:t>
            </a:r>
          </a:p>
        </p:txBody>
      </p:sp>
      <p:sp>
        <p:nvSpPr>
          <p:cNvPr id="48" name="textbox-699">
            <a:extLst xmlns:a="http://schemas.openxmlformats.org/drawingml/2006/main">
              <a:ext uri="{FF2B5EF4-FFF2-40B4-BE49-F238E27FC236}">
                <a16:creationId xmlns:a16="http://schemas.microsoft.com/office/drawing/2014/main" id="{4E663A50-2405-4B4F-A574-983AFA2CAF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96175" y="2952750"/>
            <a:ext cx="11049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B8687"/>
                </a:solidFill>
              </a:defRPr>
            </a:pPr>
            <a:r>
              <a:rPr sz="1350" b="1">
                <a:solidFill>
                  <a:srgbClr val="0B8687"/>
                </a:solidFill>
              </a:rPr>
              <a:t>9</a:t>
            </a:r>
          </a:p>
        </p:txBody>
      </p:sp>
      <p:sp>
        <p:nvSpPr>
          <p:cNvPr id="49" name="roundRect-700">
            <a:extLst xmlns:a="http://schemas.openxmlformats.org/drawingml/2006/main">
              <a:ext uri="{FF2B5EF4-FFF2-40B4-BE49-F238E27FC236}">
                <a16:creationId xmlns:a16="http://schemas.microsoft.com/office/drawing/2014/main" id="{4D2B8FF2-0937-474B-8136-50FE431830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0625" y="2686050"/>
            <a:ext cx="1285875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3E8"/>
            </a:solidFill>
            <a:prstDash val="solid"/>
          </a:ln>
        </p:spPr>
      </p:sp>
      <p:sp>
        <p:nvSpPr>
          <p:cNvPr id="50" name="textbox-701">
            <a:extLst xmlns:a="http://schemas.openxmlformats.org/drawingml/2006/main">
              <a:ext uri="{FF2B5EF4-FFF2-40B4-BE49-F238E27FC236}">
                <a16:creationId xmlns:a16="http://schemas.microsoft.com/office/drawing/2014/main" id="{A475A3DE-704F-4ADA-ADDB-5B183A28F0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4925" y="2762250"/>
            <a:ext cx="105727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675" b="1">
                <a:solidFill>
                  <a:srgbClr val="6F7A89"/>
                </a:solidFill>
              </a:defRPr>
            </a:pPr>
            <a:r>
              <a:rPr sz="675" b="1">
                <a:solidFill>
                  <a:srgbClr val="6F7A89"/>
                </a:solidFill>
              </a:rPr>
              <a:t>P90</a:t>
            </a:r>
          </a:p>
        </p:txBody>
      </p:sp>
      <p:sp>
        <p:nvSpPr>
          <p:cNvPr id="51" name="textbox-702">
            <a:extLst xmlns:a="http://schemas.openxmlformats.org/drawingml/2006/main">
              <a:ext uri="{FF2B5EF4-FFF2-40B4-BE49-F238E27FC236}">
                <a16:creationId xmlns:a16="http://schemas.microsoft.com/office/drawing/2014/main" id="{28EC06CE-C9C2-4030-9309-C5D16BC41D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4925" y="2952750"/>
            <a:ext cx="10572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E85D4A"/>
                </a:solidFill>
              </a:defRPr>
            </a:pPr>
            <a:r>
              <a:rPr sz="1350" b="1">
                <a:solidFill>
                  <a:srgbClr val="E85D4A"/>
                </a:solidFill>
              </a:rPr>
              <a:t>£16.55</a:t>
            </a:r>
          </a:p>
        </p:txBody>
      </p:sp>
      <p:sp>
        <p:nvSpPr>
          <p:cNvPr id="52" name="roundRect-703">
            <a:extLst xmlns:a="http://schemas.openxmlformats.org/drawingml/2006/main">
              <a:ext uri="{FF2B5EF4-FFF2-40B4-BE49-F238E27FC236}">
                <a16:creationId xmlns:a16="http://schemas.microsoft.com/office/drawing/2014/main" id="{A6D0DA01-6BDF-4EF1-96D9-C2B4ECD76D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2686050"/>
            <a:ext cx="13335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3E8"/>
            </a:solidFill>
            <a:prstDash val="solid"/>
          </a:ln>
        </p:spPr>
      </p:sp>
      <p:sp>
        <p:nvSpPr>
          <p:cNvPr id="53" name="textbox-704">
            <a:extLst xmlns:a="http://schemas.openxmlformats.org/drawingml/2006/main">
              <a:ext uri="{FF2B5EF4-FFF2-40B4-BE49-F238E27FC236}">
                <a16:creationId xmlns:a16="http://schemas.microsoft.com/office/drawing/2014/main" id="{DA16D239-A755-4991-8044-09685F2CB4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06050" y="2762250"/>
            <a:ext cx="11049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675" b="1">
                <a:solidFill>
                  <a:srgbClr val="6F7A89"/>
                </a:solidFill>
              </a:defRPr>
            </a:pPr>
            <a:r>
              <a:rPr sz="675" b="1">
                <a:solidFill>
                  <a:srgbClr val="6F7A89"/>
                </a:solidFill>
              </a:rPr>
              <a:t>Current</a:t>
            </a:r>
          </a:p>
        </p:txBody>
      </p:sp>
      <p:sp>
        <p:nvSpPr>
          <p:cNvPr id="54" name="textbox-705">
            <a:extLst xmlns:a="http://schemas.openxmlformats.org/drawingml/2006/main">
              <a:ext uri="{FF2B5EF4-FFF2-40B4-BE49-F238E27FC236}">
                <a16:creationId xmlns:a16="http://schemas.microsoft.com/office/drawing/2014/main" id="{1382D656-37D4-4CA8-AD39-FBADE7F22B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06050" y="2952750"/>
            <a:ext cx="11049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E85D4A"/>
                </a:solidFill>
              </a:defRPr>
            </a:pPr>
            <a:r>
              <a:rPr sz="1350" b="1">
                <a:solidFill>
                  <a:srgbClr val="E85D4A"/>
                </a:solidFill>
              </a:rPr>
              <a:t>£20.02</a:t>
            </a:r>
          </a:p>
        </p:txBody>
      </p:sp>
      <p:sp>
        <p:nvSpPr>
          <p:cNvPr id="55" name="roundRect-706">
            <a:extLst xmlns:a="http://schemas.openxmlformats.org/drawingml/2006/main">
              <a:ext uri="{FF2B5EF4-FFF2-40B4-BE49-F238E27FC236}">
                <a16:creationId xmlns:a16="http://schemas.microsoft.com/office/drawing/2014/main" id="{B38A41A7-8F1E-4349-A141-951BD7E62B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3467100"/>
            <a:ext cx="3810000" cy="2667000"/>
          </a:xfrm>
          <a:prstGeom xmlns:a="http://schemas.openxmlformats.org/drawingml/2006/main" prst="roundRect">
            <a:avLst>
              <a:gd name="adj" fmla="val 71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3E8"/>
            </a:solidFill>
            <a:prstDash val="solid"/>
          </a:ln>
        </p:spPr>
      </p:sp>
      <p:sp>
        <p:nvSpPr>
          <p:cNvPr id="56" name="rect-707">
            <a:extLst xmlns:a="http://schemas.openxmlformats.org/drawingml/2006/main">
              <a:ext uri="{FF2B5EF4-FFF2-40B4-BE49-F238E27FC236}">
                <a16:creationId xmlns:a16="http://schemas.microsoft.com/office/drawing/2014/main" id="{2E0767B4-6309-4DC7-9ED6-21FE7F40C5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3467100"/>
            <a:ext cx="3810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4F6"/>
          </a:solidFill>
          <a:ln xmlns:a="http://schemas.openxmlformats.org/drawingml/2006/main" w="0">
            <a:solidFill>
              <a:srgbClr val="F1F4F6"/>
            </a:solidFill>
            <a:prstDash val="solid"/>
          </a:ln>
        </p:spPr>
      </p:sp>
      <p:sp>
        <p:nvSpPr>
          <p:cNvPr id="57" name="textbox-708">
            <a:extLst xmlns:a="http://schemas.openxmlformats.org/drawingml/2006/main">
              <a:ext uri="{FF2B5EF4-FFF2-40B4-BE49-F238E27FC236}">
                <a16:creationId xmlns:a16="http://schemas.microsoft.com/office/drawing/2014/main" id="{0ADB0DEC-24F7-4230-93B2-2846916ACA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1650" y="3514725"/>
            <a:ext cx="838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638" b="1">
                <a:solidFill>
                  <a:srgbClr val="465365"/>
                </a:solidFill>
              </a:defRPr>
            </a:pPr>
            <a:r>
              <a:rPr sz="638" b="1">
                <a:solidFill>
                  <a:srgbClr val="465365"/>
                </a:solidFill>
              </a:rPr>
              <a:t>Invoice</a:t>
            </a:r>
          </a:p>
        </p:txBody>
      </p:sp>
      <p:sp>
        <p:nvSpPr>
          <p:cNvPr id="58" name="rect-709">
            <a:extLst xmlns:a="http://schemas.openxmlformats.org/drawingml/2006/main">
              <a:ext uri="{FF2B5EF4-FFF2-40B4-BE49-F238E27FC236}">
                <a16:creationId xmlns:a16="http://schemas.microsoft.com/office/drawing/2014/main" id="{D684C9B9-7B43-41FB-8FA6-4B0A89FD8C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467100"/>
            <a:ext cx="9525" cy="266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3E8"/>
          </a:solidFill>
          <a:ln xmlns:a="http://schemas.openxmlformats.org/drawingml/2006/main" w="0">
            <a:solidFill>
              <a:srgbClr val="DDE3E8"/>
            </a:solidFill>
            <a:prstDash val="solid"/>
          </a:ln>
        </p:spPr>
      </p:sp>
      <p:sp>
        <p:nvSpPr>
          <p:cNvPr id="59" name="textbox-710">
            <a:extLst xmlns:a="http://schemas.openxmlformats.org/drawingml/2006/main">
              <a:ext uri="{FF2B5EF4-FFF2-40B4-BE49-F238E27FC236}">
                <a16:creationId xmlns:a16="http://schemas.microsoft.com/office/drawing/2014/main" id="{68BB50E3-A6C7-41CA-AC40-D6D2425E24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3514725"/>
            <a:ext cx="17907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638" b="1">
                <a:solidFill>
                  <a:srgbClr val="465365"/>
                </a:solidFill>
              </a:defRPr>
            </a:pPr>
            <a:r>
              <a:rPr sz="638" b="1">
                <a:solidFill>
                  <a:srgbClr val="465365"/>
                </a:solidFill>
              </a:rPr>
              <a:t>Original description</a:t>
            </a:r>
          </a:p>
        </p:txBody>
      </p:sp>
      <p:sp>
        <p:nvSpPr>
          <p:cNvPr id="60" name="rect-711">
            <a:extLst xmlns:a="http://schemas.openxmlformats.org/drawingml/2006/main">
              <a:ext uri="{FF2B5EF4-FFF2-40B4-BE49-F238E27FC236}">
                <a16:creationId xmlns:a16="http://schemas.microsoft.com/office/drawing/2014/main" id="{E9FC86FC-E027-4334-8F47-51AF1D2C28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3467100"/>
            <a:ext cx="9525" cy="266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3E8"/>
          </a:solidFill>
          <a:ln xmlns:a="http://schemas.openxmlformats.org/drawingml/2006/main" w="0">
            <a:solidFill>
              <a:srgbClr val="DDE3E8"/>
            </a:solidFill>
            <a:prstDash val="solid"/>
          </a:ln>
        </p:spPr>
      </p:sp>
      <p:sp>
        <p:nvSpPr>
          <p:cNvPr id="61" name="textbox-712">
            <a:extLst xmlns:a="http://schemas.openxmlformats.org/drawingml/2006/main">
              <a:ext uri="{FF2B5EF4-FFF2-40B4-BE49-F238E27FC236}">
                <a16:creationId xmlns:a16="http://schemas.microsoft.com/office/drawing/2014/main" id="{6726E360-AC35-4032-8063-48715DDB8D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3514725"/>
            <a:ext cx="838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638" b="1">
                <a:solidFill>
                  <a:srgbClr val="465365"/>
                </a:solidFill>
              </a:defRPr>
            </a:pPr>
            <a:r>
              <a:rPr sz="638" b="1">
                <a:solidFill>
                  <a:srgbClr val="465365"/>
                </a:solidFill>
              </a:rPr>
              <a:t>Net price</a:t>
            </a:r>
          </a:p>
        </p:txBody>
      </p:sp>
      <p:sp>
        <p:nvSpPr>
          <p:cNvPr id="62" name="rect-713">
            <a:extLst xmlns:a="http://schemas.openxmlformats.org/drawingml/2006/main">
              <a:ext uri="{FF2B5EF4-FFF2-40B4-BE49-F238E27FC236}">
                <a16:creationId xmlns:a16="http://schemas.microsoft.com/office/drawing/2014/main" id="{3321DDF1-0544-4224-9C00-2B43971C38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3733800"/>
            <a:ext cx="3810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3E8"/>
          </a:solidFill>
          <a:ln xmlns:a="http://schemas.openxmlformats.org/drawingml/2006/main" w="0">
            <a:solidFill>
              <a:srgbClr val="DDE3E8"/>
            </a:solidFill>
            <a:prstDash val="solid"/>
          </a:ln>
        </p:spPr>
      </p:sp>
      <p:sp>
        <p:nvSpPr>
          <p:cNvPr id="63" name="textbox-714">
            <a:extLst xmlns:a="http://schemas.openxmlformats.org/drawingml/2006/main">
              <a:ext uri="{FF2B5EF4-FFF2-40B4-BE49-F238E27FC236}">
                <a16:creationId xmlns:a16="http://schemas.microsoft.com/office/drawing/2014/main" id="{E7326383-ACA3-477F-924C-4E6CB46EA4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1650" y="3771900"/>
            <a:ext cx="838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638" b="1">
                <a:solidFill>
                  <a:srgbClr val="132238"/>
                </a:solidFill>
              </a:defRPr>
            </a:pPr>
            <a:r>
              <a:rPr sz="638" b="1">
                <a:solidFill>
                  <a:srgbClr val="132238"/>
                </a:solidFill>
              </a:rPr>
              <a:t>INV-9401</a:t>
            </a:r>
          </a:p>
        </p:txBody>
      </p:sp>
      <p:sp>
        <p:nvSpPr>
          <p:cNvPr id="64" name="textbox-715">
            <a:extLst xmlns:a="http://schemas.openxmlformats.org/drawingml/2006/main">
              <a:ext uri="{FF2B5EF4-FFF2-40B4-BE49-F238E27FC236}">
                <a16:creationId xmlns:a16="http://schemas.microsoft.com/office/drawing/2014/main" id="{9D12E86E-E669-482C-A379-E2F0ED8D68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3771900"/>
            <a:ext cx="1790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638" b="0">
                <a:solidFill>
                  <a:srgbClr val="132238"/>
                </a:solidFill>
              </a:defRPr>
            </a:pPr>
            <a:r>
              <a:rPr sz="638" b="0">
                <a:solidFill>
                  <a:srgbClr val="132238"/>
                </a:solidFill>
              </a:rPr>
              <a:t>Oil filter</a:t>
            </a:r>
          </a:p>
        </p:txBody>
      </p:sp>
      <p:sp>
        <p:nvSpPr>
          <p:cNvPr id="65" name="textbox-716">
            <a:extLst xmlns:a="http://schemas.openxmlformats.org/drawingml/2006/main">
              <a:ext uri="{FF2B5EF4-FFF2-40B4-BE49-F238E27FC236}">
                <a16:creationId xmlns:a16="http://schemas.microsoft.com/office/drawing/2014/main" id="{379F314B-E2B6-49C8-9025-E475E346B5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3771900"/>
            <a:ext cx="838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638" b="1">
                <a:solidFill>
                  <a:srgbClr val="132238"/>
                </a:solidFill>
              </a:defRPr>
            </a:pPr>
            <a:r>
              <a:rPr sz="638" b="1">
                <a:solidFill>
                  <a:srgbClr val="132238"/>
                </a:solidFill>
              </a:rPr>
              <a:t>£8.95</a:t>
            </a:r>
          </a:p>
        </p:txBody>
      </p:sp>
      <p:sp>
        <p:nvSpPr>
          <p:cNvPr id="66" name="rect-717">
            <a:extLst xmlns:a="http://schemas.openxmlformats.org/drawingml/2006/main">
              <a:ext uri="{FF2B5EF4-FFF2-40B4-BE49-F238E27FC236}">
                <a16:creationId xmlns:a16="http://schemas.microsoft.com/office/drawing/2014/main" id="{4EB9859F-1BFC-4F8D-B80D-7BD15DAB63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4076700"/>
            <a:ext cx="3810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3E8"/>
          </a:solidFill>
          <a:ln xmlns:a="http://schemas.openxmlformats.org/drawingml/2006/main" w="0">
            <a:solidFill>
              <a:srgbClr val="DDE3E8"/>
            </a:solidFill>
            <a:prstDash val="solid"/>
          </a:ln>
        </p:spPr>
      </p:sp>
      <p:sp>
        <p:nvSpPr>
          <p:cNvPr id="67" name="textbox-718">
            <a:extLst xmlns:a="http://schemas.openxmlformats.org/drawingml/2006/main">
              <a:ext uri="{FF2B5EF4-FFF2-40B4-BE49-F238E27FC236}">
                <a16:creationId xmlns:a16="http://schemas.microsoft.com/office/drawing/2014/main" id="{2B6E8659-D6F7-4B7A-B506-DE806E956A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1650" y="4114800"/>
            <a:ext cx="838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638" b="1">
                <a:solidFill>
                  <a:srgbClr val="132238"/>
                </a:solidFill>
              </a:defRPr>
            </a:pPr>
            <a:r>
              <a:rPr sz="638" b="1">
                <a:solidFill>
                  <a:srgbClr val="132238"/>
                </a:solidFill>
              </a:rPr>
              <a:t>INV-9402</a:t>
            </a:r>
          </a:p>
        </p:txBody>
      </p:sp>
      <p:sp>
        <p:nvSpPr>
          <p:cNvPr id="68" name="textbox-719">
            <a:extLst xmlns:a="http://schemas.openxmlformats.org/drawingml/2006/main">
              <a:ext uri="{FF2B5EF4-FFF2-40B4-BE49-F238E27FC236}">
                <a16:creationId xmlns:a16="http://schemas.microsoft.com/office/drawing/2014/main" id="{02D6D15C-4BCD-4C04-8388-12EC06FBC8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4114800"/>
            <a:ext cx="1790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638" b="0">
                <a:solidFill>
                  <a:srgbClr val="132238"/>
                </a:solidFill>
              </a:defRPr>
            </a:pPr>
            <a:r>
              <a:rPr sz="638" b="0">
                <a:solidFill>
                  <a:srgbClr val="132238"/>
                </a:solidFill>
              </a:rPr>
              <a:t>OL Filter</a:t>
            </a:r>
          </a:p>
        </p:txBody>
      </p:sp>
      <p:sp>
        <p:nvSpPr>
          <p:cNvPr id="69" name="textbox-720">
            <a:extLst xmlns:a="http://schemas.openxmlformats.org/drawingml/2006/main">
              <a:ext uri="{FF2B5EF4-FFF2-40B4-BE49-F238E27FC236}">
                <a16:creationId xmlns:a16="http://schemas.microsoft.com/office/drawing/2014/main" id="{A8840551-F092-45B5-91BF-DE2BFB1304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4114800"/>
            <a:ext cx="838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638" b="1">
                <a:solidFill>
                  <a:srgbClr val="132238"/>
                </a:solidFill>
              </a:defRPr>
            </a:pPr>
            <a:r>
              <a:rPr sz="638" b="1">
                <a:solidFill>
                  <a:srgbClr val="132238"/>
                </a:solidFill>
              </a:rPr>
              <a:t>£9.60</a:t>
            </a:r>
          </a:p>
        </p:txBody>
      </p:sp>
      <p:sp>
        <p:nvSpPr>
          <p:cNvPr id="70" name="rect-721">
            <a:extLst xmlns:a="http://schemas.openxmlformats.org/drawingml/2006/main">
              <a:ext uri="{FF2B5EF4-FFF2-40B4-BE49-F238E27FC236}">
                <a16:creationId xmlns:a16="http://schemas.microsoft.com/office/drawing/2014/main" id="{236D6C84-1540-4CEC-A5C8-3CFDE48290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4419600"/>
            <a:ext cx="3810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3E8"/>
          </a:solidFill>
          <a:ln xmlns:a="http://schemas.openxmlformats.org/drawingml/2006/main" w="0">
            <a:solidFill>
              <a:srgbClr val="DDE3E8"/>
            </a:solidFill>
            <a:prstDash val="solid"/>
          </a:ln>
        </p:spPr>
      </p:sp>
      <p:sp>
        <p:nvSpPr>
          <p:cNvPr id="71" name="textbox-722">
            <a:extLst xmlns:a="http://schemas.openxmlformats.org/drawingml/2006/main">
              <a:ext uri="{FF2B5EF4-FFF2-40B4-BE49-F238E27FC236}">
                <a16:creationId xmlns:a16="http://schemas.microsoft.com/office/drawing/2014/main" id="{E66E116E-200F-43BD-A14B-0CC55DD915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1650" y="4457700"/>
            <a:ext cx="838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638" b="1">
                <a:solidFill>
                  <a:srgbClr val="132238"/>
                </a:solidFill>
              </a:defRPr>
            </a:pPr>
            <a:r>
              <a:rPr sz="638" b="1">
                <a:solidFill>
                  <a:srgbClr val="132238"/>
                </a:solidFill>
              </a:rPr>
              <a:t>INV-9403</a:t>
            </a:r>
          </a:p>
        </p:txBody>
      </p:sp>
      <p:sp>
        <p:nvSpPr>
          <p:cNvPr id="72" name="textbox-723">
            <a:extLst xmlns:a="http://schemas.openxmlformats.org/drawingml/2006/main">
              <a:ext uri="{FF2B5EF4-FFF2-40B4-BE49-F238E27FC236}">
                <a16:creationId xmlns:a16="http://schemas.microsoft.com/office/drawing/2014/main" id="{33E6856C-D83D-4484-89B3-18B79AF33B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4457700"/>
            <a:ext cx="1790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638" b="0">
                <a:solidFill>
                  <a:srgbClr val="132238"/>
                </a:solidFill>
              </a:defRPr>
            </a:pPr>
            <a:r>
              <a:rPr sz="638" b="0">
                <a:solidFill>
                  <a:srgbClr val="132238"/>
                </a:solidFill>
              </a:rPr>
              <a:t>Oil_Fil</a:t>
            </a:r>
          </a:p>
        </p:txBody>
      </p:sp>
      <p:sp>
        <p:nvSpPr>
          <p:cNvPr id="73" name="textbox-724">
            <a:extLst xmlns:a="http://schemas.openxmlformats.org/drawingml/2006/main">
              <a:ext uri="{FF2B5EF4-FFF2-40B4-BE49-F238E27FC236}">
                <a16:creationId xmlns:a16="http://schemas.microsoft.com/office/drawing/2014/main" id="{B3974493-49B8-451E-A43F-0B496EEF80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4457700"/>
            <a:ext cx="838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638" b="1">
                <a:solidFill>
                  <a:srgbClr val="132238"/>
                </a:solidFill>
              </a:defRPr>
            </a:pPr>
            <a:r>
              <a:rPr sz="638" b="1">
                <a:solidFill>
                  <a:srgbClr val="132238"/>
                </a:solidFill>
              </a:rPr>
              <a:t>£10.20</a:t>
            </a:r>
          </a:p>
        </p:txBody>
      </p:sp>
      <p:sp>
        <p:nvSpPr>
          <p:cNvPr id="74" name="rect-725">
            <a:extLst xmlns:a="http://schemas.openxmlformats.org/drawingml/2006/main">
              <a:ext uri="{FF2B5EF4-FFF2-40B4-BE49-F238E27FC236}">
                <a16:creationId xmlns:a16="http://schemas.microsoft.com/office/drawing/2014/main" id="{CA4BDE08-F690-4ABA-BB15-208CEAD5E5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4762500"/>
            <a:ext cx="3810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3E8"/>
          </a:solidFill>
          <a:ln xmlns:a="http://schemas.openxmlformats.org/drawingml/2006/main" w="0">
            <a:solidFill>
              <a:srgbClr val="DDE3E8"/>
            </a:solidFill>
            <a:prstDash val="solid"/>
          </a:ln>
        </p:spPr>
      </p:sp>
      <p:sp>
        <p:nvSpPr>
          <p:cNvPr id="75" name="textbox-726">
            <a:extLst xmlns:a="http://schemas.openxmlformats.org/drawingml/2006/main">
              <a:ext uri="{FF2B5EF4-FFF2-40B4-BE49-F238E27FC236}">
                <a16:creationId xmlns:a16="http://schemas.microsoft.com/office/drawing/2014/main" id="{3A9CBD37-283A-4991-AAEB-0FF021FB11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1650" y="4800600"/>
            <a:ext cx="838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638" b="1">
                <a:solidFill>
                  <a:srgbClr val="132238"/>
                </a:solidFill>
              </a:defRPr>
            </a:pPr>
            <a:r>
              <a:rPr sz="638" b="1">
                <a:solidFill>
                  <a:srgbClr val="132238"/>
                </a:solidFill>
              </a:rPr>
              <a:t>INV-9404</a:t>
            </a:r>
          </a:p>
        </p:txBody>
      </p:sp>
      <p:sp>
        <p:nvSpPr>
          <p:cNvPr id="76" name="textbox-727">
            <a:extLst xmlns:a="http://schemas.openxmlformats.org/drawingml/2006/main">
              <a:ext uri="{FF2B5EF4-FFF2-40B4-BE49-F238E27FC236}">
                <a16:creationId xmlns:a16="http://schemas.microsoft.com/office/drawing/2014/main" id="{FA5AA4DD-A00A-4CFB-AB9A-A43AB4DFD2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4800600"/>
            <a:ext cx="1790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638" b="0">
                <a:solidFill>
                  <a:srgbClr val="132238"/>
                </a:solidFill>
              </a:defRPr>
            </a:pPr>
            <a:r>
              <a:rPr sz="638" b="0">
                <a:solidFill>
                  <a:srgbClr val="132238"/>
                </a:solidFill>
              </a:rPr>
              <a:t>Oil Filter Element</a:t>
            </a:r>
          </a:p>
        </p:txBody>
      </p:sp>
      <p:sp>
        <p:nvSpPr>
          <p:cNvPr id="77" name="textbox-728">
            <a:extLst xmlns:a="http://schemas.openxmlformats.org/drawingml/2006/main">
              <a:ext uri="{FF2B5EF4-FFF2-40B4-BE49-F238E27FC236}">
                <a16:creationId xmlns:a16="http://schemas.microsoft.com/office/drawing/2014/main" id="{3DEF3A96-A197-48DE-AE91-5FF0316607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4800600"/>
            <a:ext cx="838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638" b="1">
                <a:solidFill>
                  <a:srgbClr val="132238"/>
                </a:solidFill>
              </a:defRPr>
            </a:pPr>
            <a:r>
              <a:rPr sz="638" b="1">
                <a:solidFill>
                  <a:srgbClr val="132238"/>
                </a:solidFill>
              </a:rPr>
              <a:t>£11.10</a:t>
            </a:r>
          </a:p>
        </p:txBody>
      </p:sp>
      <p:sp>
        <p:nvSpPr>
          <p:cNvPr id="78" name="rect-729">
            <a:extLst xmlns:a="http://schemas.openxmlformats.org/drawingml/2006/main">
              <a:ext uri="{FF2B5EF4-FFF2-40B4-BE49-F238E27FC236}">
                <a16:creationId xmlns:a16="http://schemas.microsoft.com/office/drawing/2014/main" id="{F14C0792-25BF-4ADA-BD93-65DD2065FD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5105400"/>
            <a:ext cx="3810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3E8"/>
          </a:solidFill>
          <a:ln xmlns:a="http://schemas.openxmlformats.org/drawingml/2006/main" w="0">
            <a:solidFill>
              <a:srgbClr val="DDE3E8"/>
            </a:solidFill>
            <a:prstDash val="solid"/>
          </a:ln>
        </p:spPr>
      </p:sp>
      <p:sp>
        <p:nvSpPr>
          <p:cNvPr id="79" name="textbox-730">
            <a:extLst xmlns:a="http://schemas.openxmlformats.org/drawingml/2006/main">
              <a:ext uri="{FF2B5EF4-FFF2-40B4-BE49-F238E27FC236}">
                <a16:creationId xmlns:a16="http://schemas.microsoft.com/office/drawing/2014/main" id="{4A877104-DDC3-4241-9628-5998C67A3B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1650" y="5143500"/>
            <a:ext cx="838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638" b="1">
                <a:solidFill>
                  <a:srgbClr val="132238"/>
                </a:solidFill>
              </a:defRPr>
            </a:pPr>
            <a:r>
              <a:rPr sz="638" b="1">
                <a:solidFill>
                  <a:srgbClr val="132238"/>
                </a:solidFill>
              </a:rPr>
              <a:t>INV-9405</a:t>
            </a:r>
          </a:p>
        </p:txBody>
      </p:sp>
      <p:sp>
        <p:nvSpPr>
          <p:cNvPr id="80" name="textbox-731">
            <a:extLst xmlns:a="http://schemas.openxmlformats.org/drawingml/2006/main">
              <a:ext uri="{FF2B5EF4-FFF2-40B4-BE49-F238E27FC236}">
                <a16:creationId xmlns:a16="http://schemas.microsoft.com/office/drawing/2014/main" id="{98D37BEF-8048-43D7-B774-DF6A9ECD5B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5143500"/>
            <a:ext cx="1790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638" b="0">
                <a:solidFill>
                  <a:srgbClr val="132238"/>
                </a:solidFill>
              </a:defRPr>
            </a:pPr>
            <a:r>
              <a:rPr sz="638" b="0">
                <a:solidFill>
                  <a:srgbClr val="132238"/>
                </a:solidFill>
              </a:rPr>
              <a:t>Oil filter</a:t>
            </a:r>
          </a:p>
        </p:txBody>
      </p:sp>
      <p:sp>
        <p:nvSpPr>
          <p:cNvPr id="81" name="textbox-732">
            <a:extLst xmlns:a="http://schemas.openxmlformats.org/drawingml/2006/main">
              <a:ext uri="{FF2B5EF4-FFF2-40B4-BE49-F238E27FC236}">
                <a16:creationId xmlns:a16="http://schemas.microsoft.com/office/drawing/2014/main" id="{35AD7B8D-7E46-4D49-987C-04E35A1110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5143500"/>
            <a:ext cx="838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638" b="1">
                <a:solidFill>
                  <a:srgbClr val="132238"/>
                </a:solidFill>
              </a:defRPr>
            </a:pPr>
            <a:r>
              <a:rPr sz="638" b="1">
                <a:solidFill>
                  <a:srgbClr val="132238"/>
                </a:solidFill>
              </a:rPr>
              <a:t>£12.80</a:t>
            </a:r>
          </a:p>
        </p:txBody>
      </p:sp>
      <p:sp>
        <p:nvSpPr>
          <p:cNvPr id="82" name="rect-733">
            <a:extLst xmlns:a="http://schemas.openxmlformats.org/drawingml/2006/main">
              <a:ext uri="{FF2B5EF4-FFF2-40B4-BE49-F238E27FC236}">
                <a16:creationId xmlns:a16="http://schemas.microsoft.com/office/drawing/2014/main" id="{19AEEACF-8AAC-4F41-A942-C61E95E626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5448300"/>
            <a:ext cx="3810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3E8"/>
          </a:solidFill>
          <a:ln xmlns:a="http://schemas.openxmlformats.org/drawingml/2006/main" w="0">
            <a:solidFill>
              <a:srgbClr val="DDE3E8"/>
            </a:solidFill>
            <a:prstDash val="solid"/>
          </a:ln>
        </p:spPr>
      </p:sp>
      <p:sp>
        <p:nvSpPr>
          <p:cNvPr id="83" name="textbox-734">
            <a:extLst xmlns:a="http://schemas.openxmlformats.org/drawingml/2006/main">
              <a:ext uri="{FF2B5EF4-FFF2-40B4-BE49-F238E27FC236}">
                <a16:creationId xmlns:a16="http://schemas.microsoft.com/office/drawing/2014/main" id="{8A491776-0501-4D49-982C-DC6B105A98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1650" y="5486400"/>
            <a:ext cx="838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638" b="1">
                <a:solidFill>
                  <a:srgbClr val="132238"/>
                </a:solidFill>
              </a:defRPr>
            </a:pPr>
            <a:r>
              <a:rPr sz="638" b="1">
                <a:solidFill>
                  <a:srgbClr val="132238"/>
                </a:solidFill>
              </a:rPr>
              <a:t>INV-9406</a:t>
            </a:r>
          </a:p>
        </p:txBody>
      </p:sp>
      <p:sp>
        <p:nvSpPr>
          <p:cNvPr id="84" name="textbox-735">
            <a:extLst xmlns:a="http://schemas.openxmlformats.org/drawingml/2006/main">
              <a:ext uri="{FF2B5EF4-FFF2-40B4-BE49-F238E27FC236}">
                <a16:creationId xmlns:a16="http://schemas.microsoft.com/office/drawing/2014/main" id="{1513CB48-8396-4D0B-B6A2-1EDB056590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5486400"/>
            <a:ext cx="1790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638" b="0">
                <a:solidFill>
                  <a:srgbClr val="132238"/>
                </a:solidFill>
              </a:defRPr>
            </a:pPr>
            <a:r>
              <a:rPr sz="638" b="0">
                <a:solidFill>
                  <a:srgbClr val="132238"/>
                </a:solidFill>
              </a:rPr>
              <a:t>OL Filter</a:t>
            </a:r>
          </a:p>
        </p:txBody>
      </p:sp>
      <p:sp>
        <p:nvSpPr>
          <p:cNvPr id="85" name="textbox-736">
            <a:extLst xmlns:a="http://schemas.openxmlformats.org/drawingml/2006/main">
              <a:ext uri="{FF2B5EF4-FFF2-40B4-BE49-F238E27FC236}">
                <a16:creationId xmlns:a16="http://schemas.microsoft.com/office/drawing/2014/main" id="{43D30745-1D89-4702-ADA6-ADB7BEEFB0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5486400"/>
            <a:ext cx="838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638" b="1">
                <a:solidFill>
                  <a:srgbClr val="132238"/>
                </a:solidFill>
              </a:defRPr>
            </a:pPr>
            <a:r>
              <a:rPr sz="638" b="1">
                <a:solidFill>
                  <a:srgbClr val="132238"/>
                </a:solidFill>
              </a:rPr>
              <a:t>£13.40</a:t>
            </a:r>
          </a:p>
        </p:txBody>
      </p:sp>
      <p:sp>
        <p:nvSpPr>
          <p:cNvPr id="86" name="rect-737">
            <a:extLst xmlns:a="http://schemas.openxmlformats.org/drawingml/2006/main">
              <a:ext uri="{FF2B5EF4-FFF2-40B4-BE49-F238E27FC236}">
                <a16:creationId xmlns:a16="http://schemas.microsoft.com/office/drawing/2014/main" id="{EB19101F-9E41-4D52-8210-120FB505BC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5791200"/>
            <a:ext cx="3810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3E8"/>
          </a:solidFill>
          <a:ln xmlns:a="http://schemas.openxmlformats.org/drawingml/2006/main" w="0">
            <a:solidFill>
              <a:srgbClr val="DDE3E8"/>
            </a:solidFill>
            <a:prstDash val="solid"/>
          </a:ln>
        </p:spPr>
      </p:sp>
      <p:sp>
        <p:nvSpPr>
          <p:cNvPr id="87" name="textbox-738">
            <a:extLst xmlns:a="http://schemas.openxmlformats.org/drawingml/2006/main">
              <a:ext uri="{FF2B5EF4-FFF2-40B4-BE49-F238E27FC236}">
                <a16:creationId xmlns:a16="http://schemas.microsoft.com/office/drawing/2014/main" id="{70BAE5EF-DBAB-47EA-A6F5-B316A5B6B7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1650" y="5829300"/>
            <a:ext cx="838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638" b="1">
                <a:solidFill>
                  <a:srgbClr val="132238"/>
                </a:solidFill>
              </a:defRPr>
            </a:pPr>
            <a:r>
              <a:rPr sz="638" b="1">
                <a:solidFill>
                  <a:srgbClr val="132238"/>
                </a:solidFill>
              </a:rPr>
              <a:t>INV-9408</a:t>
            </a:r>
          </a:p>
        </p:txBody>
      </p:sp>
      <p:sp>
        <p:nvSpPr>
          <p:cNvPr id="88" name="textbox-739">
            <a:extLst xmlns:a="http://schemas.openxmlformats.org/drawingml/2006/main">
              <a:ext uri="{FF2B5EF4-FFF2-40B4-BE49-F238E27FC236}">
                <a16:creationId xmlns:a16="http://schemas.microsoft.com/office/drawing/2014/main" id="{1DD32F1B-20B3-42A2-8EC4-400FAD5FD9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5829300"/>
            <a:ext cx="1790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638" b="0">
                <a:solidFill>
                  <a:srgbClr val="132238"/>
                </a:solidFill>
              </a:defRPr>
            </a:pPr>
            <a:r>
              <a:rPr sz="638" b="0">
                <a:solidFill>
                  <a:srgbClr val="132238"/>
                </a:solidFill>
              </a:rPr>
              <a:t>Oil Filter</a:t>
            </a:r>
          </a:p>
        </p:txBody>
      </p:sp>
      <p:sp>
        <p:nvSpPr>
          <p:cNvPr id="89" name="textbox-740">
            <a:extLst xmlns:a="http://schemas.openxmlformats.org/drawingml/2006/main">
              <a:ext uri="{FF2B5EF4-FFF2-40B4-BE49-F238E27FC236}">
                <a16:creationId xmlns:a16="http://schemas.microsoft.com/office/drawing/2014/main" id="{78EC156E-6C38-4AEB-8E55-1785318B87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5829300"/>
            <a:ext cx="838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638" b="1">
                <a:solidFill>
                  <a:srgbClr val="132238"/>
                </a:solidFill>
              </a:defRPr>
            </a:pPr>
            <a:r>
              <a:rPr sz="638" b="1">
                <a:solidFill>
                  <a:srgbClr val="132238"/>
                </a:solidFill>
              </a:rPr>
              <a:t>£15.20</a:t>
            </a:r>
          </a:p>
        </p:txBody>
      </p:sp>
      <p:sp>
        <p:nvSpPr>
          <p:cNvPr id="90" name="roundRect-741">
            <a:extLst xmlns:a="http://schemas.openxmlformats.org/drawingml/2006/main">
              <a:ext uri="{FF2B5EF4-FFF2-40B4-BE49-F238E27FC236}">
                <a16:creationId xmlns:a16="http://schemas.microsoft.com/office/drawing/2014/main" id="{275B0D3A-7553-4E1E-B6E6-BE165D0533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77375" y="3467100"/>
            <a:ext cx="2047875" cy="2724150"/>
          </a:xfrm>
          <a:prstGeom xmlns:a="http://schemas.openxmlformats.org/drawingml/2006/main" prst="roundRect">
            <a:avLst>
              <a:gd name="adj" fmla="val 372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0B8687"/>
            </a:solidFill>
            <a:prstDash val="solid"/>
          </a:ln>
        </p:spPr>
      </p:sp>
      <p:sp>
        <p:nvSpPr>
          <p:cNvPr id="91" name="textbox-742">
            <a:extLst xmlns:a="http://schemas.openxmlformats.org/drawingml/2006/main">
              <a:ext uri="{FF2B5EF4-FFF2-40B4-BE49-F238E27FC236}">
                <a16:creationId xmlns:a16="http://schemas.microsoft.com/office/drawing/2014/main" id="{142B27EA-AF16-4FD7-9BE4-0858A3B87F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3600450"/>
            <a:ext cx="1714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071B3D"/>
                </a:solidFill>
              </a:defRPr>
            </a:pPr>
            <a:r>
              <a:rPr sz="975" b="1">
                <a:solidFill>
                  <a:srgbClr val="071B3D"/>
                </a:solidFill>
              </a:rPr>
              <a:t>P90 calculation</a:t>
            </a:r>
          </a:p>
        </p:txBody>
      </p:sp>
      <p:sp>
        <p:nvSpPr>
          <p:cNvPr id="92" name="textbox-743">
            <a:extLst xmlns:a="http://schemas.openxmlformats.org/drawingml/2006/main">
              <a:ext uri="{FF2B5EF4-FFF2-40B4-BE49-F238E27FC236}">
                <a16:creationId xmlns:a16="http://schemas.microsoft.com/office/drawing/2014/main" id="{70967E71-F4AE-4CCB-9B02-12439375ED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3990975"/>
            <a:ext cx="152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675">
                <a:solidFill>
                  <a:srgbClr val="6F7A89"/>
                </a:solidFill>
              </a:defRPr>
            </a:pPr>
            <a:r>
              <a:rPr sz="675">
                <a:solidFill>
                  <a:srgbClr val="6F7A89"/>
                </a:solidFill>
              </a:rPr>
              <a:t>Earlier invoices used</a:t>
            </a:r>
          </a:p>
        </p:txBody>
      </p:sp>
      <p:sp>
        <p:nvSpPr>
          <p:cNvPr id="93" name="textbox-744">
            <a:extLst xmlns:a="http://schemas.openxmlformats.org/drawingml/2006/main">
              <a:ext uri="{FF2B5EF4-FFF2-40B4-BE49-F238E27FC236}">
                <a16:creationId xmlns:a16="http://schemas.microsoft.com/office/drawing/2014/main" id="{CF0AE438-F3C3-4A1B-8D40-EC70A2295D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4162425"/>
            <a:ext cx="1524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0B8687"/>
                </a:solidFill>
              </a:defRPr>
            </a:pPr>
            <a:r>
              <a:rPr sz="1650" b="1">
                <a:solidFill>
                  <a:srgbClr val="0B8687"/>
                </a:solidFill>
              </a:rPr>
              <a:t>9</a:t>
            </a:r>
          </a:p>
        </p:txBody>
      </p:sp>
      <p:sp>
        <p:nvSpPr>
          <p:cNvPr id="94" name="textbox-745">
            <a:extLst xmlns:a="http://schemas.openxmlformats.org/drawingml/2006/main">
              <a:ext uri="{FF2B5EF4-FFF2-40B4-BE49-F238E27FC236}">
                <a16:creationId xmlns:a16="http://schemas.microsoft.com/office/drawing/2014/main" id="{FBDE0E6D-4C83-4771-93F7-618F20FC8C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4600575"/>
            <a:ext cx="152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675">
                <a:solidFill>
                  <a:srgbClr val="6F7A89"/>
                </a:solidFill>
              </a:defRPr>
            </a:pPr>
            <a:r>
              <a:rPr sz="675">
                <a:solidFill>
                  <a:srgbClr val="6F7A89"/>
                </a:solidFill>
              </a:rPr>
              <a:t>Current invoice</a:t>
            </a:r>
          </a:p>
        </p:txBody>
      </p:sp>
      <p:sp>
        <p:nvSpPr>
          <p:cNvPr id="95" name="textbox-746">
            <a:extLst xmlns:a="http://schemas.openxmlformats.org/drawingml/2006/main">
              <a:ext uri="{FF2B5EF4-FFF2-40B4-BE49-F238E27FC236}">
                <a16:creationId xmlns:a16="http://schemas.microsoft.com/office/drawing/2014/main" id="{87CD084D-2748-4346-9439-504455CD3A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4772025"/>
            <a:ext cx="1524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E85D4A"/>
                </a:solidFill>
              </a:defRPr>
            </a:pPr>
            <a:r>
              <a:rPr sz="1350" b="1">
                <a:solidFill>
                  <a:srgbClr val="E85D4A"/>
                </a:solidFill>
              </a:rPr>
              <a:t>Excluded</a:t>
            </a:r>
          </a:p>
        </p:txBody>
      </p:sp>
      <p:sp>
        <p:nvSpPr>
          <p:cNvPr id="96" name="roundRect-747">
            <a:extLst xmlns:a="http://schemas.openxmlformats.org/drawingml/2006/main">
              <a:ext uri="{FF2B5EF4-FFF2-40B4-BE49-F238E27FC236}">
                <a16:creationId xmlns:a16="http://schemas.microsoft.com/office/drawing/2014/main" id="{D84C8562-AF94-40A1-BC32-CFFCDA0BE2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5257800"/>
            <a:ext cx="1619250" cy="2286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8F4F2"/>
          </a:solidFill>
          <a:ln xmlns:a="http://schemas.openxmlformats.org/drawingml/2006/main" w="9525">
            <a:solidFill>
              <a:srgbClr val="E8F4F2"/>
            </a:solidFill>
            <a:prstDash val="solid"/>
          </a:ln>
        </p:spPr>
      </p:sp>
      <p:sp>
        <p:nvSpPr>
          <p:cNvPr id="97" name="textbox-748">
            <a:extLst xmlns:a="http://schemas.openxmlformats.org/drawingml/2006/main">
              <a:ext uri="{FF2B5EF4-FFF2-40B4-BE49-F238E27FC236}">
                <a16:creationId xmlns:a16="http://schemas.microsoft.com/office/drawing/2014/main" id="{C2D8A906-AC7C-4991-B629-95D1B912EE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0" y="5267325"/>
            <a:ext cx="15049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096C6D"/>
                </a:solidFill>
              </a:defRPr>
            </a:pPr>
            <a:r>
              <a:rPr sz="825" b="1">
                <a:solidFill>
                  <a:srgbClr val="096C6D"/>
                </a:solidFill>
              </a:rPr>
              <a:t>P90 benchmark  £16.55</a:t>
            </a:r>
          </a:p>
        </p:txBody>
      </p:sp>
      <p:sp>
        <p:nvSpPr>
          <p:cNvPr id="98" name="textbox-749">
            <a:extLst xmlns:a="http://schemas.openxmlformats.org/drawingml/2006/main">
              <a:ext uri="{FF2B5EF4-FFF2-40B4-BE49-F238E27FC236}">
                <a16:creationId xmlns:a16="http://schemas.microsoft.com/office/drawing/2014/main" id="{6EE07D21-6630-467E-83CF-6B747EE951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5715000"/>
            <a:ext cx="1619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750" b="1">
                <a:solidFill>
                  <a:srgbClr val="2E7D5B"/>
                </a:solidFill>
              </a:defRPr>
            </a:pPr>
            <a:r>
              <a:rPr sz="750" b="1">
                <a:solidFill>
                  <a:srgbClr val="2E7D5B"/>
                </a:solidFill>
              </a:rPr>
              <a:t>Transparent benchmark.</a:t>
            </a:r>
          </a:p>
          <a:p xmlns:a="http://schemas.openxmlformats.org/drawingml/2006/main">
            <a:pPr>
              <a:defRPr sz="750" b="1">
                <a:solidFill>
                  <a:srgbClr val="2E7D5B"/>
                </a:solidFill>
              </a:defRPr>
            </a:pPr>
            <a:r>
              <a:rPr sz="750" b="1">
                <a:solidFill>
                  <a:srgbClr val="2E7D5B"/>
                </a:solidFill>
              </a:rPr>
              <a:t>Explainable recommendation.</a:t>
            </a:r>
          </a:p>
        </p:txBody>
      </p:sp>
    </p:spTree>
    <p:extLst>
      <p:ext uri="{BB962C8B-B14F-4D97-AF65-F5344CB8AC3E}">
        <p14:creationId xmlns:p14="http://schemas.microsoft.com/office/powerpoint/2010/main" val="45082952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CFB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eyebrow-12">
            <a:extLst xmlns:a="http://schemas.openxmlformats.org/drawingml/2006/main">
              <a:ext uri="{FF2B5EF4-FFF2-40B4-BE49-F238E27FC236}">
                <a16:creationId xmlns:a16="http://schemas.microsoft.com/office/drawing/2014/main" id="{17D5E7E2-EDD2-494A-BAB0-F38FC6FB64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47650"/>
            <a:ext cx="285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975" b="1">
                <a:solidFill>
                  <a:srgbClr val="0B8687"/>
                </a:solidFill>
              </a:defRPr>
            </a:pPr>
            <a:r>
              <a:rPr sz="975" b="1">
                <a:solidFill>
                  <a:srgbClr val="0B8687"/>
                </a:solidFill>
              </a:rPr>
              <a:t>LIVE PRODUCT EVIDENCE</a:t>
            </a:r>
          </a:p>
        </p:txBody>
      </p:sp>
      <p:sp>
        <p:nvSpPr>
          <p:cNvPr id="2" name="title-12">
            <a:extLst xmlns:a="http://schemas.openxmlformats.org/drawingml/2006/main">
              <a:ext uri="{FF2B5EF4-FFF2-40B4-BE49-F238E27FC236}">
                <a16:creationId xmlns:a16="http://schemas.microsoft.com/office/drawing/2014/main" id="{569EA9C1-E170-4A74-9DA6-54329E3449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95300"/>
            <a:ext cx="11049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3150" b="1">
                <a:solidFill>
                  <a:srgbClr val="071B3D"/>
                </a:solidFill>
              </a:defRPr>
            </a:pPr>
            <a:r>
              <a:rPr sz="3150" b="1">
                <a:solidFill>
                  <a:srgbClr val="071B3D"/>
                </a:solidFill>
              </a:rPr>
              <a:t>Every challenge explains the price difference</a:t>
            </a:r>
          </a:p>
        </p:txBody>
      </p:sp>
      <p:sp>
        <p:nvSpPr>
          <p:cNvPr id="3" name="subtitle-12">
            <a:extLst xmlns:a="http://schemas.openxmlformats.org/drawingml/2006/main">
              <a:ext uri="{FF2B5EF4-FFF2-40B4-BE49-F238E27FC236}">
                <a16:creationId xmlns:a16="http://schemas.microsoft.com/office/drawing/2014/main" id="{41BDD8C9-97E1-4471-AFD7-585CE2710A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028700"/>
            <a:ext cx="10763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350">
                <a:solidFill>
                  <a:srgbClr val="6F7A89"/>
                </a:solidFill>
              </a:defRPr>
            </a:pPr>
            <a:r>
              <a:rPr sz="1350">
                <a:solidFill>
                  <a:srgbClr val="6F7A89"/>
                </a:solidFill>
              </a:rPr>
              <a:t>The handler sees the current charge, supported price, challenge amount and rationale together.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8FE9910-62BE-484B-9901-5249C15337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362075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3E8"/>
          </a:solidFill>
          <a:ln xmlns:a="http://schemas.openxmlformats.org/drawingml/2006/main" w="0">
            <a:solidFill>
              <a:srgbClr val="DDE3E8"/>
            </a:solidFill>
            <a:prstDash val="solid"/>
          </a:ln>
        </p:spPr>
      </p:sp>
      <p:sp>
        <p:nvSpPr>
          <p:cNvPr id="5" name="page-12">
            <a:extLst xmlns:a="http://schemas.openxmlformats.org/drawingml/2006/main">
              <a:ext uri="{FF2B5EF4-FFF2-40B4-BE49-F238E27FC236}">
                <a16:creationId xmlns:a16="http://schemas.microsoft.com/office/drawing/2014/main" id="{A3AA3764-E16E-41BC-A301-05B525646C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0" y="6477000"/>
            <a:ext cx="3048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900" b="1">
                <a:solidFill>
                  <a:srgbClr val="6F7A89"/>
                </a:solidFill>
              </a:defRPr>
            </a:pPr>
            <a:r>
              <a:rPr sz="900" b="1">
                <a:solidFill>
                  <a:srgbClr val="6F7A89"/>
                </a:solidFill>
              </a:rPr>
              <a:t>12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F41F827-A8B7-4BAA-9F40-029FD2E40D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752600"/>
            <a:ext cx="419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350" b="1">
                <a:solidFill>
                  <a:srgbClr val="E85D4A"/>
                </a:solidFill>
              </a:defRPr>
            </a:pPr>
            <a:r>
              <a:rPr sz="1350" b="1">
                <a:solidFill>
                  <a:srgbClr val="E85D4A"/>
                </a:solidFill>
              </a:rPr>
              <a:t>01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FF42915-B321-44AC-8D92-124DC39DDA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866900"/>
            <a:ext cx="381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5D4A"/>
          </a:solidFill>
          <a:ln xmlns:a="http://schemas.openxmlformats.org/drawingml/2006/main" w="0">
            <a:solidFill>
              <a:srgbClr val="E85D4A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71D0877-601A-4606-AE62-3D0F062D41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1733550"/>
            <a:ext cx="2571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725" b="1">
                <a:solidFill>
                  <a:srgbClr val="132238"/>
                </a:solidFill>
              </a:defRPr>
            </a:pPr>
            <a:r>
              <a:rPr sz="1725" b="1">
                <a:solidFill>
                  <a:srgbClr val="132238"/>
                </a:solidFill>
              </a:rPr>
              <a:t>Repairer billed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9462F1D-7BC3-4309-A617-3ECE086203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2076450"/>
            <a:ext cx="25527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75">
                <a:solidFill>
                  <a:srgbClr val="465365"/>
                </a:solidFill>
              </a:defRPr>
            </a:pPr>
            <a:r>
              <a:rPr sz="1275">
                <a:solidFill>
                  <a:srgbClr val="465365"/>
                </a:solidFill>
              </a:rPr>
              <a:t>£23.06 for the selected Air Filter line.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CA0BC36-9469-4C4B-BDB7-157A574394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2971800"/>
            <a:ext cx="419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350" b="1">
                <a:solidFill>
                  <a:srgbClr val="0B8687"/>
                </a:solidFill>
              </a:defRPr>
            </a:pPr>
            <a:r>
              <a:rPr sz="1350" b="1">
                <a:solidFill>
                  <a:srgbClr val="0B8687"/>
                </a:solidFill>
              </a:rPr>
              <a:t>02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70EC463-A50A-46B2-8EA9-B55C410DB8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086100"/>
            <a:ext cx="381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8687"/>
          </a:solidFill>
          <a:ln xmlns:a="http://schemas.openxmlformats.org/drawingml/2006/main" w="0">
            <a:solidFill>
              <a:srgbClr val="0B8687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8202F0D-F6BC-47A4-9A20-ABAF55D275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2952750"/>
            <a:ext cx="2571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725" b="1">
                <a:solidFill>
                  <a:srgbClr val="132238"/>
                </a:solidFill>
              </a:defRPr>
            </a:pPr>
            <a:r>
              <a:rPr sz="1725" b="1">
                <a:solidFill>
                  <a:srgbClr val="132238"/>
                </a:solidFill>
              </a:rPr>
              <a:t>Supported net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E9EA471-3C16-4C18-AE94-6A9D51CEE2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3295650"/>
            <a:ext cx="25527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75">
                <a:solidFill>
                  <a:srgbClr val="465365"/>
                </a:solidFill>
              </a:defRPr>
            </a:pPr>
            <a:r>
              <a:rPr sz="1275">
                <a:solidFill>
                  <a:srgbClr val="465365"/>
                </a:solidFill>
              </a:rPr>
              <a:t>£13.27 from governed and historical evidence.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3761D99-AF11-47D1-A120-C9DCDD888A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4191000"/>
            <a:ext cx="419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350" b="1">
                <a:solidFill>
                  <a:srgbClr val="E85D4A"/>
                </a:solidFill>
              </a:defRPr>
            </a:pPr>
            <a:r>
              <a:rPr sz="1350" b="1">
                <a:solidFill>
                  <a:srgbClr val="E85D4A"/>
                </a:solidFill>
              </a:rPr>
              <a:t>03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BB7975C-564C-4A9D-82D2-BD662C3B34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305300"/>
            <a:ext cx="381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5D4A"/>
          </a:solidFill>
          <a:ln xmlns:a="http://schemas.openxmlformats.org/drawingml/2006/main" w="0">
            <a:solidFill>
              <a:srgbClr val="E85D4A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61B1E2C-CE2E-4731-A659-309EEBA35A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4171950"/>
            <a:ext cx="2571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725" b="1">
                <a:solidFill>
                  <a:srgbClr val="132238"/>
                </a:solidFill>
              </a:defRPr>
            </a:pPr>
            <a:r>
              <a:rPr sz="1725" b="1">
                <a:solidFill>
                  <a:srgbClr val="132238"/>
                </a:solidFill>
              </a:rPr>
              <a:t>Challenge amount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6D4CA00-E9B9-44E8-9161-558DDACB05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4514850"/>
            <a:ext cx="25527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75">
                <a:solidFill>
                  <a:srgbClr val="465365"/>
                </a:solidFill>
              </a:defRPr>
            </a:pPr>
            <a:r>
              <a:rPr sz="1275">
                <a:solidFill>
                  <a:srgbClr val="465365"/>
                </a:solidFill>
              </a:rPr>
              <a:t>£9.79, with the evidence strength and VAT impact visible.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8793801-77F7-413B-8870-4011B80305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753100"/>
            <a:ext cx="3562350" cy="62865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E8F4F2"/>
          </a:solidFill>
          <a:ln xmlns:a="http://schemas.openxmlformats.org/drawingml/2006/main" w="9525">
            <a:solidFill>
              <a:srgbClr val="E85D4A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B1E1E3E-FBBE-4913-AA5D-BE067A65B8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886450"/>
            <a:ext cx="31813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75" b="1">
                <a:solidFill>
                  <a:srgbClr val="096C6D"/>
                </a:solidFill>
              </a:defRPr>
            </a:pPr>
            <a:r>
              <a:rPr sz="1275" b="1">
                <a:solidFill>
                  <a:srgbClr val="096C6D"/>
                </a:solidFill>
              </a:rPr>
              <a:t>A review recommendation—not an irreversible automated decision.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DBA05E6-E4AE-4734-9575-DE4ACF1AC9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1504950"/>
            <a:ext cx="7600950" cy="5314950"/>
          </a:xfrm>
          <a:prstGeom xmlns:a="http://schemas.openxmlformats.org/drawingml/2006/main" prst="roundRect">
            <a:avLst>
              <a:gd name="adj" fmla="val 215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0B8687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6"/>
          <a:fontRef xmlns:a="http://schemas.openxmlformats.org/drawingml/2006/main" idx="major"/>
        </p:style>
      </p:sp>
      <p:sp>
        <p:nvSpPr>
          <p:cNvPr id="23" name="rect-750">
            <a:extLst xmlns:a="http://schemas.openxmlformats.org/drawingml/2006/main">
              <a:ext uri="{FF2B5EF4-FFF2-40B4-BE49-F238E27FC236}">
                <a16:creationId xmlns:a16="http://schemas.microsoft.com/office/drawing/2014/main" id="{4494F4BD-6853-4DA0-A85F-ABC7A05567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1562100"/>
            <a:ext cx="7486650" cy="5200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DDE3E8"/>
            </a:solidFill>
            <a:prstDash val="solid"/>
          </a:ln>
        </p:spPr>
      </p:sp>
      <p:sp>
        <p:nvSpPr>
          <p:cNvPr id="24" name="rect-751">
            <a:extLst xmlns:a="http://schemas.openxmlformats.org/drawingml/2006/main">
              <a:ext uri="{FF2B5EF4-FFF2-40B4-BE49-F238E27FC236}">
                <a16:creationId xmlns:a16="http://schemas.microsoft.com/office/drawing/2014/main" id="{DCD55FED-649E-4F6A-9F81-01F512C40D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1562100"/>
            <a:ext cx="74866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7F8"/>
          </a:solidFill>
          <a:ln xmlns:a="http://schemas.openxmlformats.org/drawingml/2006/main" w="0">
            <a:solidFill>
              <a:srgbClr val="DDE3E8"/>
            </a:solidFill>
            <a:prstDash val="solid"/>
          </a:ln>
        </p:spPr>
      </p:sp>
      <p:sp>
        <p:nvSpPr>
          <p:cNvPr id="25" name="roundRect-752">
            <a:extLst xmlns:a="http://schemas.openxmlformats.org/drawingml/2006/main">
              <a:ext uri="{FF2B5EF4-FFF2-40B4-BE49-F238E27FC236}">
                <a16:creationId xmlns:a16="http://schemas.microsoft.com/office/drawing/2014/main" id="{3F08FFBD-7B39-4549-8D72-555986CC5F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1628775"/>
            <a:ext cx="190500" cy="1905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071B3D"/>
          </a:solidFill>
          <a:ln xmlns:a="http://schemas.openxmlformats.org/drawingml/2006/main" w="9525">
            <a:solidFill>
              <a:srgbClr val="071B3D"/>
            </a:solidFill>
            <a:prstDash val="solid"/>
          </a:ln>
        </p:spPr>
      </p:sp>
      <p:sp>
        <p:nvSpPr>
          <p:cNvPr id="26" name="textbox-753">
            <a:extLst xmlns:a="http://schemas.openxmlformats.org/drawingml/2006/main">
              <a:ext uri="{FF2B5EF4-FFF2-40B4-BE49-F238E27FC236}">
                <a16:creationId xmlns:a16="http://schemas.microsoft.com/office/drawing/2014/main" id="{2363FA13-8997-45D3-AF64-02464C8468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1638300"/>
            <a:ext cx="19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600" b="1">
                <a:solidFill>
                  <a:srgbClr val="FFFFFF"/>
                </a:solidFill>
              </a:defRPr>
            </a:pPr>
            <a:r>
              <a:rPr sz="600" b="1">
                <a:solidFill>
                  <a:srgbClr val="FFFFFF"/>
                </a:solidFill>
              </a:rPr>
              <a:t>CG</a:t>
            </a:r>
          </a:p>
        </p:txBody>
      </p:sp>
      <p:sp>
        <p:nvSpPr>
          <p:cNvPr id="27" name="textbox-754">
            <a:extLst xmlns:a="http://schemas.openxmlformats.org/drawingml/2006/main">
              <a:ext uri="{FF2B5EF4-FFF2-40B4-BE49-F238E27FC236}">
                <a16:creationId xmlns:a16="http://schemas.microsoft.com/office/drawing/2014/main" id="{0ACF9728-AFB6-4F6D-AAF1-7608EAC37E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1628775"/>
            <a:ext cx="95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071B3D"/>
                </a:solidFill>
              </a:defRPr>
            </a:pPr>
            <a:r>
              <a:rPr sz="825" b="1">
                <a:solidFill>
                  <a:srgbClr val="071B3D"/>
                </a:solidFill>
              </a:rPr>
              <a:t>ClaimGuard</a:t>
            </a:r>
          </a:p>
        </p:txBody>
      </p:sp>
      <p:sp>
        <p:nvSpPr>
          <p:cNvPr id="28" name="roundRect-755">
            <a:extLst xmlns:a="http://schemas.openxmlformats.org/drawingml/2006/main">
              <a:ext uri="{FF2B5EF4-FFF2-40B4-BE49-F238E27FC236}">
                <a16:creationId xmlns:a16="http://schemas.microsoft.com/office/drawing/2014/main" id="{9F24AD8C-C983-4DE8-897D-9F2CF565F5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91800" y="1619250"/>
            <a:ext cx="952500" cy="2286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FF7EC"/>
          </a:solidFill>
          <a:ln xmlns:a="http://schemas.openxmlformats.org/drawingml/2006/main" w="9525">
            <a:solidFill>
              <a:srgbClr val="EFF7EC"/>
            </a:solidFill>
            <a:prstDash val="solid"/>
          </a:ln>
        </p:spPr>
      </p:sp>
      <p:sp>
        <p:nvSpPr>
          <p:cNvPr id="29" name="textbox-756">
            <a:extLst xmlns:a="http://schemas.openxmlformats.org/drawingml/2006/main">
              <a:ext uri="{FF2B5EF4-FFF2-40B4-BE49-F238E27FC236}">
                <a16:creationId xmlns:a16="http://schemas.microsoft.com/office/drawing/2014/main" id="{3694C15B-EC40-4766-84BE-FC697A1792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48950" y="1628775"/>
            <a:ext cx="838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2E7D5B"/>
                </a:solidFill>
              </a:defRPr>
            </a:pPr>
            <a:r>
              <a:rPr sz="825" b="1">
                <a:solidFill>
                  <a:srgbClr val="2E7D5B"/>
                </a:solidFill>
              </a:rPr>
              <a:t>API connected</a:t>
            </a:r>
          </a:p>
        </p:txBody>
      </p:sp>
      <p:sp>
        <p:nvSpPr>
          <p:cNvPr id="30" name="rect-757">
            <a:extLst xmlns:a="http://schemas.openxmlformats.org/drawingml/2006/main">
              <a:ext uri="{FF2B5EF4-FFF2-40B4-BE49-F238E27FC236}">
                <a16:creationId xmlns:a16="http://schemas.microsoft.com/office/drawing/2014/main" id="{1F8116B6-5DD9-401F-8138-73501AD7CD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1885950"/>
            <a:ext cx="1066800" cy="487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A"/>
          </a:solidFill>
          <a:ln xmlns:a="http://schemas.openxmlformats.org/drawingml/2006/main" w="0">
            <a:solidFill>
              <a:srgbClr val="DDE3E8"/>
            </a:solidFill>
            <a:prstDash val="solid"/>
          </a:ln>
        </p:spPr>
      </p:sp>
      <p:sp>
        <p:nvSpPr>
          <p:cNvPr id="31" name="textbox-758">
            <a:extLst xmlns:a="http://schemas.openxmlformats.org/drawingml/2006/main">
              <a:ext uri="{FF2B5EF4-FFF2-40B4-BE49-F238E27FC236}">
                <a16:creationId xmlns:a16="http://schemas.microsoft.com/office/drawing/2014/main" id="{A6462575-F61B-4DB2-88B1-A61C7E4FF0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2076450"/>
            <a:ext cx="8001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638" b="0">
                <a:solidFill>
                  <a:srgbClr val="465365"/>
                </a:solidFill>
              </a:defRPr>
            </a:pPr>
            <a:r>
              <a:rPr sz="638" b="0">
                <a:solidFill>
                  <a:srgbClr val="465365"/>
                </a:solidFill>
              </a:rPr>
              <a:t>Overview</a:t>
            </a:r>
          </a:p>
        </p:txBody>
      </p:sp>
      <p:sp>
        <p:nvSpPr>
          <p:cNvPr id="32" name="textbox-759">
            <a:extLst xmlns:a="http://schemas.openxmlformats.org/drawingml/2006/main">
              <a:ext uri="{FF2B5EF4-FFF2-40B4-BE49-F238E27FC236}">
                <a16:creationId xmlns:a16="http://schemas.microsoft.com/office/drawing/2014/main" id="{59EED15E-6519-404B-A8D8-53DE6D85CA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2400300"/>
            <a:ext cx="8001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638" b="0">
                <a:solidFill>
                  <a:srgbClr val="465365"/>
                </a:solidFill>
              </a:defRPr>
            </a:pPr>
            <a:r>
              <a:rPr sz="638" b="0">
                <a:solidFill>
                  <a:srgbClr val="465365"/>
                </a:solidFill>
              </a:rPr>
              <a:t>Documents</a:t>
            </a:r>
          </a:p>
        </p:txBody>
      </p:sp>
      <p:sp>
        <p:nvSpPr>
          <p:cNvPr id="33" name="roundRect-760">
            <a:extLst xmlns:a="http://schemas.openxmlformats.org/drawingml/2006/main">
              <a:ext uri="{FF2B5EF4-FFF2-40B4-BE49-F238E27FC236}">
                <a16:creationId xmlns:a16="http://schemas.microsoft.com/office/drawing/2014/main" id="{5E3DD82E-CACF-442D-A1BE-221A19A22A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2705100"/>
            <a:ext cx="914400" cy="247650"/>
          </a:xfrm>
          <a:prstGeom xmlns:a="http://schemas.openxmlformats.org/drawingml/2006/main" prst="roundRect">
            <a:avLst>
              <a:gd name="adj" fmla="val 7692"/>
            </a:avLst>
          </a:prstGeom>
          <a:solidFill xmlns:a="http://schemas.openxmlformats.org/drawingml/2006/main">
            <a:srgbClr val="E8F4F2"/>
          </a:solidFill>
          <a:ln xmlns:a="http://schemas.openxmlformats.org/drawingml/2006/main" w="9525">
            <a:solidFill>
              <a:srgbClr val="E8F4F2"/>
            </a:solidFill>
            <a:prstDash val="solid"/>
          </a:ln>
        </p:spPr>
      </p:sp>
      <p:sp>
        <p:nvSpPr>
          <p:cNvPr id="34" name="textbox-761">
            <a:extLst xmlns:a="http://schemas.openxmlformats.org/drawingml/2006/main">
              <a:ext uri="{FF2B5EF4-FFF2-40B4-BE49-F238E27FC236}">
                <a16:creationId xmlns:a16="http://schemas.microsoft.com/office/drawing/2014/main" id="{C242059E-F618-4DAA-9061-BBBA48935A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2724150"/>
            <a:ext cx="8001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638" b="1">
                <a:solidFill>
                  <a:srgbClr val="096C6D"/>
                </a:solidFill>
              </a:defRPr>
            </a:pPr>
            <a:r>
              <a:rPr sz="638" b="1">
                <a:solidFill>
                  <a:srgbClr val="096C6D"/>
                </a:solidFill>
              </a:rPr>
              <a:t>Review findings</a:t>
            </a:r>
          </a:p>
        </p:txBody>
      </p:sp>
      <p:sp>
        <p:nvSpPr>
          <p:cNvPr id="35" name="textbox-762">
            <a:extLst xmlns:a="http://schemas.openxmlformats.org/drawingml/2006/main">
              <a:ext uri="{FF2B5EF4-FFF2-40B4-BE49-F238E27FC236}">
                <a16:creationId xmlns:a16="http://schemas.microsoft.com/office/drawing/2014/main" id="{F3BBE0CF-8576-4AF5-9C07-1A2537EB9E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3048000"/>
            <a:ext cx="8001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638" b="0">
                <a:solidFill>
                  <a:srgbClr val="465365"/>
                </a:solidFill>
              </a:defRPr>
            </a:pPr>
            <a:r>
              <a:rPr sz="638" b="0">
                <a:solidFill>
                  <a:srgbClr val="465365"/>
                </a:solidFill>
              </a:rPr>
              <a:t>Approve challenge</a:t>
            </a:r>
          </a:p>
        </p:txBody>
      </p:sp>
      <p:sp>
        <p:nvSpPr>
          <p:cNvPr id="36" name="textbox-763">
            <a:extLst xmlns:a="http://schemas.openxmlformats.org/drawingml/2006/main">
              <a:ext uri="{FF2B5EF4-FFF2-40B4-BE49-F238E27FC236}">
                <a16:creationId xmlns:a16="http://schemas.microsoft.com/office/drawing/2014/main" id="{46EA6D7D-E17A-4C05-876C-B89E8BF3F0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3371850"/>
            <a:ext cx="8001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638" b="0">
                <a:solidFill>
                  <a:srgbClr val="465365"/>
                </a:solidFill>
              </a:defRPr>
            </a:pPr>
            <a:r>
              <a:rPr sz="638" b="0">
                <a:solidFill>
                  <a:srgbClr val="465365"/>
                </a:solidFill>
              </a:rPr>
              <a:t>Audit trail</a:t>
            </a:r>
          </a:p>
        </p:txBody>
      </p:sp>
      <p:sp>
        <p:nvSpPr>
          <p:cNvPr id="37" name="textbox-764">
            <a:extLst xmlns:a="http://schemas.openxmlformats.org/drawingml/2006/main">
              <a:ext uri="{FF2B5EF4-FFF2-40B4-BE49-F238E27FC236}">
                <a16:creationId xmlns:a16="http://schemas.microsoft.com/office/drawing/2014/main" id="{2F6ADDC6-96AE-484F-BAAE-1361CB73A1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3695700"/>
            <a:ext cx="8001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638" b="0">
                <a:solidFill>
                  <a:srgbClr val="465365"/>
                </a:solidFill>
              </a:defRPr>
            </a:pPr>
            <a:r>
              <a:rPr sz="638" b="0">
                <a:solidFill>
                  <a:srgbClr val="465365"/>
                </a:solidFill>
              </a:rPr>
              <a:t>Extracted invoice</a:t>
            </a:r>
          </a:p>
        </p:txBody>
      </p:sp>
      <p:sp>
        <p:nvSpPr>
          <p:cNvPr id="38" name="textbox-765">
            <a:extLst xmlns:a="http://schemas.openxmlformats.org/drawingml/2006/main">
              <a:ext uri="{FF2B5EF4-FFF2-40B4-BE49-F238E27FC236}">
                <a16:creationId xmlns:a16="http://schemas.microsoft.com/office/drawing/2014/main" id="{FDB7CF5D-9F34-48E9-AFCA-A69A899489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4019550"/>
            <a:ext cx="8001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638" b="0">
                <a:solidFill>
                  <a:srgbClr val="465365"/>
                </a:solidFill>
              </a:defRPr>
            </a:pPr>
            <a:r>
              <a:rPr sz="638" b="0">
                <a:solidFill>
                  <a:srgbClr val="465365"/>
                </a:solidFill>
              </a:rPr>
              <a:t>Calculation checks</a:t>
            </a:r>
          </a:p>
        </p:txBody>
      </p:sp>
      <p:sp>
        <p:nvSpPr>
          <p:cNvPr id="39" name="textbox-766">
            <a:extLst xmlns:a="http://schemas.openxmlformats.org/drawingml/2006/main">
              <a:ext uri="{FF2B5EF4-FFF2-40B4-BE49-F238E27FC236}">
                <a16:creationId xmlns:a16="http://schemas.microsoft.com/office/drawing/2014/main" id="{467F191D-4218-48FA-B8A6-3E96ACBD08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4343400"/>
            <a:ext cx="8001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638" b="0">
                <a:solidFill>
                  <a:srgbClr val="465365"/>
                </a:solidFill>
              </a:defRPr>
            </a:pPr>
            <a:r>
              <a:rPr sz="638" b="0">
                <a:solidFill>
                  <a:srgbClr val="465365"/>
                </a:solidFill>
              </a:rPr>
              <a:t>Ontology mapping</a:t>
            </a:r>
          </a:p>
        </p:txBody>
      </p:sp>
      <p:sp>
        <p:nvSpPr>
          <p:cNvPr id="40" name="textbox-767">
            <a:extLst xmlns:a="http://schemas.openxmlformats.org/drawingml/2006/main">
              <a:ext uri="{FF2B5EF4-FFF2-40B4-BE49-F238E27FC236}">
                <a16:creationId xmlns:a16="http://schemas.microsoft.com/office/drawing/2014/main" id="{A66987F3-92C6-421D-A887-AE9812FA95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4667250"/>
            <a:ext cx="8001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638" b="0">
                <a:solidFill>
                  <a:srgbClr val="465365"/>
                </a:solidFill>
              </a:defRPr>
            </a:pPr>
            <a:r>
              <a:rPr sz="638" b="0">
                <a:solidFill>
                  <a:srgbClr val="465365"/>
                </a:solidFill>
              </a:rPr>
              <a:t>Repair benchmarks</a:t>
            </a:r>
          </a:p>
        </p:txBody>
      </p:sp>
      <p:sp>
        <p:nvSpPr>
          <p:cNvPr id="41" name="textbox-768">
            <a:extLst xmlns:a="http://schemas.openxmlformats.org/drawingml/2006/main">
              <a:ext uri="{FF2B5EF4-FFF2-40B4-BE49-F238E27FC236}">
                <a16:creationId xmlns:a16="http://schemas.microsoft.com/office/drawing/2014/main" id="{83B6E37A-5791-4B79-8EF1-526F63D0A8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2057400"/>
            <a:ext cx="5810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71B3D"/>
                </a:solidFill>
              </a:defRPr>
            </a:pPr>
            <a:r>
              <a:rPr sz="1350" b="1">
                <a:solidFill>
                  <a:srgbClr val="071B3D"/>
                </a:solidFill>
              </a:rPr>
              <a:t>Review Findings</a:t>
            </a:r>
          </a:p>
        </p:txBody>
      </p:sp>
      <p:sp>
        <p:nvSpPr>
          <p:cNvPr id="42" name="textbox-769">
            <a:extLst xmlns:a="http://schemas.openxmlformats.org/drawingml/2006/main">
              <a:ext uri="{FF2B5EF4-FFF2-40B4-BE49-F238E27FC236}">
                <a16:creationId xmlns:a16="http://schemas.microsoft.com/office/drawing/2014/main" id="{C0160B62-01FC-49D5-A032-48F008F8AF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2343150"/>
            <a:ext cx="5810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750">
                <a:solidFill>
                  <a:srgbClr val="6F7A89"/>
                </a:solidFill>
              </a:defRPr>
            </a:pPr>
            <a:r>
              <a:rPr sz="750">
                <a:solidFill>
                  <a:srgbClr val="6F7A89"/>
                </a:solidFill>
              </a:rPr>
              <a:t>Current charge, supported price and rationale stay together.</a:t>
            </a:r>
          </a:p>
        </p:txBody>
      </p:sp>
      <p:sp>
        <p:nvSpPr>
          <p:cNvPr id="43" name="roundRect-770">
            <a:extLst xmlns:a="http://schemas.openxmlformats.org/drawingml/2006/main">
              <a:ext uri="{FF2B5EF4-FFF2-40B4-BE49-F238E27FC236}">
                <a16:creationId xmlns:a16="http://schemas.microsoft.com/office/drawing/2014/main" id="{3D1F82BD-67D7-46B3-931C-20EED74A03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2686050"/>
            <a:ext cx="6000750" cy="857250"/>
          </a:xfrm>
          <a:prstGeom xmlns:a="http://schemas.openxmlformats.org/drawingml/2006/main" prst="roundRect">
            <a:avLst>
              <a:gd name="adj" fmla="val 8889"/>
            </a:avLst>
          </a:prstGeom>
          <a:solidFill xmlns:a="http://schemas.openxmlformats.org/drawingml/2006/main">
            <a:srgbClr val="FFF0ED"/>
          </a:solidFill>
          <a:ln xmlns:a="http://schemas.openxmlformats.org/drawingml/2006/main" w="9525">
            <a:solidFill>
              <a:srgbClr val="E85D4A"/>
            </a:solidFill>
            <a:prstDash val="solid"/>
          </a:ln>
        </p:spPr>
      </p:sp>
      <p:sp>
        <p:nvSpPr>
          <p:cNvPr id="44" name="textbox-771">
            <a:extLst xmlns:a="http://schemas.openxmlformats.org/drawingml/2006/main">
              <a:ext uri="{FF2B5EF4-FFF2-40B4-BE49-F238E27FC236}">
                <a16:creationId xmlns:a16="http://schemas.microsoft.com/office/drawing/2014/main" id="{28866AB8-BC3D-4186-B78F-BB6FBEDDC8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76900" y="2800350"/>
            <a:ext cx="1619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071B3D"/>
                </a:solidFill>
              </a:defRPr>
            </a:pPr>
            <a:r>
              <a:rPr sz="1050" b="1">
                <a:solidFill>
                  <a:srgbClr val="071B3D"/>
                </a:solidFill>
              </a:rPr>
              <a:t>Air Filter</a:t>
            </a:r>
          </a:p>
        </p:txBody>
      </p:sp>
      <p:sp>
        <p:nvSpPr>
          <p:cNvPr id="45" name="roundRect-772">
            <a:extLst xmlns:a="http://schemas.openxmlformats.org/drawingml/2006/main">
              <a:ext uri="{FF2B5EF4-FFF2-40B4-BE49-F238E27FC236}">
                <a16:creationId xmlns:a16="http://schemas.microsoft.com/office/drawing/2014/main" id="{3CCE553D-FA7C-459B-A871-D670AD4006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2800350"/>
            <a:ext cx="857250" cy="2286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85D4A"/>
          </a:solidFill>
          <a:ln xmlns:a="http://schemas.openxmlformats.org/drawingml/2006/main" w="9525">
            <a:solidFill>
              <a:srgbClr val="E85D4A"/>
            </a:solidFill>
            <a:prstDash val="solid"/>
          </a:ln>
        </p:spPr>
      </p:sp>
      <p:sp>
        <p:nvSpPr>
          <p:cNvPr id="46" name="textbox-773">
            <a:extLst xmlns:a="http://schemas.openxmlformats.org/drawingml/2006/main">
              <a:ext uri="{FF2B5EF4-FFF2-40B4-BE49-F238E27FC236}">
                <a16:creationId xmlns:a16="http://schemas.microsoft.com/office/drawing/2014/main" id="{07C6A3ED-4019-4516-91FD-FB8C61A24B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34650" y="2809875"/>
            <a:ext cx="7429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FFFFFF"/>
                </a:solidFill>
              </a:defRPr>
            </a:pPr>
            <a:r>
              <a:rPr sz="825" b="1">
                <a:solidFill>
                  <a:srgbClr val="FFFFFF"/>
                </a:solidFill>
              </a:rPr>
              <a:t>Review</a:t>
            </a:r>
          </a:p>
        </p:txBody>
      </p:sp>
      <p:sp>
        <p:nvSpPr>
          <p:cNvPr id="47" name="textbox-774">
            <a:extLst xmlns:a="http://schemas.openxmlformats.org/drawingml/2006/main">
              <a:ext uri="{FF2B5EF4-FFF2-40B4-BE49-F238E27FC236}">
                <a16:creationId xmlns:a16="http://schemas.microsoft.com/office/drawing/2014/main" id="{95073822-ADA4-49BA-9932-02D984C833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76900" y="3143250"/>
            <a:ext cx="10001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675">
                <a:solidFill>
                  <a:srgbClr val="6F7A89"/>
                </a:solidFill>
              </a:defRPr>
            </a:pPr>
            <a:r>
              <a:rPr sz="675">
                <a:solidFill>
                  <a:srgbClr val="6F7A89"/>
                </a:solidFill>
              </a:rPr>
              <a:t>Current charge</a:t>
            </a:r>
          </a:p>
        </p:txBody>
      </p:sp>
      <p:sp>
        <p:nvSpPr>
          <p:cNvPr id="48" name="textbox-775">
            <a:extLst xmlns:a="http://schemas.openxmlformats.org/drawingml/2006/main">
              <a:ext uri="{FF2B5EF4-FFF2-40B4-BE49-F238E27FC236}">
                <a16:creationId xmlns:a16="http://schemas.microsoft.com/office/drawing/2014/main" id="{565FCE55-C62F-4769-B44A-6B9B197083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9875" y="3086100"/>
            <a:ext cx="857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E85D4A"/>
                </a:solidFill>
              </a:defRPr>
            </a:pPr>
            <a:r>
              <a:rPr sz="1500" b="1">
                <a:solidFill>
                  <a:srgbClr val="E85D4A"/>
                </a:solidFill>
              </a:rPr>
              <a:t>£23.06</a:t>
            </a:r>
          </a:p>
        </p:txBody>
      </p:sp>
      <p:sp>
        <p:nvSpPr>
          <p:cNvPr id="49" name="textbox-776">
            <a:extLst xmlns:a="http://schemas.openxmlformats.org/drawingml/2006/main">
              <a:ext uri="{FF2B5EF4-FFF2-40B4-BE49-F238E27FC236}">
                <a16:creationId xmlns:a16="http://schemas.microsoft.com/office/drawing/2014/main" id="{AA8725E1-46FC-4080-9446-9F8CDAA9A4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3143250"/>
            <a:ext cx="10001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675">
                <a:solidFill>
                  <a:srgbClr val="6F7A89"/>
                </a:solidFill>
              </a:defRPr>
            </a:pPr>
            <a:r>
              <a:rPr sz="675">
                <a:solidFill>
                  <a:srgbClr val="6F7A89"/>
                </a:solidFill>
              </a:rPr>
              <a:t>Supported net</a:t>
            </a:r>
          </a:p>
        </p:txBody>
      </p:sp>
      <p:sp>
        <p:nvSpPr>
          <p:cNvPr id="50" name="textbox-777">
            <a:extLst xmlns:a="http://schemas.openxmlformats.org/drawingml/2006/main">
              <a:ext uri="{FF2B5EF4-FFF2-40B4-BE49-F238E27FC236}">
                <a16:creationId xmlns:a16="http://schemas.microsoft.com/office/drawing/2014/main" id="{A1B89B11-0389-46E4-AE31-8CAB5D7886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3086100"/>
            <a:ext cx="857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0B8687"/>
                </a:solidFill>
              </a:defRPr>
            </a:pPr>
            <a:r>
              <a:rPr sz="1500" b="1">
                <a:solidFill>
                  <a:srgbClr val="0B8687"/>
                </a:solidFill>
              </a:rPr>
              <a:t>£13.27</a:t>
            </a:r>
          </a:p>
        </p:txBody>
      </p:sp>
      <p:sp>
        <p:nvSpPr>
          <p:cNvPr id="51" name="textbox-778">
            <a:extLst xmlns:a="http://schemas.openxmlformats.org/drawingml/2006/main">
              <a:ext uri="{FF2B5EF4-FFF2-40B4-BE49-F238E27FC236}">
                <a16:creationId xmlns:a16="http://schemas.microsoft.com/office/drawing/2014/main" id="{39C6D647-0B1B-41C7-B409-01C5C3B243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58375" y="3143250"/>
            <a:ext cx="8096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675">
                <a:solidFill>
                  <a:srgbClr val="6F7A89"/>
                </a:solidFill>
              </a:defRPr>
            </a:pPr>
            <a:r>
              <a:rPr sz="675">
                <a:solidFill>
                  <a:srgbClr val="6F7A89"/>
                </a:solidFill>
              </a:rPr>
              <a:t>Challenge</a:t>
            </a:r>
          </a:p>
        </p:txBody>
      </p:sp>
      <p:sp>
        <p:nvSpPr>
          <p:cNvPr id="52" name="textbox-779">
            <a:extLst xmlns:a="http://schemas.openxmlformats.org/drawingml/2006/main">
              <a:ext uri="{FF2B5EF4-FFF2-40B4-BE49-F238E27FC236}">
                <a16:creationId xmlns:a16="http://schemas.microsoft.com/office/drawing/2014/main" id="{50F6CC9A-9947-4827-B6C5-D695427B00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20375" y="3086100"/>
            <a:ext cx="762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E85D4A"/>
                </a:solidFill>
              </a:defRPr>
            </a:pPr>
            <a:r>
              <a:rPr sz="1500" b="1">
                <a:solidFill>
                  <a:srgbClr val="E85D4A"/>
                </a:solidFill>
              </a:rPr>
              <a:t>£9.79</a:t>
            </a:r>
          </a:p>
        </p:txBody>
      </p:sp>
      <p:sp>
        <p:nvSpPr>
          <p:cNvPr id="53" name="roundRect-780">
            <a:extLst xmlns:a="http://schemas.openxmlformats.org/drawingml/2006/main">
              <a:ext uri="{FF2B5EF4-FFF2-40B4-BE49-F238E27FC236}">
                <a16:creationId xmlns:a16="http://schemas.microsoft.com/office/drawing/2014/main" id="{CE70485F-F362-4836-BA65-2FD761B7B3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3714750"/>
            <a:ext cx="1885950" cy="704850"/>
          </a:xfrm>
          <a:prstGeom xmlns:a="http://schemas.openxmlformats.org/drawingml/2006/main" prst="roundRect">
            <a:avLst>
              <a:gd name="adj" fmla="val 1081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3E8"/>
            </a:solidFill>
            <a:prstDash val="solid"/>
          </a:ln>
        </p:spPr>
      </p:sp>
      <p:sp>
        <p:nvSpPr>
          <p:cNvPr id="54" name="textbox-781">
            <a:extLst xmlns:a="http://schemas.openxmlformats.org/drawingml/2006/main">
              <a:ext uri="{FF2B5EF4-FFF2-40B4-BE49-F238E27FC236}">
                <a16:creationId xmlns:a16="http://schemas.microsoft.com/office/drawing/2014/main" id="{E72FE7EE-31C6-4A25-9EF0-D9E86B8075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8800" y="3790950"/>
            <a:ext cx="16573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675" b="1">
                <a:solidFill>
                  <a:srgbClr val="6F7A89"/>
                </a:solidFill>
              </a:defRPr>
            </a:pPr>
            <a:r>
              <a:rPr sz="675" b="1">
                <a:solidFill>
                  <a:srgbClr val="6F7A89"/>
                </a:solidFill>
              </a:rPr>
              <a:t>Historical P90</a:t>
            </a:r>
          </a:p>
        </p:txBody>
      </p:sp>
      <p:sp>
        <p:nvSpPr>
          <p:cNvPr id="55" name="textbox-782">
            <a:extLst xmlns:a="http://schemas.openxmlformats.org/drawingml/2006/main">
              <a:ext uri="{FF2B5EF4-FFF2-40B4-BE49-F238E27FC236}">
                <a16:creationId xmlns:a16="http://schemas.microsoft.com/office/drawing/2014/main" id="{49B29699-2C51-4426-B7EA-A5DA29C162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8800" y="3981450"/>
            <a:ext cx="16573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B8687"/>
                </a:solidFill>
              </a:defRPr>
            </a:pPr>
            <a:r>
              <a:rPr sz="1350" b="1">
                <a:solidFill>
                  <a:srgbClr val="0B8687"/>
                </a:solidFill>
              </a:rPr>
              <a:t>£16.55</a:t>
            </a:r>
          </a:p>
        </p:txBody>
      </p:sp>
      <p:sp>
        <p:nvSpPr>
          <p:cNvPr id="56" name="roundRect-783">
            <a:extLst xmlns:a="http://schemas.openxmlformats.org/drawingml/2006/main">
              <a:ext uri="{FF2B5EF4-FFF2-40B4-BE49-F238E27FC236}">
                <a16:creationId xmlns:a16="http://schemas.microsoft.com/office/drawing/2014/main" id="{F7937B9E-A193-4FCB-9FB0-84E36BFFE5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1900" y="3714750"/>
            <a:ext cx="1885950" cy="704850"/>
          </a:xfrm>
          <a:prstGeom xmlns:a="http://schemas.openxmlformats.org/drawingml/2006/main" prst="roundRect">
            <a:avLst>
              <a:gd name="adj" fmla="val 1081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3E8"/>
            </a:solidFill>
            <a:prstDash val="solid"/>
          </a:ln>
        </p:spPr>
      </p:sp>
      <p:sp>
        <p:nvSpPr>
          <p:cNvPr id="57" name="textbox-784">
            <a:extLst xmlns:a="http://schemas.openxmlformats.org/drawingml/2006/main">
              <a:ext uri="{FF2B5EF4-FFF2-40B4-BE49-F238E27FC236}">
                <a16:creationId xmlns:a16="http://schemas.microsoft.com/office/drawing/2014/main" id="{00185D38-82C1-40FE-B02B-5A993E94CF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3790950"/>
            <a:ext cx="16573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675" b="1">
                <a:solidFill>
                  <a:srgbClr val="6F7A89"/>
                </a:solidFill>
              </a:defRPr>
            </a:pPr>
            <a:r>
              <a:rPr sz="675" b="1">
                <a:solidFill>
                  <a:srgbClr val="6F7A89"/>
                </a:solidFill>
              </a:rPr>
              <a:t>Evidence count</a:t>
            </a:r>
          </a:p>
        </p:txBody>
      </p:sp>
      <p:sp>
        <p:nvSpPr>
          <p:cNvPr id="58" name="textbox-785">
            <a:extLst xmlns:a="http://schemas.openxmlformats.org/drawingml/2006/main">
              <a:ext uri="{FF2B5EF4-FFF2-40B4-BE49-F238E27FC236}">
                <a16:creationId xmlns:a16="http://schemas.microsoft.com/office/drawing/2014/main" id="{F36537E7-3604-4391-9F41-D4F03D5EB5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3981450"/>
            <a:ext cx="16573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71B3D"/>
                </a:solidFill>
              </a:defRPr>
            </a:pPr>
            <a:r>
              <a:rPr sz="1350" b="1">
                <a:solidFill>
                  <a:srgbClr val="071B3D"/>
                </a:solidFill>
              </a:rPr>
              <a:t>9 invoices</a:t>
            </a:r>
          </a:p>
        </p:txBody>
      </p:sp>
      <p:sp>
        <p:nvSpPr>
          <p:cNvPr id="59" name="roundRect-786">
            <a:extLst xmlns:a="http://schemas.openxmlformats.org/drawingml/2006/main">
              <a:ext uri="{FF2B5EF4-FFF2-40B4-BE49-F238E27FC236}">
                <a16:creationId xmlns:a16="http://schemas.microsoft.com/office/drawing/2014/main" id="{552BE0C0-B905-4B87-8EBB-B85339CF1C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3714750"/>
            <a:ext cx="1885950" cy="704850"/>
          </a:xfrm>
          <a:prstGeom xmlns:a="http://schemas.openxmlformats.org/drawingml/2006/main" prst="roundRect">
            <a:avLst>
              <a:gd name="adj" fmla="val 1081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3E8"/>
            </a:solidFill>
            <a:prstDash val="solid"/>
          </a:ln>
        </p:spPr>
      </p:sp>
      <p:sp>
        <p:nvSpPr>
          <p:cNvPr id="60" name="textbox-787">
            <a:extLst xmlns:a="http://schemas.openxmlformats.org/drawingml/2006/main">
              <a:ext uri="{FF2B5EF4-FFF2-40B4-BE49-F238E27FC236}">
                <a16:creationId xmlns:a16="http://schemas.microsoft.com/office/drawing/2014/main" id="{15FC8A37-718F-47F6-8DE5-22D8D824B8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3600" y="3790950"/>
            <a:ext cx="16573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675" b="1">
                <a:solidFill>
                  <a:srgbClr val="6F7A89"/>
                </a:solidFill>
              </a:defRPr>
            </a:pPr>
            <a:r>
              <a:rPr sz="675" b="1">
                <a:solidFill>
                  <a:srgbClr val="6F7A89"/>
                </a:solidFill>
              </a:rPr>
              <a:t>Difference</a:t>
            </a:r>
          </a:p>
        </p:txBody>
      </p:sp>
      <p:sp>
        <p:nvSpPr>
          <p:cNvPr id="61" name="textbox-788">
            <a:extLst xmlns:a="http://schemas.openxmlformats.org/drawingml/2006/main">
              <a:ext uri="{FF2B5EF4-FFF2-40B4-BE49-F238E27FC236}">
                <a16:creationId xmlns:a16="http://schemas.microsoft.com/office/drawing/2014/main" id="{E0B82A49-39F8-4EDB-9977-A6673C65BB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3600" y="3981450"/>
            <a:ext cx="16573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E85D4A"/>
                </a:solidFill>
              </a:defRPr>
            </a:pPr>
            <a:r>
              <a:rPr sz="1350" b="1">
                <a:solidFill>
                  <a:srgbClr val="E85D4A"/>
                </a:solidFill>
              </a:rPr>
              <a:t>+£6.51</a:t>
            </a:r>
          </a:p>
        </p:txBody>
      </p:sp>
      <p:sp>
        <p:nvSpPr>
          <p:cNvPr id="62" name="roundRect-789">
            <a:extLst xmlns:a="http://schemas.openxmlformats.org/drawingml/2006/main">
              <a:ext uri="{FF2B5EF4-FFF2-40B4-BE49-F238E27FC236}">
                <a16:creationId xmlns:a16="http://schemas.microsoft.com/office/drawing/2014/main" id="{F6EFD725-38DD-4482-8048-39148757C7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4591050"/>
            <a:ext cx="6000750" cy="990600"/>
          </a:xfrm>
          <a:prstGeom xmlns:a="http://schemas.openxmlformats.org/drawingml/2006/main" prst="roundRect">
            <a:avLst>
              <a:gd name="adj" fmla="val 769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3E8"/>
            </a:solidFill>
            <a:prstDash val="solid"/>
          </a:ln>
        </p:spPr>
      </p:sp>
      <p:sp>
        <p:nvSpPr>
          <p:cNvPr id="63" name="textbox-790">
            <a:extLst xmlns:a="http://schemas.openxmlformats.org/drawingml/2006/main">
              <a:ext uri="{FF2B5EF4-FFF2-40B4-BE49-F238E27FC236}">
                <a16:creationId xmlns:a16="http://schemas.microsoft.com/office/drawing/2014/main" id="{70641909-92F8-44FA-BFB9-45F34AD13C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95950" y="4743450"/>
            <a:ext cx="2476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071B3D"/>
                </a:solidFill>
              </a:defRPr>
            </a:pPr>
            <a:r>
              <a:rPr sz="900" b="1">
                <a:solidFill>
                  <a:srgbClr val="071B3D"/>
                </a:solidFill>
              </a:rPr>
              <a:t>Why this line is challenged</a:t>
            </a:r>
          </a:p>
        </p:txBody>
      </p:sp>
      <p:sp>
        <p:nvSpPr>
          <p:cNvPr id="64" name="textbox-791">
            <a:extLst xmlns:a="http://schemas.openxmlformats.org/drawingml/2006/main">
              <a:ext uri="{FF2B5EF4-FFF2-40B4-BE49-F238E27FC236}">
                <a16:creationId xmlns:a16="http://schemas.microsoft.com/office/drawing/2014/main" id="{B7C0171C-A47A-4B65-B2AF-0250712B08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95950" y="5010150"/>
            <a:ext cx="56578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750">
                <a:solidFill>
                  <a:srgbClr val="465365"/>
                </a:solidFill>
              </a:defRPr>
            </a:pPr>
            <a:r>
              <a:rPr sz="750">
                <a:solidFill>
                  <a:srgbClr val="465365"/>
                </a:solidFill>
              </a:rPr>
              <a:t>The current Air Filter charge of £23.06 exceeds the historical P90 benchmark of £16.55.</a:t>
            </a:r>
          </a:p>
          <a:p xmlns:a="http://schemas.openxmlformats.org/drawingml/2006/main">
            <a:pPr>
              <a:defRPr sz="750">
                <a:solidFill>
                  <a:srgbClr val="465365"/>
                </a:solidFill>
              </a:defRPr>
            </a:pPr>
            <a:r>
              <a:rPr sz="750">
                <a:solidFill>
                  <a:srgbClr val="465365"/>
                </a:solidFill>
              </a:rPr>
              <a:t>The supported net price is £13.27, producing a £9.79 challenge recommendation.</a:t>
            </a:r>
          </a:p>
        </p:txBody>
      </p:sp>
      <p:sp>
        <p:nvSpPr>
          <p:cNvPr id="65" name="roundRect-792">
            <a:extLst xmlns:a="http://schemas.openxmlformats.org/drawingml/2006/main">
              <a:ext uri="{FF2B5EF4-FFF2-40B4-BE49-F238E27FC236}">
                <a16:creationId xmlns:a16="http://schemas.microsoft.com/office/drawing/2014/main" id="{0C12E852-5734-4A57-B287-D4C5D2A267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5619750"/>
            <a:ext cx="6000750" cy="1009650"/>
          </a:xfrm>
          <a:prstGeom xmlns:a="http://schemas.openxmlformats.org/drawingml/2006/main" prst="roundRect">
            <a:avLst>
              <a:gd name="adj" fmla="val 188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3E8"/>
            </a:solidFill>
            <a:prstDash val="solid"/>
          </a:ln>
        </p:spPr>
      </p:sp>
      <p:sp>
        <p:nvSpPr>
          <p:cNvPr id="66" name="rect-793">
            <a:extLst xmlns:a="http://schemas.openxmlformats.org/drawingml/2006/main">
              <a:ext uri="{FF2B5EF4-FFF2-40B4-BE49-F238E27FC236}">
                <a16:creationId xmlns:a16="http://schemas.microsoft.com/office/drawing/2014/main" id="{4CADA150-E668-48F3-AD62-7FF71F4287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5619750"/>
            <a:ext cx="6000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4F6"/>
          </a:solidFill>
          <a:ln xmlns:a="http://schemas.openxmlformats.org/drawingml/2006/main" w="0">
            <a:solidFill>
              <a:srgbClr val="F1F4F6"/>
            </a:solidFill>
            <a:prstDash val="solid"/>
          </a:ln>
        </p:spPr>
      </p:sp>
      <p:sp>
        <p:nvSpPr>
          <p:cNvPr id="67" name="textbox-794">
            <a:extLst xmlns:a="http://schemas.openxmlformats.org/drawingml/2006/main">
              <a:ext uri="{FF2B5EF4-FFF2-40B4-BE49-F238E27FC236}">
                <a16:creationId xmlns:a16="http://schemas.microsoft.com/office/drawing/2014/main" id="{9D3E4386-A484-43DE-981F-1631EE619C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1650" y="5667375"/>
            <a:ext cx="17907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638" b="1">
                <a:solidFill>
                  <a:srgbClr val="465365"/>
                </a:solidFill>
              </a:defRPr>
            </a:pPr>
            <a:r>
              <a:rPr sz="638" b="1">
                <a:solidFill>
                  <a:srgbClr val="465365"/>
                </a:solidFill>
              </a:rPr>
              <a:t>Item</a:t>
            </a:r>
          </a:p>
        </p:txBody>
      </p:sp>
      <p:sp>
        <p:nvSpPr>
          <p:cNvPr id="68" name="rect-795">
            <a:extLst xmlns:a="http://schemas.openxmlformats.org/drawingml/2006/main">
              <a:ext uri="{FF2B5EF4-FFF2-40B4-BE49-F238E27FC236}">
                <a16:creationId xmlns:a16="http://schemas.microsoft.com/office/drawing/2014/main" id="{0234B51A-1F7C-47D1-9861-779D5DF308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5619750"/>
            <a:ext cx="9525" cy="1009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3E8"/>
          </a:solidFill>
          <a:ln xmlns:a="http://schemas.openxmlformats.org/drawingml/2006/main" w="0">
            <a:solidFill>
              <a:srgbClr val="DDE3E8"/>
            </a:solidFill>
            <a:prstDash val="solid"/>
          </a:ln>
        </p:spPr>
      </p:sp>
      <p:sp>
        <p:nvSpPr>
          <p:cNvPr id="69" name="textbox-796">
            <a:extLst xmlns:a="http://schemas.openxmlformats.org/drawingml/2006/main">
              <a:ext uri="{FF2B5EF4-FFF2-40B4-BE49-F238E27FC236}">
                <a16:creationId xmlns:a16="http://schemas.microsoft.com/office/drawing/2014/main" id="{F3CC221B-BCFA-4E24-9449-AEA93ABBAC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5667375"/>
            <a:ext cx="7429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638" b="1">
                <a:solidFill>
                  <a:srgbClr val="465365"/>
                </a:solidFill>
              </a:defRPr>
            </a:pPr>
            <a:r>
              <a:rPr sz="638" b="1">
                <a:solidFill>
                  <a:srgbClr val="465365"/>
                </a:solidFill>
              </a:rPr>
              <a:t>Billed</a:t>
            </a:r>
          </a:p>
        </p:txBody>
      </p:sp>
      <p:sp>
        <p:nvSpPr>
          <p:cNvPr id="70" name="rect-797">
            <a:extLst xmlns:a="http://schemas.openxmlformats.org/drawingml/2006/main">
              <a:ext uri="{FF2B5EF4-FFF2-40B4-BE49-F238E27FC236}">
                <a16:creationId xmlns:a16="http://schemas.microsoft.com/office/drawing/2014/main" id="{77D6EE98-E26A-4150-8EFA-0CDAF4CD72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5619750"/>
            <a:ext cx="9525" cy="1009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3E8"/>
          </a:solidFill>
          <a:ln xmlns:a="http://schemas.openxmlformats.org/drawingml/2006/main" w="0">
            <a:solidFill>
              <a:srgbClr val="DDE3E8"/>
            </a:solidFill>
            <a:prstDash val="solid"/>
          </a:ln>
        </p:spPr>
      </p:sp>
      <p:sp>
        <p:nvSpPr>
          <p:cNvPr id="71" name="textbox-798">
            <a:extLst xmlns:a="http://schemas.openxmlformats.org/drawingml/2006/main">
              <a:ext uri="{FF2B5EF4-FFF2-40B4-BE49-F238E27FC236}">
                <a16:creationId xmlns:a16="http://schemas.microsoft.com/office/drawing/2014/main" id="{1C1E8C22-C3B7-47BF-82C0-DA9BDC528D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5667375"/>
            <a:ext cx="838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638" b="1">
                <a:solidFill>
                  <a:srgbClr val="465365"/>
                </a:solidFill>
              </a:defRPr>
            </a:pPr>
            <a:r>
              <a:rPr sz="638" b="1">
                <a:solidFill>
                  <a:srgbClr val="465365"/>
                </a:solidFill>
              </a:rPr>
              <a:t>Supported</a:t>
            </a:r>
          </a:p>
        </p:txBody>
      </p:sp>
      <p:sp>
        <p:nvSpPr>
          <p:cNvPr id="72" name="rect-799">
            <a:extLst xmlns:a="http://schemas.openxmlformats.org/drawingml/2006/main">
              <a:ext uri="{FF2B5EF4-FFF2-40B4-BE49-F238E27FC236}">
                <a16:creationId xmlns:a16="http://schemas.microsoft.com/office/drawing/2014/main" id="{57C67CAA-7ED7-4D41-9432-7C3A336732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5619750"/>
            <a:ext cx="9525" cy="1009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3E8"/>
          </a:solidFill>
          <a:ln xmlns:a="http://schemas.openxmlformats.org/drawingml/2006/main" w="0">
            <a:solidFill>
              <a:srgbClr val="DDE3E8"/>
            </a:solidFill>
            <a:prstDash val="solid"/>
          </a:ln>
        </p:spPr>
      </p:sp>
      <p:sp>
        <p:nvSpPr>
          <p:cNvPr id="73" name="textbox-800">
            <a:extLst xmlns:a="http://schemas.openxmlformats.org/drawingml/2006/main">
              <a:ext uri="{FF2B5EF4-FFF2-40B4-BE49-F238E27FC236}">
                <a16:creationId xmlns:a16="http://schemas.microsoft.com/office/drawing/2014/main" id="{883027D1-A8B0-4E85-BC22-3FA58C69B8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5667375"/>
            <a:ext cx="838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638" b="1">
                <a:solidFill>
                  <a:srgbClr val="465365"/>
                </a:solidFill>
              </a:defRPr>
            </a:pPr>
            <a:r>
              <a:rPr sz="638" b="1">
                <a:solidFill>
                  <a:srgbClr val="465365"/>
                </a:solidFill>
              </a:rPr>
              <a:t>Challenge</a:t>
            </a:r>
          </a:p>
        </p:txBody>
      </p:sp>
      <p:sp>
        <p:nvSpPr>
          <p:cNvPr id="74" name="rect-801">
            <a:extLst xmlns:a="http://schemas.openxmlformats.org/drawingml/2006/main">
              <a:ext uri="{FF2B5EF4-FFF2-40B4-BE49-F238E27FC236}">
                <a16:creationId xmlns:a16="http://schemas.microsoft.com/office/drawing/2014/main" id="{47C20C19-8C9E-4EBC-82C0-AB9FBA37FA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5619750"/>
            <a:ext cx="9525" cy="1009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3E8"/>
          </a:solidFill>
          <a:ln xmlns:a="http://schemas.openxmlformats.org/drawingml/2006/main" w="0">
            <a:solidFill>
              <a:srgbClr val="DDE3E8"/>
            </a:solidFill>
            <a:prstDash val="solid"/>
          </a:ln>
        </p:spPr>
      </p:sp>
      <p:sp>
        <p:nvSpPr>
          <p:cNvPr id="75" name="textbox-802">
            <a:extLst xmlns:a="http://schemas.openxmlformats.org/drawingml/2006/main">
              <a:ext uri="{FF2B5EF4-FFF2-40B4-BE49-F238E27FC236}">
                <a16:creationId xmlns:a16="http://schemas.microsoft.com/office/drawing/2014/main" id="{9D03A285-6B26-4D40-97A5-5822708324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48900" y="5667375"/>
            <a:ext cx="1219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638" b="1">
                <a:solidFill>
                  <a:srgbClr val="465365"/>
                </a:solidFill>
              </a:defRPr>
            </a:pPr>
            <a:r>
              <a:rPr sz="638" b="1">
                <a:solidFill>
                  <a:srgbClr val="465365"/>
                </a:solidFill>
              </a:rPr>
              <a:t>Status</a:t>
            </a:r>
          </a:p>
        </p:txBody>
      </p:sp>
      <p:sp>
        <p:nvSpPr>
          <p:cNvPr id="76" name="rect-803">
            <a:extLst xmlns:a="http://schemas.openxmlformats.org/drawingml/2006/main">
              <a:ext uri="{FF2B5EF4-FFF2-40B4-BE49-F238E27FC236}">
                <a16:creationId xmlns:a16="http://schemas.microsoft.com/office/drawing/2014/main" id="{414D46FD-E44C-4562-A919-03F72DC28C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5886450"/>
            <a:ext cx="6000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3E8"/>
          </a:solidFill>
          <a:ln xmlns:a="http://schemas.openxmlformats.org/drawingml/2006/main" w="0">
            <a:solidFill>
              <a:srgbClr val="DDE3E8"/>
            </a:solidFill>
            <a:prstDash val="solid"/>
          </a:ln>
        </p:spPr>
      </p:sp>
      <p:sp>
        <p:nvSpPr>
          <p:cNvPr id="77" name="textbox-804">
            <a:extLst xmlns:a="http://schemas.openxmlformats.org/drawingml/2006/main">
              <a:ext uri="{FF2B5EF4-FFF2-40B4-BE49-F238E27FC236}">
                <a16:creationId xmlns:a16="http://schemas.microsoft.com/office/drawing/2014/main" id="{E502B6D6-7698-431A-B759-B6C69DA4E1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1650" y="5924550"/>
            <a:ext cx="17907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638" b="1">
                <a:solidFill>
                  <a:srgbClr val="132238"/>
                </a:solidFill>
              </a:defRPr>
            </a:pPr>
            <a:r>
              <a:rPr sz="638" b="1">
                <a:solidFill>
                  <a:srgbClr val="132238"/>
                </a:solidFill>
              </a:rPr>
              <a:t>Air Filter</a:t>
            </a:r>
          </a:p>
        </p:txBody>
      </p:sp>
      <p:sp>
        <p:nvSpPr>
          <p:cNvPr id="78" name="textbox-805">
            <a:extLst xmlns:a="http://schemas.openxmlformats.org/drawingml/2006/main">
              <a:ext uri="{FF2B5EF4-FFF2-40B4-BE49-F238E27FC236}">
                <a16:creationId xmlns:a16="http://schemas.microsoft.com/office/drawing/2014/main" id="{6611E921-93FB-4021-B943-1B124FF1C1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5924550"/>
            <a:ext cx="7429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638" b="0">
                <a:solidFill>
                  <a:srgbClr val="132238"/>
                </a:solidFill>
              </a:defRPr>
            </a:pPr>
            <a:r>
              <a:rPr sz="638" b="0">
                <a:solidFill>
                  <a:srgbClr val="132238"/>
                </a:solidFill>
              </a:rPr>
              <a:t>£23.06</a:t>
            </a:r>
          </a:p>
        </p:txBody>
      </p:sp>
      <p:sp>
        <p:nvSpPr>
          <p:cNvPr id="79" name="textbox-806">
            <a:extLst xmlns:a="http://schemas.openxmlformats.org/drawingml/2006/main">
              <a:ext uri="{FF2B5EF4-FFF2-40B4-BE49-F238E27FC236}">
                <a16:creationId xmlns:a16="http://schemas.microsoft.com/office/drawing/2014/main" id="{82AD8B18-8F9C-4DA7-A6D4-CB2FB900BF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5924550"/>
            <a:ext cx="838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638" b="0">
                <a:solidFill>
                  <a:srgbClr val="132238"/>
                </a:solidFill>
              </a:defRPr>
            </a:pPr>
            <a:r>
              <a:rPr sz="638" b="0">
                <a:solidFill>
                  <a:srgbClr val="132238"/>
                </a:solidFill>
              </a:rPr>
              <a:t>£13.27</a:t>
            </a:r>
          </a:p>
        </p:txBody>
      </p:sp>
      <p:sp>
        <p:nvSpPr>
          <p:cNvPr id="80" name="textbox-807">
            <a:extLst xmlns:a="http://schemas.openxmlformats.org/drawingml/2006/main">
              <a:ext uri="{FF2B5EF4-FFF2-40B4-BE49-F238E27FC236}">
                <a16:creationId xmlns:a16="http://schemas.microsoft.com/office/drawing/2014/main" id="{D16439D2-BDC2-400A-BA6C-4DDF4A7AF2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5924550"/>
            <a:ext cx="838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638" b="0">
                <a:solidFill>
                  <a:srgbClr val="132238"/>
                </a:solidFill>
              </a:defRPr>
            </a:pPr>
            <a:r>
              <a:rPr sz="638" b="0">
                <a:solidFill>
                  <a:srgbClr val="132238"/>
                </a:solidFill>
              </a:rPr>
              <a:t>£9.79</a:t>
            </a:r>
          </a:p>
        </p:txBody>
      </p:sp>
      <p:sp>
        <p:nvSpPr>
          <p:cNvPr id="81" name="textbox-808">
            <a:extLst xmlns:a="http://schemas.openxmlformats.org/drawingml/2006/main">
              <a:ext uri="{FF2B5EF4-FFF2-40B4-BE49-F238E27FC236}">
                <a16:creationId xmlns:a16="http://schemas.microsoft.com/office/drawing/2014/main" id="{61D5DA00-532C-4E76-A577-C096C63897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48900" y="5924550"/>
            <a:ext cx="1219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638" b="1">
                <a:solidFill>
                  <a:srgbClr val="E85D4A"/>
                </a:solidFill>
              </a:defRPr>
            </a:pPr>
            <a:r>
              <a:rPr sz="638" b="1">
                <a:solidFill>
                  <a:srgbClr val="E85D4A"/>
                </a:solidFill>
              </a:rPr>
              <a:t>Review</a:t>
            </a:r>
          </a:p>
        </p:txBody>
      </p:sp>
      <p:sp>
        <p:nvSpPr>
          <p:cNvPr id="82" name="rect-809">
            <a:extLst xmlns:a="http://schemas.openxmlformats.org/drawingml/2006/main">
              <a:ext uri="{FF2B5EF4-FFF2-40B4-BE49-F238E27FC236}">
                <a16:creationId xmlns:a16="http://schemas.microsoft.com/office/drawing/2014/main" id="{534BF208-3486-426D-ABC0-7FDA2E2179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6134100"/>
            <a:ext cx="6000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3E8"/>
          </a:solidFill>
          <a:ln xmlns:a="http://schemas.openxmlformats.org/drawingml/2006/main" w="0">
            <a:solidFill>
              <a:srgbClr val="DDE3E8"/>
            </a:solidFill>
            <a:prstDash val="solid"/>
          </a:ln>
        </p:spPr>
      </p:sp>
      <p:sp>
        <p:nvSpPr>
          <p:cNvPr id="83" name="textbox-810">
            <a:extLst xmlns:a="http://schemas.openxmlformats.org/drawingml/2006/main">
              <a:ext uri="{FF2B5EF4-FFF2-40B4-BE49-F238E27FC236}">
                <a16:creationId xmlns:a16="http://schemas.microsoft.com/office/drawing/2014/main" id="{64EA4DA0-480F-4104-9251-C369BF5EB3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1650" y="6172200"/>
            <a:ext cx="17907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638" b="1">
                <a:solidFill>
                  <a:srgbClr val="132238"/>
                </a:solidFill>
              </a:defRPr>
            </a:pPr>
            <a:r>
              <a:rPr sz="638" b="1">
                <a:solidFill>
                  <a:srgbClr val="132238"/>
                </a:solidFill>
              </a:rPr>
              <a:t>Oil Filter</a:t>
            </a:r>
          </a:p>
        </p:txBody>
      </p:sp>
      <p:sp>
        <p:nvSpPr>
          <p:cNvPr id="84" name="textbox-811">
            <a:extLst xmlns:a="http://schemas.openxmlformats.org/drawingml/2006/main">
              <a:ext uri="{FF2B5EF4-FFF2-40B4-BE49-F238E27FC236}">
                <a16:creationId xmlns:a16="http://schemas.microsoft.com/office/drawing/2014/main" id="{5A5B15C8-11C6-452C-B34E-DD9A4279B3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6172200"/>
            <a:ext cx="7429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638" b="0">
                <a:solidFill>
                  <a:srgbClr val="132238"/>
                </a:solidFill>
              </a:defRPr>
            </a:pPr>
            <a:r>
              <a:rPr sz="638" b="0">
                <a:solidFill>
                  <a:srgbClr val="132238"/>
                </a:solidFill>
              </a:rPr>
              <a:t>£10.60</a:t>
            </a:r>
          </a:p>
        </p:txBody>
      </p:sp>
      <p:sp>
        <p:nvSpPr>
          <p:cNvPr id="85" name="textbox-812">
            <a:extLst xmlns:a="http://schemas.openxmlformats.org/drawingml/2006/main">
              <a:ext uri="{FF2B5EF4-FFF2-40B4-BE49-F238E27FC236}">
                <a16:creationId xmlns:a16="http://schemas.microsoft.com/office/drawing/2014/main" id="{76D7B97E-5198-4734-8CEF-EEE3AE5C14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6172200"/>
            <a:ext cx="838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638" b="0">
                <a:solidFill>
                  <a:srgbClr val="132238"/>
                </a:solidFill>
              </a:defRPr>
            </a:pPr>
            <a:r>
              <a:rPr sz="638" b="0">
                <a:solidFill>
                  <a:srgbClr val="132238"/>
                </a:solidFill>
              </a:rPr>
              <a:t>£10.60</a:t>
            </a:r>
          </a:p>
        </p:txBody>
      </p:sp>
      <p:sp>
        <p:nvSpPr>
          <p:cNvPr id="86" name="textbox-813">
            <a:extLst xmlns:a="http://schemas.openxmlformats.org/drawingml/2006/main">
              <a:ext uri="{FF2B5EF4-FFF2-40B4-BE49-F238E27FC236}">
                <a16:creationId xmlns:a16="http://schemas.microsoft.com/office/drawing/2014/main" id="{5CE02DC5-E609-4DD0-9E93-2F6984C53D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6172200"/>
            <a:ext cx="838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638" b="0">
                <a:solidFill>
                  <a:srgbClr val="132238"/>
                </a:solidFill>
              </a:defRPr>
            </a:pPr>
            <a:r>
              <a:rPr sz="638" b="0">
                <a:solidFill>
                  <a:srgbClr val="132238"/>
                </a:solidFill>
              </a:rPr>
              <a:t>—</a:t>
            </a:r>
          </a:p>
        </p:txBody>
      </p:sp>
      <p:sp>
        <p:nvSpPr>
          <p:cNvPr id="87" name="textbox-814">
            <a:extLst xmlns:a="http://schemas.openxmlformats.org/drawingml/2006/main">
              <a:ext uri="{FF2B5EF4-FFF2-40B4-BE49-F238E27FC236}">
                <a16:creationId xmlns:a16="http://schemas.microsoft.com/office/drawing/2014/main" id="{1AB2C394-BF44-46E3-8532-834D1AB782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48900" y="6172200"/>
            <a:ext cx="1219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638" b="1">
                <a:solidFill>
                  <a:srgbClr val="2E7D5B"/>
                </a:solidFill>
              </a:defRPr>
            </a:pPr>
            <a:r>
              <a:rPr sz="638" b="1">
                <a:solidFill>
                  <a:srgbClr val="2E7D5B"/>
                </a:solidFill>
              </a:rPr>
              <a:t>Within</a:t>
            </a:r>
          </a:p>
        </p:txBody>
      </p:sp>
      <p:sp>
        <p:nvSpPr>
          <p:cNvPr id="88" name="rect-815">
            <a:extLst xmlns:a="http://schemas.openxmlformats.org/drawingml/2006/main">
              <a:ext uri="{FF2B5EF4-FFF2-40B4-BE49-F238E27FC236}">
                <a16:creationId xmlns:a16="http://schemas.microsoft.com/office/drawing/2014/main" id="{047CF8F3-7424-4000-9C24-8371788BE6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6381750"/>
            <a:ext cx="6000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3E8"/>
          </a:solidFill>
          <a:ln xmlns:a="http://schemas.openxmlformats.org/drawingml/2006/main" w="0">
            <a:solidFill>
              <a:srgbClr val="DDE3E8"/>
            </a:solidFill>
            <a:prstDash val="solid"/>
          </a:ln>
        </p:spPr>
      </p:sp>
      <p:sp>
        <p:nvSpPr>
          <p:cNvPr id="89" name="textbox-816">
            <a:extLst xmlns:a="http://schemas.openxmlformats.org/drawingml/2006/main">
              <a:ext uri="{FF2B5EF4-FFF2-40B4-BE49-F238E27FC236}">
                <a16:creationId xmlns:a16="http://schemas.microsoft.com/office/drawing/2014/main" id="{680FC256-BFAD-4FB8-B2F7-99235A7BB2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1650" y="6419850"/>
            <a:ext cx="17907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638" b="1">
                <a:solidFill>
                  <a:srgbClr val="132238"/>
                </a:solidFill>
              </a:defRPr>
            </a:pPr>
            <a:r>
              <a:rPr sz="638" b="1">
                <a:solidFill>
                  <a:srgbClr val="132238"/>
                </a:solidFill>
              </a:rPr>
              <a:t>Pollen Filter</a:t>
            </a:r>
          </a:p>
        </p:txBody>
      </p:sp>
      <p:sp>
        <p:nvSpPr>
          <p:cNvPr id="90" name="textbox-817">
            <a:extLst xmlns:a="http://schemas.openxmlformats.org/drawingml/2006/main">
              <a:ext uri="{FF2B5EF4-FFF2-40B4-BE49-F238E27FC236}">
                <a16:creationId xmlns:a16="http://schemas.microsoft.com/office/drawing/2014/main" id="{A87CA2CE-DAA9-43DF-8B83-F36252FC23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6419850"/>
            <a:ext cx="7429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638" b="0">
                <a:solidFill>
                  <a:srgbClr val="132238"/>
                </a:solidFill>
              </a:defRPr>
            </a:pPr>
            <a:r>
              <a:rPr sz="638" b="0">
                <a:solidFill>
                  <a:srgbClr val="132238"/>
                </a:solidFill>
              </a:rPr>
              <a:t>£9.39</a:t>
            </a:r>
          </a:p>
        </p:txBody>
      </p:sp>
      <p:sp>
        <p:nvSpPr>
          <p:cNvPr id="91" name="textbox-818">
            <a:extLst xmlns:a="http://schemas.openxmlformats.org/drawingml/2006/main">
              <a:ext uri="{FF2B5EF4-FFF2-40B4-BE49-F238E27FC236}">
                <a16:creationId xmlns:a16="http://schemas.microsoft.com/office/drawing/2014/main" id="{75F632ED-7700-4320-81FC-3A824D081F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6419850"/>
            <a:ext cx="838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638" b="0">
                <a:solidFill>
                  <a:srgbClr val="132238"/>
                </a:solidFill>
              </a:defRPr>
            </a:pPr>
            <a:r>
              <a:rPr sz="638" b="0">
                <a:solidFill>
                  <a:srgbClr val="132238"/>
                </a:solidFill>
              </a:rPr>
              <a:t>£9.39</a:t>
            </a:r>
          </a:p>
        </p:txBody>
      </p:sp>
      <p:sp>
        <p:nvSpPr>
          <p:cNvPr id="92" name="textbox-819">
            <a:extLst xmlns:a="http://schemas.openxmlformats.org/drawingml/2006/main">
              <a:ext uri="{FF2B5EF4-FFF2-40B4-BE49-F238E27FC236}">
                <a16:creationId xmlns:a16="http://schemas.microsoft.com/office/drawing/2014/main" id="{726E27A3-26CE-4B40-8163-ABB0CB8BCD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6419850"/>
            <a:ext cx="838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638" b="0">
                <a:solidFill>
                  <a:srgbClr val="132238"/>
                </a:solidFill>
              </a:defRPr>
            </a:pPr>
            <a:r>
              <a:rPr sz="638" b="0">
                <a:solidFill>
                  <a:srgbClr val="132238"/>
                </a:solidFill>
              </a:rPr>
              <a:t>—</a:t>
            </a:r>
          </a:p>
        </p:txBody>
      </p:sp>
      <p:sp>
        <p:nvSpPr>
          <p:cNvPr id="93" name="textbox-820">
            <a:extLst xmlns:a="http://schemas.openxmlformats.org/drawingml/2006/main">
              <a:ext uri="{FF2B5EF4-FFF2-40B4-BE49-F238E27FC236}">
                <a16:creationId xmlns:a16="http://schemas.microsoft.com/office/drawing/2014/main" id="{4E6DD6F2-91B6-48F7-9331-CC4D144D67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48900" y="6419850"/>
            <a:ext cx="1219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638" b="1">
                <a:solidFill>
                  <a:srgbClr val="2E7D5B"/>
                </a:solidFill>
              </a:defRPr>
            </a:pPr>
            <a:r>
              <a:rPr sz="638" b="1">
                <a:solidFill>
                  <a:srgbClr val="2E7D5B"/>
                </a:solidFill>
              </a:rPr>
              <a:t>Within</a:t>
            </a:r>
          </a:p>
        </p:txBody>
      </p:sp>
    </p:spTree>
    <p:extLst>
      <p:ext uri="{BB962C8B-B14F-4D97-AF65-F5344CB8AC3E}">
        <p14:creationId xmlns:p14="http://schemas.microsoft.com/office/powerpoint/2010/main" val="1154990329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CFB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eyebrow-13">
            <a:extLst xmlns:a="http://schemas.openxmlformats.org/drawingml/2006/main">
              <a:ext uri="{FF2B5EF4-FFF2-40B4-BE49-F238E27FC236}">
                <a16:creationId xmlns:a16="http://schemas.microsoft.com/office/drawing/2014/main" id="{67EB57AC-9EC5-46C8-B5C6-EF0AF6D1C0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47650"/>
            <a:ext cx="285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975" b="1">
                <a:solidFill>
                  <a:srgbClr val="0B8687"/>
                </a:solidFill>
              </a:defRPr>
            </a:pPr>
            <a:r>
              <a:rPr sz="975" b="1">
                <a:solidFill>
                  <a:srgbClr val="0B8687"/>
                </a:solidFill>
              </a:rPr>
              <a:t>LIVE PRODUCT EVIDENCE</a:t>
            </a:r>
          </a:p>
        </p:txBody>
      </p:sp>
      <p:sp>
        <p:nvSpPr>
          <p:cNvPr id="2" name="title-13">
            <a:extLst xmlns:a="http://schemas.openxmlformats.org/drawingml/2006/main">
              <a:ext uri="{FF2B5EF4-FFF2-40B4-BE49-F238E27FC236}">
                <a16:creationId xmlns:a16="http://schemas.microsoft.com/office/drawing/2014/main" id="{54B462DF-4D91-4A41-89F0-06CB571E55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95300"/>
            <a:ext cx="11049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3150" b="1">
                <a:solidFill>
                  <a:srgbClr val="071B3D"/>
                </a:solidFill>
              </a:defRPr>
            </a:pPr>
            <a:r>
              <a:rPr sz="3150" b="1">
                <a:solidFill>
                  <a:srgbClr val="071B3D"/>
                </a:solidFill>
              </a:rPr>
              <a:t>The handler makes the final decision</a:t>
            </a:r>
          </a:p>
        </p:txBody>
      </p:sp>
      <p:sp>
        <p:nvSpPr>
          <p:cNvPr id="3" name="subtitle-13">
            <a:extLst xmlns:a="http://schemas.openxmlformats.org/drawingml/2006/main">
              <a:ext uri="{FF2B5EF4-FFF2-40B4-BE49-F238E27FC236}">
                <a16:creationId xmlns:a16="http://schemas.microsoft.com/office/drawing/2014/main" id="{E152CF0B-3B6F-4C30-8C97-9DBBA39158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028700"/>
            <a:ext cx="10763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350">
                <a:solidFill>
                  <a:srgbClr val="6F7A89"/>
                </a:solidFill>
              </a:defRPr>
            </a:pPr>
            <a:r>
              <a:rPr sz="1350">
                <a:solidFill>
                  <a:srgbClr val="6F7A89"/>
                </a:solidFill>
              </a:rPr>
              <a:t>Reviewed lines are consolidated into one payable amount and a traceable evidence package.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1A7DEF0-DF41-436F-9EAB-D1FE4DFC31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362075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3E8"/>
          </a:solidFill>
          <a:ln xmlns:a="http://schemas.openxmlformats.org/drawingml/2006/main" w="0">
            <a:solidFill>
              <a:srgbClr val="DDE3E8"/>
            </a:solidFill>
            <a:prstDash val="solid"/>
          </a:ln>
        </p:spPr>
      </p:sp>
      <p:sp>
        <p:nvSpPr>
          <p:cNvPr id="5" name="page-13">
            <a:extLst xmlns:a="http://schemas.openxmlformats.org/drawingml/2006/main">
              <a:ext uri="{FF2B5EF4-FFF2-40B4-BE49-F238E27FC236}">
                <a16:creationId xmlns:a16="http://schemas.microsoft.com/office/drawing/2014/main" id="{B3A49840-2F17-4DAD-A443-96B56B606B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0" y="6477000"/>
            <a:ext cx="3048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900" b="1">
                <a:solidFill>
                  <a:srgbClr val="6F7A89"/>
                </a:solidFill>
              </a:defRPr>
            </a:pPr>
            <a:r>
              <a:rPr sz="900" b="1">
                <a:solidFill>
                  <a:srgbClr val="6F7A89"/>
                </a:solidFill>
              </a:rPr>
              <a:t>13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DCC635E-CD2B-490A-8EAA-325DADF465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752600"/>
            <a:ext cx="419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350" b="1">
                <a:solidFill>
                  <a:srgbClr val="E85D4A"/>
                </a:solidFill>
              </a:defRPr>
            </a:pPr>
            <a:r>
              <a:rPr sz="1350" b="1">
                <a:solidFill>
                  <a:srgbClr val="E85D4A"/>
                </a:solidFill>
              </a:rPr>
              <a:t>01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195B638-C8CC-4B83-B70C-936DEA8145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866900"/>
            <a:ext cx="381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5D4A"/>
          </a:solidFill>
          <a:ln xmlns:a="http://schemas.openxmlformats.org/drawingml/2006/main" w="0">
            <a:solidFill>
              <a:srgbClr val="E85D4A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B6974F5-1026-4044-942E-8141AA4258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1733550"/>
            <a:ext cx="2571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725" b="1">
                <a:solidFill>
                  <a:srgbClr val="132238"/>
                </a:solidFill>
              </a:defRPr>
            </a:pPr>
            <a:r>
              <a:rPr sz="1725" b="1">
                <a:solidFill>
                  <a:srgbClr val="132238"/>
                </a:solidFill>
              </a:rPr>
              <a:t>Financial effect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777C484-A495-437C-8177-EBDE9DB0DE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2076450"/>
            <a:ext cx="25527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75">
                <a:solidFill>
                  <a:srgbClr val="465365"/>
                </a:solidFill>
              </a:defRPr>
            </a:pPr>
            <a:r>
              <a:rPr sz="1275">
                <a:solidFill>
                  <a:srgbClr val="465365"/>
                </a:solidFill>
              </a:rPr>
              <a:t>£17.59 challenge amount and £21.11 gross cash effect.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8521A9B-3FD8-4D54-B3BD-175E87DAEF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2971800"/>
            <a:ext cx="419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350" b="1">
                <a:solidFill>
                  <a:srgbClr val="0B8687"/>
                </a:solidFill>
              </a:defRPr>
            </a:pPr>
            <a:r>
              <a:rPr sz="1350" b="1">
                <a:solidFill>
                  <a:srgbClr val="0B8687"/>
                </a:solidFill>
              </a:rPr>
              <a:t>02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80A04E4-FEFB-4D4C-BFD4-748511BDDB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086100"/>
            <a:ext cx="381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8687"/>
          </a:solidFill>
          <a:ln xmlns:a="http://schemas.openxmlformats.org/drawingml/2006/main" w="0">
            <a:solidFill>
              <a:srgbClr val="0B8687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1F68CF8-B750-430F-8650-BEF5B2252F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2952750"/>
            <a:ext cx="2571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725" b="1">
                <a:solidFill>
                  <a:srgbClr val="132238"/>
                </a:solidFill>
              </a:defRPr>
            </a:pPr>
            <a:r>
              <a:rPr sz="1725" b="1">
                <a:solidFill>
                  <a:srgbClr val="132238"/>
                </a:solidFill>
              </a:rPr>
              <a:t>Human approval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AF218F8-CB09-4454-83E2-6AFD3A2E5C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3295650"/>
            <a:ext cx="25527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75">
                <a:solidFill>
                  <a:srgbClr val="465365"/>
                </a:solidFill>
              </a:defRPr>
            </a:pPr>
            <a:r>
              <a:rPr sz="1275">
                <a:solidFill>
                  <a:srgbClr val="465365"/>
                </a:solidFill>
              </a:rPr>
              <a:t>Liability and reviewed findings remain explicit issuance gates.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FF5188C-42E6-435E-A33F-AD72A5751B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4191000"/>
            <a:ext cx="419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350" b="1">
                <a:solidFill>
                  <a:srgbClr val="0B8687"/>
                </a:solidFill>
              </a:defRPr>
            </a:pPr>
            <a:r>
              <a:rPr sz="1350" b="1">
                <a:solidFill>
                  <a:srgbClr val="0B8687"/>
                </a:solidFill>
              </a:rPr>
              <a:t>03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BF40D9D-A7CA-4DFC-8208-C4CDB03742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305300"/>
            <a:ext cx="381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8687"/>
          </a:solidFill>
          <a:ln xmlns:a="http://schemas.openxmlformats.org/drawingml/2006/main" w="0">
            <a:solidFill>
              <a:srgbClr val="0B8687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9705DC1-B6C1-4AC2-9CB5-A892314F42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4171950"/>
            <a:ext cx="2571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725" b="1">
                <a:solidFill>
                  <a:srgbClr val="132238"/>
                </a:solidFill>
              </a:defRPr>
            </a:pPr>
            <a:r>
              <a:rPr sz="1725" b="1">
                <a:solidFill>
                  <a:srgbClr val="132238"/>
                </a:solidFill>
              </a:rPr>
              <a:t>Auditable output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0EFB17F-2448-4E2C-91CF-B5CC7C7300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4514850"/>
            <a:ext cx="25527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75">
                <a:solidFill>
                  <a:srgbClr val="465365"/>
                </a:solidFill>
              </a:defRPr>
            </a:pPr>
            <a:r>
              <a:rPr sz="1275">
                <a:solidFill>
                  <a:srgbClr val="465365"/>
                </a:solidFill>
              </a:rPr>
              <a:t>A challenge letter, evidence appendix and decision history are retained.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B8E64AE-452A-4645-A7FD-EB051C415F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753100"/>
            <a:ext cx="3562350" cy="62865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E8F4F2"/>
          </a:solidFill>
          <a:ln xmlns:a="http://schemas.openxmlformats.org/drawingml/2006/main" w="9525">
            <a:solidFill>
              <a:srgbClr val="0B8687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76D9E3A-B28D-4A27-BEF7-0B1E332070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886450"/>
            <a:ext cx="31813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75" b="1">
                <a:solidFill>
                  <a:srgbClr val="096C6D"/>
                </a:solidFill>
              </a:defRPr>
            </a:pPr>
            <a:r>
              <a:rPr sz="1275" b="1">
                <a:solidFill>
                  <a:srgbClr val="096C6D"/>
                </a:solidFill>
              </a:rPr>
              <a:t>Faster review. Clear evidence. Human control.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50534F2-A5EA-4359-9DF2-0D28BFAB75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1504950"/>
            <a:ext cx="7600950" cy="5314950"/>
          </a:xfrm>
          <a:prstGeom xmlns:a="http://schemas.openxmlformats.org/drawingml/2006/main" prst="roundRect">
            <a:avLst>
              <a:gd name="adj" fmla="val 215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0B8687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6"/>
          <a:fontRef xmlns:a="http://schemas.openxmlformats.org/drawingml/2006/main" idx="major"/>
        </p:style>
      </p:sp>
      <p:sp>
        <p:nvSpPr>
          <p:cNvPr id="23" name="rect-821">
            <a:extLst xmlns:a="http://schemas.openxmlformats.org/drawingml/2006/main">
              <a:ext uri="{FF2B5EF4-FFF2-40B4-BE49-F238E27FC236}">
                <a16:creationId xmlns:a16="http://schemas.microsoft.com/office/drawing/2014/main" id="{35C9A936-8CD4-4497-9EBC-04F36294A1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1562100"/>
            <a:ext cx="7486650" cy="5200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DDE3E8"/>
            </a:solidFill>
            <a:prstDash val="solid"/>
          </a:ln>
        </p:spPr>
      </p:sp>
      <p:sp>
        <p:nvSpPr>
          <p:cNvPr id="24" name="rect-822">
            <a:extLst xmlns:a="http://schemas.openxmlformats.org/drawingml/2006/main">
              <a:ext uri="{FF2B5EF4-FFF2-40B4-BE49-F238E27FC236}">
                <a16:creationId xmlns:a16="http://schemas.microsoft.com/office/drawing/2014/main" id="{1F3F7C40-3EEB-4E81-9AEF-FF12A59F11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1562100"/>
            <a:ext cx="74866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7F8"/>
          </a:solidFill>
          <a:ln xmlns:a="http://schemas.openxmlformats.org/drawingml/2006/main" w="0">
            <a:solidFill>
              <a:srgbClr val="DDE3E8"/>
            </a:solidFill>
            <a:prstDash val="solid"/>
          </a:ln>
        </p:spPr>
      </p:sp>
      <p:sp>
        <p:nvSpPr>
          <p:cNvPr id="25" name="roundRect-823">
            <a:extLst xmlns:a="http://schemas.openxmlformats.org/drawingml/2006/main">
              <a:ext uri="{FF2B5EF4-FFF2-40B4-BE49-F238E27FC236}">
                <a16:creationId xmlns:a16="http://schemas.microsoft.com/office/drawing/2014/main" id="{8389AEF6-FFE5-4160-87DA-E48233095B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1628775"/>
            <a:ext cx="190500" cy="1905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071B3D"/>
          </a:solidFill>
          <a:ln xmlns:a="http://schemas.openxmlformats.org/drawingml/2006/main" w="9525">
            <a:solidFill>
              <a:srgbClr val="071B3D"/>
            </a:solidFill>
            <a:prstDash val="solid"/>
          </a:ln>
        </p:spPr>
      </p:sp>
      <p:sp>
        <p:nvSpPr>
          <p:cNvPr id="26" name="textbox-824">
            <a:extLst xmlns:a="http://schemas.openxmlformats.org/drawingml/2006/main">
              <a:ext uri="{FF2B5EF4-FFF2-40B4-BE49-F238E27FC236}">
                <a16:creationId xmlns:a16="http://schemas.microsoft.com/office/drawing/2014/main" id="{A708E8DE-7A45-4173-93D7-5475F3DF00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1638300"/>
            <a:ext cx="19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600" b="1">
                <a:solidFill>
                  <a:srgbClr val="FFFFFF"/>
                </a:solidFill>
              </a:defRPr>
            </a:pPr>
            <a:r>
              <a:rPr sz="600" b="1">
                <a:solidFill>
                  <a:srgbClr val="FFFFFF"/>
                </a:solidFill>
              </a:rPr>
              <a:t>CG</a:t>
            </a:r>
          </a:p>
        </p:txBody>
      </p:sp>
      <p:sp>
        <p:nvSpPr>
          <p:cNvPr id="27" name="textbox-825">
            <a:extLst xmlns:a="http://schemas.openxmlformats.org/drawingml/2006/main">
              <a:ext uri="{FF2B5EF4-FFF2-40B4-BE49-F238E27FC236}">
                <a16:creationId xmlns:a16="http://schemas.microsoft.com/office/drawing/2014/main" id="{AA7BDC10-8CD3-4741-A221-F88BFAB785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1628775"/>
            <a:ext cx="95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071B3D"/>
                </a:solidFill>
              </a:defRPr>
            </a:pPr>
            <a:r>
              <a:rPr sz="825" b="1">
                <a:solidFill>
                  <a:srgbClr val="071B3D"/>
                </a:solidFill>
              </a:rPr>
              <a:t>ClaimGuard</a:t>
            </a:r>
          </a:p>
        </p:txBody>
      </p:sp>
      <p:sp>
        <p:nvSpPr>
          <p:cNvPr id="28" name="roundRect-826">
            <a:extLst xmlns:a="http://schemas.openxmlformats.org/drawingml/2006/main">
              <a:ext uri="{FF2B5EF4-FFF2-40B4-BE49-F238E27FC236}">
                <a16:creationId xmlns:a16="http://schemas.microsoft.com/office/drawing/2014/main" id="{F7A52310-FA89-4AA0-81D5-4D36CFA201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91800" y="1619250"/>
            <a:ext cx="952500" cy="2286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FF7EC"/>
          </a:solidFill>
          <a:ln xmlns:a="http://schemas.openxmlformats.org/drawingml/2006/main" w="9525">
            <a:solidFill>
              <a:srgbClr val="EFF7EC"/>
            </a:solidFill>
            <a:prstDash val="solid"/>
          </a:ln>
        </p:spPr>
      </p:sp>
      <p:sp>
        <p:nvSpPr>
          <p:cNvPr id="29" name="textbox-827">
            <a:extLst xmlns:a="http://schemas.openxmlformats.org/drawingml/2006/main">
              <a:ext uri="{FF2B5EF4-FFF2-40B4-BE49-F238E27FC236}">
                <a16:creationId xmlns:a16="http://schemas.microsoft.com/office/drawing/2014/main" id="{224ED419-2672-4EB1-9C77-DB7729FA02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48950" y="1628775"/>
            <a:ext cx="838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2E7D5B"/>
                </a:solidFill>
              </a:defRPr>
            </a:pPr>
            <a:r>
              <a:rPr sz="825" b="1">
                <a:solidFill>
                  <a:srgbClr val="2E7D5B"/>
                </a:solidFill>
              </a:rPr>
              <a:t>API connected</a:t>
            </a:r>
          </a:p>
        </p:txBody>
      </p:sp>
      <p:sp>
        <p:nvSpPr>
          <p:cNvPr id="30" name="rect-828">
            <a:extLst xmlns:a="http://schemas.openxmlformats.org/drawingml/2006/main">
              <a:ext uri="{FF2B5EF4-FFF2-40B4-BE49-F238E27FC236}">
                <a16:creationId xmlns:a16="http://schemas.microsoft.com/office/drawing/2014/main" id="{EBF78125-CCB5-4DB7-A348-69388E6D9E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1885950"/>
            <a:ext cx="1066800" cy="487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A"/>
          </a:solidFill>
          <a:ln xmlns:a="http://schemas.openxmlformats.org/drawingml/2006/main" w="0">
            <a:solidFill>
              <a:srgbClr val="DDE3E8"/>
            </a:solidFill>
            <a:prstDash val="solid"/>
          </a:ln>
        </p:spPr>
      </p:sp>
      <p:sp>
        <p:nvSpPr>
          <p:cNvPr id="31" name="textbox-829">
            <a:extLst xmlns:a="http://schemas.openxmlformats.org/drawingml/2006/main">
              <a:ext uri="{FF2B5EF4-FFF2-40B4-BE49-F238E27FC236}">
                <a16:creationId xmlns:a16="http://schemas.microsoft.com/office/drawing/2014/main" id="{9E522374-7359-4383-828C-FD30494612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2076450"/>
            <a:ext cx="8001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638" b="0">
                <a:solidFill>
                  <a:srgbClr val="465365"/>
                </a:solidFill>
              </a:defRPr>
            </a:pPr>
            <a:r>
              <a:rPr sz="638" b="0">
                <a:solidFill>
                  <a:srgbClr val="465365"/>
                </a:solidFill>
              </a:rPr>
              <a:t>Overview</a:t>
            </a:r>
          </a:p>
        </p:txBody>
      </p:sp>
      <p:sp>
        <p:nvSpPr>
          <p:cNvPr id="32" name="textbox-830">
            <a:extLst xmlns:a="http://schemas.openxmlformats.org/drawingml/2006/main">
              <a:ext uri="{FF2B5EF4-FFF2-40B4-BE49-F238E27FC236}">
                <a16:creationId xmlns:a16="http://schemas.microsoft.com/office/drawing/2014/main" id="{6CCAC24B-E53C-4ED2-9D2B-BB93B68EFF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2400300"/>
            <a:ext cx="8001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638" b="0">
                <a:solidFill>
                  <a:srgbClr val="465365"/>
                </a:solidFill>
              </a:defRPr>
            </a:pPr>
            <a:r>
              <a:rPr sz="638" b="0">
                <a:solidFill>
                  <a:srgbClr val="465365"/>
                </a:solidFill>
              </a:rPr>
              <a:t>Documents</a:t>
            </a:r>
          </a:p>
        </p:txBody>
      </p:sp>
      <p:sp>
        <p:nvSpPr>
          <p:cNvPr id="33" name="textbox-831">
            <a:extLst xmlns:a="http://schemas.openxmlformats.org/drawingml/2006/main">
              <a:ext uri="{FF2B5EF4-FFF2-40B4-BE49-F238E27FC236}">
                <a16:creationId xmlns:a16="http://schemas.microsoft.com/office/drawing/2014/main" id="{B64268B7-6977-4EFB-813A-71BFE101CB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2724150"/>
            <a:ext cx="8001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638" b="0">
                <a:solidFill>
                  <a:srgbClr val="465365"/>
                </a:solidFill>
              </a:defRPr>
            </a:pPr>
            <a:r>
              <a:rPr sz="638" b="0">
                <a:solidFill>
                  <a:srgbClr val="465365"/>
                </a:solidFill>
              </a:rPr>
              <a:t>Review findings</a:t>
            </a:r>
          </a:p>
        </p:txBody>
      </p:sp>
      <p:sp>
        <p:nvSpPr>
          <p:cNvPr id="34" name="roundRect-832">
            <a:extLst xmlns:a="http://schemas.openxmlformats.org/drawingml/2006/main">
              <a:ext uri="{FF2B5EF4-FFF2-40B4-BE49-F238E27FC236}">
                <a16:creationId xmlns:a16="http://schemas.microsoft.com/office/drawing/2014/main" id="{33B820DA-2560-431D-9893-B635E01267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3028950"/>
            <a:ext cx="914400" cy="247650"/>
          </a:xfrm>
          <a:prstGeom xmlns:a="http://schemas.openxmlformats.org/drawingml/2006/main" prst="roundRect">
            <a:avLst>
              <a:gd name="adj" fmla="val 7692"/>
            </a:avLst>
          </a:prstGeom>
          <a:solidFill xmlns:a="http://schemas.openxmlformats.org/drawingml/2006/main">
            <a:srgbClr val="E8F4F2"/>
          </a:solidFill>
          <a:ln xmlns:a="http://schemas.openxmlformats.org/drawingml/2006/main" w="9525">
            <a:solidFill>
              <a:srgbClr val="E8F4F2"/>
            </a:solidFill>
            <a:prstDash val="solid"/>
          </a:ln>
        </p:spPr>
      </p:sp>
      <p:sp>
        <p:nvSpPr>
          <p:cNvPr id="35" name="textbox-833">
            <a:extLst xmlns:a="http://schemas.openxmlformats.org/drawingml/2006/main">
              <a:ext uri="{FF2B5EF4-FFF2-40B4-BE49-F238E27FC236}">
                <a16:creationId xmlns:a16="http://schemas.microsoft.com/office/drawing/2014/main" id="{8DD7F93B-DEBD-4174-8DAF-346FB9677F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3048000"/>
            <a:ext cx="8001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638" b="1">
                <a:solidFill>
                  <a:srgbClr val="096C6D"/>
                </a:solidFill>
              </a:defRPr>
            </a:pPr>
            <a:r>
              <a:rPr sz="638" b="1">
                <a:solidFill>
                  <a:srgbClr val="096C6D"/>
                </a:solidFill>
              </a:rPr>
              <a:t>Approve challenge</a:t>
            </a:r>
          </a:p>
        </p:txBody>
      </p:sp>
      <p:sp>
        <p:nvSpPr>
          <p:cNvPr id="36" name="textbox-834">
            <a:extLst xmlns:a="http://schemas.openxmlformats.org/drawingml/2006/main">
              <a:ext uri="{FF2B5EF4-FFF2-40B4-BE49-F238E27FC236}">
                <a16:creationId xmlns:a16="http://schemas.microsoft.com/office/drawing/2014/main" id="{1B437E7B-A233-468D-BDDB-C6D8D0E738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3371850"/>
            <a:ext cx="8001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638" b="0">
                <a:solidFill>
                  <a:srgbClr val="465365"/>
                </a:solidFill>
              </a:defRPr>
            </a:pPr>
            <a:r>
              <a:rPr sz="638" b="0">
                <a:solidFill>
                  <a:srgbClr val="465365"/>
                </a:solidFill>
              </a:rPr>
              <a:t>Audit trail</a:t>
            </a:r>
          </a:p>
        </p:txBody>
      </p:sp>
      <p:sp>
        <p:nvSpPr>
          <p:cNvPr id="37" name="textbox-835">
            <a:extLst xmlns:a="http://schemas.openxmlformats.org/drawingml/2006/main">
              <a:ext uri="{FF2B5EF4-FFF2-40B4-BE49-F238E27FC236}">
                <a16:creationId xmlns:a16="http://schemas.microsoft.com/office/drawing/2014/main" id="{8550D6A7-1936-48FB-A333-FF5F0F9CF6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3695700"/>
            <a:ext cx="8001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638" b="0">
                <a:solidFill>
                  <a:srgbClr val="465365"/>
                </a:solidFill>
              </a:defRPr>
            </a:pPr>
            <a:r>
              <a:rPr sz="638" b="0">
                <a:solidFill>
                  <a:srgbClr val="465365"/>
                </a:solidFill>
              </a:rPr>
              <a:t>Extracted invoice</a:t>
            </a:r>
          </a:p>
        </p:txBody>
      </p:sp>
      <p:sp>
        <p:nvSpPr>
          <p:cNvPr id="38" name="textbox-836">
            <a:extLst xmlns:a="http://schemas.openxmlformats.org/drawingml/2006/main">
              <a:ext uri="{FF2B5EF4-FFF2-40B4-BE49-F238E27FC236}">
                <a16:creationId xmlns:a16="http://schemas.microsoft.com/office/drawing/2014/main" id="{AFEC8C4A-35B2-4495-802D-D21D408862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4019550"/>
            <a:ext cx="8001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638" b="0">
                <a:solidFill>
                  <a:srgbClr val="465365"/>
                </a:solidFill>
              </a:defRPr>
            </a:pPr>
            <a:r>
              <a:rPr sz="638" b="0">
                <a:solidFill>
                  <a:srgbClr val="465365"/>
                </a:solidFill>
              </a:rPr>
              <a:t>Calculation checks</a:t>
            </a:r>
          </a:p>
        </p:txBody>
      </p:sp>
      <p:sp>
        <p:nvSpPr>
          <p:cNvPr id="39" name="textbox-837">
            <a:extLst xmlns:a="http://schemas.openxmlformats.org/drawingml/2006/main">
              <a:ext uri="{FF2B5EF4-FFF2-40B4-BE49-F238E27FC236}">
                <a16:creationId xmlns:a16="http://schemas.microsoft.com/office/drawing/2014/main" id="{CB65AFDD-323B-4365-8ACD-348598CC26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4343400"/>
            <a:ext cx="8001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638" b="0">
                <a:solidFill>
                  <a:srgbClr val="465365"/>
                </a:solidFill>
              </a:defRPr>
            </a:pPr>
            <a:r>
              <a:rPr sz="638" b="0">
                <a:solidFill>
                  <a:srgbClr val="465365"/>
                </a:solidFill>
              </a:rPr>
              <a:t>Ontology mapping</a:t>
            </a:r>
          </a:p>
        </p:txBody>
      </p:sp>
      <p:sp>
        <p:nvSpPr>
          <p:cNvPr id="40" name="textbox-838">
            <a:extLst xmlns:a="http://schemas.openxmlformats.org/drawingml/2006/main">
              <a:ext uri="{FF2B5EF4-FFF2-40B4-BE49-F238E27FC236}">
                <a16:creationId xmlns:a16="http://schemas.microsoft.com/office/drawing/2014/main" id="{49E34E3F-526B-4B5A-907A-1656AE52B9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4667250"/>
            <a:ext cx="8001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638" b="0">
                <a:solidFill>
                  <a:srgbClr val="465365"/>
                </a:solidFill>
              </a:defRPr>
            </a:pPr>
            <a:r>
              <a:rPr sz="638" b="0">
                <a:solidFill>
                  <a:srgbClr val="465365"/>
                </a:solidFill>
              </a:rPr>
              <a:t>Repair benchmarks</a:t>
            </a:r>
          </a:p>
        </p:txBody>
      </p:sp>
      <p:sp>
        <p:nvSpPr>
          <p:cNvPr id="41" name="textbox-839">
            <a:extLst xmlns:a="http://schemas.openxmlformats.org/drawingml/2006/main">
              <a:ext uri="{FF2B5EF4-FFF2-40B4-BE49-F238E27FC236}">
                <a16:creationId xmlns:a16="http://schemas.microsoft.com/office/drawing/2014/main" id="{DBBCFE6E-CFCE-4147-B669-4F15CFA48C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2057400"/>
            <a:ext cx="5810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71B3D"/>
                </a:solidFill>
              </a:defRPr>
            </a:pPr>
            <a:r>
              <a:rPr sz="1350" b="1">
                <a:solidFill>
                  <a:srgbClr val="071B3D"/>
                </a:solidFill>
              </a:rPr>
              <a:t>Approve challenge</a:t>
            </a:r>
          </a:p>
        </p:txBody>
      </p:sp>
      <p:sp>
        <p:nvSpPr>
          <p:cNvPr id="42" name="textbox-840">
            <a:extLst xmlns:a="http://schemas.openxmlformats.org/drawingml/2006/main">
              <a:ext uri="{FF2B5EF4-FFF2-40B4-BE49-F238E27FC236}">
                <a16:creationId xmlns:a16="http://schemas.microsoft.com/office/drawing/2014/main" id="{5D15D6E4-CDD2-4D07-8206-AF9B3D855B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2343150"/>
            <a:ext cx="5810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750">
                <a:solidFill>
                  <a:srgbClr val="6F7A89"/>
                </a:solidFill>
              </a:defRPr>
            </a:pPr>
            <a:r>
              <a:rPr sz="750">
                <a:solidFill>
                  <a:srgbClr val="6F7A89"/>
                </a:solidFill>
              </a:rPr>
              <a:t>Reviewed findings become one payable and auditable decision.</a:t>
            </a:r>
          </a:p>
        </p:txBody>
      </p:sp>
      <p:sp>
        <p:nvSpPr>
          <p:cNvPr id="43" name="roundRect-841">
            <a:extLst xmlns:a="http://schemas.openxmlformats.org/drawingml/2006/main">
              <a:ext uri="{FF2B5EF4-FFF2-40B4-BE49-F238E27FC236}">
                <a16:creationId xmlns:a16="http://schemas.microsoft.com/office/drawing/2014/main" id="{6CD2D1FC-AB32-491B-94A5-873071F92E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2686050"/>
            <a:ext cx="600075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E8F4F2"/>
          </a:solidFill>
          <a:ln xmlns:a="http://schemas.openxmlformats.org/drawingml/2006/main" w="9525">
            <a:solidFill>
              <a:srgbClr val="0B8687"/>
            </a:solidFill>
            <a:prstDash val="solid"/>
          </a:ln>
        </p:spPr>
      </p:sp>
      <p:sp>
        <p:nvSpPr>
          <p:cNvPr id="44" name="textbox-842">
            <a:extLst xmlns:a="http://schemas.openxmlformats.org/drawingml/2006/main">
              <a:ext uri="{FF2B5EF4-FFF2-40B4-BE49-F238E27FC236}">
                <a16:creationId xmlns:a16="http://schemas.microsoft.com/office/drawing/2014/main" id="{F59B5B06-5D9A-4C0B-A31C-179832A1EA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76900" y="2781300"/>
            <a:ext cx="1333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071B3D"/>
                </a:solidFill>
              </a:defRPr>
            </a:pPr>
            <a:r>
              <a:rPr sz="900" b="1">
                <a:solidFill>
                  <a:srgbClr val="071B3D"/>
                </a:solidFill>
              </a:rPr>
              <a:t>Claim summary</a:t>
            </a:r>
          </a:p>
        </p:txBody>
      </p:sp>
      <p:sp>
        <p:nvSpPr>
          <p:cNvPr id="45" name="textbox-843">
            <a:extLst xmlns:a="http://schemas.openxmlformats.org/drawingml/2006/main">
              <a:ext uri="{FF2B5EF4-FFF2-40B4-BE49-F238E27FC236}">
                <a16:creationId xmlns:a16="http://schemas.microsoft.com/office/drawing/2014/main" id="{077303CF-EE37-42E9-8203-8B1FB091E8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95950" y="3048000"/>
            <a:ext cx="857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675">
                <a:solidFill>
                  <a:srgbClr val="6F7A89"/>
                </a:solidFill>
              </a:defRPr>
            </a:pPr>
            <a:r>
              <a:rPr sz="675">
                <a:solidFill>
                  <a:srgbClr val="6F7A89"/>
                </a:solidFill>
              </a:rPr>
              <a:t>Invoice total</a:t>
            </a:r>
          </a:p>
        </p:txBody>
      </p:sp>
      <p:sp>
        <p:nvSpPr>
          <p:cNvPr id="46" name="textbox-844">
            <a:extLst xmlns:a="http://schemas.openxmlformats.org/drawingml/2006/main">
              <a:ext uri="{FF2B5EF4-FFF2-40B4-BE49-F238E27FC236}">
                <a16:creationId xmlns:a16="http://schemas.microsoft.com/office/drawing/2014/main" id="{90B13CDA-6DD7-4EC0-A9CD-05D43F8A95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4625" y="2990850"/>
            <a:ext cx="1047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071B3D"/>
                </a:solidFill>
              </a:defRPr>
            </a:pPr>
            <a:r>
              <a:rPr sz="1425" b="1">
                <a:solidFill>
                  <a:srgbClr val="071B3D"/>
                </a:solidFill>
              </a:rPr>
              <a:t>£1,396.44</a:t>
            </a:r>
          </a:p>
        </p:txBody>
      </p:sp>
      <p:sp>
        <p:nvSpPr>
          <p:cNvPr id="47" name="textbox-845">
            <a:extLst xmlns:a="http://schemas.openxmlformats.org/drawingml/2006/main">
              <a:ext uri="{FF2B5EF4-FFF2-40B4-BE49-F238E27FC236}">
                <a16:creationId xmlns:a16="http://schemas.microsoft.com/office/drawing/2014/main" id="{F09E3F82-95F0-4DC7-9336-52A1E14057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3048000"/>
            <a:ext cx="762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675">
                <a:solidFill>
                  <a:srgbClr val="6F7A89"/>
                </a:solidFill>
              </a:defRPr>
            </a:pPr>
            <a:r>
              <a:rPr sz="675">
                <a:solidFill>
                  <a:srgbClr val="6F7A89"/>
                </a:solidFill>
              </a:rPr>
              <a:t>Challenge</a:t>
            </a:r>
          </a:p>
        </p:txBody>
      </p:sp>
      <p:sp>
        <p:nvSpPr>
          <p:cNvPr id="48" name="textbox-846">
            <a:extLst xmlns:a="http://schemas.openxmlformats.org/drawingml/2006/main">
              <a:ext uri="{FF2B5EF4-FFF2-40B4-BE49-F238E27FC236}">
                <a16:creationId xmlns:a16="http://schemas.microsoft.com/office/drawing/2014/main" id="{B7D615E3-A5E3-4D1B-9AA7-FC458C0153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2990850"/>
            <a:ext cx="857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E85D4A"/>
                </a:solidFill>
              </a:defRPr>
            </a:pPr>
            <a:r>
              <a:rPr sz="1425" b="1">
                <a:solidFill>
                  <a:srgbClr val="E85D4A"/>
                </a:solidFill>
              </a:rPr>
              <a:t>£17.59</a:t>
            </a:r>
          </a:p>
        </p:txBody>
      </p:sp>
      <p:sp>
        <p:nvSpPr>
          <p:cNvPr id="49" name="textbox-847">
            <a:extLst xmlns:a="http://schemas.openxmlformats.org/drawingml/2006/main">
              <a:ext uri="{FF2B5EF4-FFF2-40B4-BE49-F238E27FC236}">
                <a16:creationId xmlns:a16="http://schemas.microsoft.com/office/drawing/2014/main" id="{63D5DE5E-CA2C-49A8-8C3C-0E46551CE3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63125" y="3048000"/>
            <a:ext cx="10001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675">
                <a:solidFill>
                  <a:srgbClr val="6F7A89"/>
                </a:solidFill>
              </a:defRPr>
            </a:pPr>
            <a:r>
              <a:rPr sz="675">
                <a:solidFill>
                  <a:srgbClr val="6F7A89"/>
                </a:solidFill>
              </a:rPr>
              <a:t>Gross cash effect</a:t>
            </a:r>
          </a:p>
        </p:txBody>
      </p:sp>
      <p:sp>
        <p:nvSpPr>
          <p:cNvPr id="50" name="textbox-848">
            <a:extLst xmlns:a="http://schemas.openxmlformats.org/drawingml/2006/main">
              <a:ext uri="{FF2B5EF4-FFF2-40B4-BE49-F238E27FC236}">
                <a16:creationId xmlns:a16="http://schemas.microsoft.com/office/drawing/2014/main" id="{32779CFD-1735-4B26-82F8-638E362D90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2990850"/>
            <a:ext cx="762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E85D4A"/>
                </a:solidFill>
              </a:defRPr>
            </a:pPr>
            <a:r>
              <a:rPr sz="1425" b="1">
                <a:solidFill>
                  <a:srgbClr val="E85D4A"/>
                </a:solidFill>
              </a:rPr>
              <a:t>£21.11</a:t>
            </a:r>
          </a:p>
        </p:txBody>
      </p:sp>
      <p:sp>
        <p:nvSpPr>
          <p:cNvPr id="51" name="roundRect-849">
            <a:extLst xmlns:a="http://schemas.openxmlformats.org/drawingml/2006/main">
              <a:ext uri="{FF2B5EF4-FFF2-40B4-BE49-F238E27FC236}">
                <a16:creationId xmlns:a16="http://schemas.microsoft.com/office/drawing/2014/main" id="{A7ED15C9-27D2-4554-A727-B48536CF45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3600450"/>
            <a:ext cx="6000750" cy="1352550"/>
          </a:xfrm>
          <a:prstGeom xmlns:a="http://schemas.openxmlformats.org/drawingml/2006/main" prst="roundRect">
            <a:avLst>
              <a:gd name="adj" fmla="val 140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3E8"/>
            </a:solidFill>
            <a:prstDash val="solid"/>
          </a:ln>
        </p:spPr>
      </p:sp>
      <p:sp>
        <p:nvSpPr>
          <p:cNvPr id="52" name="rect-850">
            <a:extLst xmlns:a="http://schemas.openxmlformats.org/drawingml/2006/main">
              <a:ext uri="{FF2B5EF4-FFF2-40B4-BE49-F238E27FC236}">
                <a16:creationId xmlns:a16="http://schemas.microsoft.com/office/drawing/2014/main" id="{3AEC667E-F6AF-4D73-8858-137F13BF4D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3600450"/>
            <a:ext cx="6000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4F6"/>
          </a:solidFill>
          <a:ln xmlns:a="http://schemas.openxmlformats.org/drawingml/2006/main" w="0">
            <a:solidFill>
              <a:srgbClr val="F1F4F6"/>
            </a:solidFill>
            <a:prstDash val="solid"/>
          </a:ln>
        </p:spPr>
      </p:sp>
      <p:sp>
        <p:nvSpPr>
          <p:cNvPr id="53" name="textbox-851">
            <a:extLst xmlns:a="http://schemas.openxmlformats.org/drawingml/2006/main">
              <a:ext uri="{FF2B5EF4-FFF2-40B4-BE49-F238E27FC236}">
                <a16:creationId xmlns:a16="http://schemas.microsoft.com/office/drawing/2014/main" id="{5A6C5457-B2AC-4A73-9304-3006FE3E38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1650" y="3648075"/>
            <a:ext cx="2362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638" b="1">
                <a:solidFill>
                  <a:srgbClr val="465365"/>
                </a:solidFill>
              </a:defRPr>
            </a:pPr>
            <a:r>
              <a:rPr sz="638" b="1">
                <a:solidFill>
                  <a:srgbClr val="465365"/>
                </a:solidFill>
              </a:rPr>
              <a:t>Reviewed line</a:t>
            </a:r>
          </a:p>
        </p:txBody>
      </p:sp>
      <p:sp>
        <p:nvSpPr>
          <p:cNvPr id="54" name="rect-852">
            <a:extLst xmlns:a="http://schemas.openxmlformats.org/drawingml/2006/main">
              <a:ext uri="{FF2B5EF4-FFF2-40B4-BE49-F238E27FC236}">
                <a16:creationId xmlns:a16="http://schemas.microsoft.com/office/drawing/2014/main" id="{04661F8B-5D00-4EEC-82BE-205AB43896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3600450"/>
            <a:ext cx="9525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3E8"/>
          </a:solidFill>
          <a:ln xmlns:a="http://schemas.openxmlformats.org/drawingml/2006/main" w="0">
            <a:solidFill>
              <a:srgbClr val="DDE3E8"/>
            </a:solidFill>
            <a:prstDash val="solid"/>
          </a:ln>
        </p:spPr>
      </p:sp>
      <p:sp>
        <p:nvSpPr>
          <p:cNvPr id="55" name="textbox-853">
            <a:extLst xmlns:a="http://schemas.openxmlformats.org/drawingml/2006/main">
              <a:ext uri="{FF2B5EF4-FFF2-40B4-BE49-F238E27FC236}">
                <a16:creationId xmlns:a16="http://schemas.microsoft.com/office/drawing/2014/main" id="{03DAD1B9-010E-42E9-991F-5BE1D46674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3648075"/>
            <a:ext cx="1600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638" b="1">
                <a:solidFill>
                  <a:srgbClr val="465365"/>
                </a:solidFill>
              </a:defRPr>
            </a:pPr>
            <a:r>
              <a:rPr sz="638" b="1">
                <a:solidFill>
                  <a:srgbClr val="465365"/>
                </a:solidFill>
              </a:rPr>
              <a:t>Challenge amount</a:t>
            </a:r>
          </a:p>
        </p:txBody>
      </p:sp>
      <p:sp>
        <p:nvSpPr>
          <p:cNvPr id="56" name="rect-854">
            <a:extLst xmlns:a="http://schemas.openxmlformats.org/drawingml/2006/main">
              <a:ext uri="{FF2B5EF4-FFF2-40B4-BE49-F238E27FC236}">
                <a16:creationId xmlns:a16="http://schemas.microsoft.com/office/drawing/2014/main" id="{A4F22B18-8825-4361-A30C-B95EBCCE19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3600450"/>
            <a:ext cx="9525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3E8"/>
          </a:solidFill>
          <a:ln xmlns:a="http://schemas.openxmlformats.org/drawingml/2006/main" w="0">
            <a:solidFill>
              <a:srgbClr val="DDE3E8"/>
            </a:solidFill>
            <a:prstDash val="solid"/>
          </a:ln>
        </p:spPr>
      </p:sp>
      <p:sp>
        <p:nvSpPr>
          <p:cNvPr id="57" name="textbox-855">
            <a:extLst xmlns:a="http://schemas.openxmlformats.org/drawingml/2006/main">
              <a:ext uri="{FF2B5EF4-FFF2-40B4-BE49-F238E27FC236}">
                <a16:creationId xmlns:a16="http://schemas.microsoft.com/office/drawing/2014/main" id="{874225BC-7C11-4B3C-9510-808E50F647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72650" y="3648075"/>
            <a:ext cx="16954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638" b="1">
                <a:solidFill>
                  <a:srgbClr val="465365"/>
                </a:solidFill>
              </a:defRPr>
            </a:pPr>
            <a:r>
              <a:rPr sz="638" b="1">
                <a:solidFill>
                  <a:srgbClr val="465365"/>
                </a:solidFill>
              </a:rPr>
              <a:t>Handler decision</a:t>
            </a:r>
          </a:p>
        </p:txBody>
      </p:sp>
      <p:sp>
        <p:nvSpPr>
          <p:cNvPr id="58" name="rect-856">
            <a:extLst xmlns:a="http://schemas.openxmlformats.org/drawingml/2006/main">
              <a:ext uri="{FF2B5EF4-FFF2-40B4-BE49-F238E27FC236}">
                <a16:creationId xmlns:a16="http://schemas.microsoft.com/office/drawing/2014/main" id="{769D9701-6F08-49C7-A6A2-64C77A8D96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3867150"/>
            <a:ext cx="6000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3E8"/>
          </a:solidFill>
          <a:ln xmlns:a="http://schemas.openxmlformats.org/drawingml/2006/main" w="0">
            <a:solidFill>
              <a:srgbClr val="DDE3E8"/>
            </a:solidFill>
            <a:prstDash val="solid"/>
          </a:ln>
        </p:spPr>
      </p:sp>
      <p:sp>
        <p:nvSpPr>
          <p:cNvPr id="59" name="textbox-857">
            <a:extLst xmlns:a="http://schemas.openxmlformats.org/drawingml/2006/main">
              <a:ext uri="{FF2B5EF4-FFF2-40B4-BE49-F238E27FC236}">
                <a16:creationId xmlns:a16="http://schemas.microsoft.com/office/drawing/2014/main" id="{8AA28BA0-6BC0-423A-B562-39F5D96912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1650" y="3905250"/>
            <a:ext cx="2362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675" b="1">
                <a:solidFill>
                  <a:srgbClr val="132238"/>
                </a:solidFill>
              </a:defRPr>
            </a:pPr>
            <a:r>
              <a:rPr sz="675" b="1">
                <a:solidFill>
                  <a:srgbClr val="132238"/>
                </a:solidFill>
              </a:rPr>
              <a:t>Air Filter</a:t>
            </a:r>
          </a:p>
        </p:txBody>
      </p:sp>
      <p:sp>
        <p:nvSpPr>
          <p:cNvPr id="60" name="textbox-858">
            <a:extLst xmlns:a="http://schemas.openxmlformats.org/drawingml/2006/main">
              <a:ext uri="{FF2B5EF4-FFF2-40B4-BE49-F238E27FC236}">
                <a16:creationId xmlns:a16="http://schemas.microsoft.com/office/drawing/2014/main" id="{84E5CC54-0E9A-49D0-A966-E45F7D37C1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3905250"/>
            <a:ext cx="1600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675" b="0">
                <a:solidFill>
                  <a:srgbClr val="132238"/>
                </a:solidFill>
              </a:defRPr>
            </a:pPr>
            <a:r>
              <a:rPr sz="675" b="0">
                <a:solidFill>
                  <a:srgbClr val="132238"/>
                </a:solidFill>
              </a:rPr>
              <a:t>£9.79</a:t>
            </a:r>
          </a:p>
        </p:txBody>
      </p:sp>
      <p:sp>
        <p:nvSpPr>
          <p:cNvPr id="61" name="textbox-859">
            <a:extLst xmlns:a="http://schemas.openxmlformats.org/drawingml/2006/main">
              <a:ext uri="{FF2B5EF4-FFF2-40B4-BE49-F238E27FC236}">
                <a16:creationId xmlns:a16="http://schemas.microsoft.com/office/drawing/2014/main" id="{DB67799C-6BB6-4266-B8AB-0220CB90FB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72650" y="3905250"/>
            <a:ext cx="16954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675" b="1">
                <a:solidFill>
                  <a:srgbClr val="2E7D5B"/>
                </a:solidFill>
              </a:defRPr>
            </a:pPr>
            <a:r>
              <a:rPr sz="675" b="1">
                <a:solidFill>
                  <a:srgbClr val="2E7D5B"/>
                </a:solidFill>
              </a:rPr>
              <a:t>Approved</a:t>
            </a:r>
          </a:p>
        </p:txBody>
      </p:sp>
      <p:sp>
        <p:nvSpPr>
          <p:cNvPr id="62" name="rect-860">
            <a:extLst xmlns:a="http://schemas.openxmlformats.org/drawingml/2006/main">
              <a:ext uri="{FF2B5EF4-FFF2-40B4-BE49-F238E27FC236}">
                <a16:creationId xmlns:a16="http://schemas.microsoft.com/office/drawing/2014/main" id="{B45F96E5-2499-4DEB-85B2-EA636AD83E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4229100"/>
            <a:ext cx="6000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3E8"/>
          </a:solidFill>
          <a:ln xmlns:a="http://schemas.openxmlformats.org/drawingml/2006/main" w="0">
            <a:solidFill>
              <a:srgbClr val="DDE3E8"/>
            </a:solidFill>
            <a:prstDash val="solid"/>
          </a:ln>
        </p:spPr>
      </p:sp>
      <p:sp>
        <p:nvSpPr>
          <p:cNvPr id="63" name="textbox-861">
            <a:extLst xmlns:a="http://schemas.openxmlformats.org/drawingml/2006/main">
              <a:ext uri="{FF2B5EF4-FFF2-40B4-BE49-F238E27FC236}">
                <a16:creationId xmlns:a16="http://schemas.microsoft.com/office/drawing/2014/main" id="{1E897FAA-740F-474F-8F7D-E4CA0FD4E6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1650" y="4267200"/>
            <a:ext cx="2362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675" b="1">
                <a:solidFill>
                  <a:srgbClr val="132238"/>
                </a:solidFill>
              </a:defRPr>
            </a:pPr>
            <a:r>
              <a:rPr sz="675" b="1">
                <a:solidFill>
                  <a:srgbClr val="132238"/>
                </a:solidFill>
              </a:rPr>
              <a:t>Brake Cleaner</a:t>
            </a:r>
          </a:p>
        </p:txBody>
      </p:sp>
      <p:sp>
        <p:nvSpPr>
          <p:cNvPr id="64" name="textbox-862">
            <a:extLst xmlns:a="http://schemas.openxmlformats.org/drawingml/2006/main">
              <a:ext uri="{FF2B5EF4-FFF2-40B4-BE49-F238E27FC236}">
                <a16:creationId xmlns:a16="http://schemas.microsoft.com/office/drawing/2014/main" id="{571B16DF-7400-4038-B2FC-6506C093CF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4267200"/>
            <a:ext cx="1600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675" b="0">
                <a:solidFill>
                  <a:srgbClr val="132238"/>
                </a:solidFill>
              </a:defRPr>
            </a:pPr>
            <a:r>
              <a:rPr sz="675" b="0">
                <a:solidFill>
                  <a:srgbClr val="132238"/>
                </a:solidFill>
              </a:rPr>
              <a:t>£7.80</a:t>
            </a:r>
          </a:p>
        </p:txBody>
      </p:sp>
      <p:sp>
        <p:nvSpPr>
          <p:cNvPr id="65" name="textbox-863">
            <a:extLst xmlns:a="http://schemas.openxmlformats.org/drawingml/2006/main">
              <a:ext uri="{FF2B5EF4-FFF2-40B4-BE49-F238E27FC236}">
                <a16:creationId xmlns:a16="http://schemas.microsoft.com/office/drawing/2014/main" id="{8B159744-3DCB-41CC-81A4-109F2C5539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72650" y="4267200"/>
            <a:ext cx="16954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675" b="1">
                <a:solidFill>
                  <a:srgbClr val="2E7D5B"/>
                </a:solidFill>
              </a:defRPr>
            </a:pPr>
            <a:r>
              <a:rPr sz="675" b="1">
                <a:solidFill>
                  <a:srgbClr val="2E7D5B"/>
                </a:solidFill>
              </a:rPr>
              <a:t>Approved</a:t>
            </a:r>
          </a:p>
        </p:txBody>
      </p:sp>
      <p:sp>
        <p:nvSpPr>
          <p:cNvPr id="66" name="rect-864">
            <a:extLst xmlns:a="http://schemas.openxmlformats.org/drawingml/2006/main">
              <a:ext uri="{FF2B5EF4-FFF2-40B4-BE49-F238E27FC236}">
                <a16:creationId xmlns:a16="http://schemas.microsoft.com/office/drawing/2014/main" id="{9245F5A2-52F1-4FA5-AD9C-A0297D2AAC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4591050"/>
            <a:ext cx="6000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3E8"/>
          </a:solidFill>
          <a:ln xmlns:a="http://schemas.openxmlformats.org/drawingml/2006/main" w="0">
            <a:solidFill>
              <a:srgbClr val="DDE3E8"/>
            </a:solidFill>
            <a:prstDash val="solid"/>
          </a:ln>
        </p:spPr>
      </p:sp>
      <p:sp>
        <p:nvSpPr>
          <p:cNvPr id="67" name="textbox-865">
            <a:extLst xmlns:a="http://schemas.openxmlformats.org/drawingml/2006/main">
              <a:ext uri="{FF2B5EF4-FFF2-40B4-BE49-F238E27FC236}">
                <a16:creationId xmlns:a16="http://schemas.microsoft.com/office/drawing/2014/main" id="{225666FD-AA36-417E-A03A-87191E16B0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1650" y="4629150"/>
            <a:ext cx="2362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675" b="1">
                <a:solidFill>
                  <a:srgbClr val="132238"/>
                </a:solidFill>
              </a:defRPr>
            </a:pPr>
            <a:r>
              <a:rPr sz="675" b="1">
                <a:solidFill>
                  <a:srgbClr val="132238"/>
                </a:solidFill>
              </a:rPr>
              <a:t>Oil Filter</a:t>
            </a:r>
          </a:p>
        </p:txBody>
      </p:sp>
      <p:sp>
        <p:nvSpPr>
          <p:cNvPr id="68" name="textbox-866">
            <a:extLst xmlns:a="http://schemas.openxmlformats.org/drawingml/2006/main">
              <a:ext uri="{FF2B5EF4-FFF2-40B4-BE49-F238E27FC236}">
                <a16:creationId xmlns:a16="http://schemas.microsoft.com/office/drawing/2014/main" id="{89F49ABF-6862-45D1-8A14-9C802D507F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4629150"/>
            <a:ext cx="1600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675" b="0">
                <a:solidFill>
                  <a:srgbClr val="132238"/>
                </a:solidFill>
              </a:defRPr>
            </a:pPr>
            <a:r>
              <a:rPr sz="675" b="0">
                <a:solidFill>
                  <a:srgbClr val="132238"/>
                </a:solidFill>
              </a:rPr>
              <a:t>—</a:t>
            </a:r>
          </a:p>
        </p:txBody>
      </p:sp>
      <p:sp>
        <p:nvSpPr>
          <p:cNvPr id="69" name="textbox-867">
            <a:extLst xmlns:a="http://schemas.openxmlformats.org/drawingml/2006/main">
              <a:ext uri="{FF2B5EF4-FFF2-40B4-BE49-F238E27FC236}">
                <a16:creationId xmlns:a16="http://schemas.microsoft.com/office/drawing/2014/main" id="{A38A2AB4-ECC8-4D3C-9F11-FD03A592DA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72650" y="4629150"/>
            <a:ext cx="16954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675" b="1">
                <a:solidFill>
                  <a:srgbClr val="2E7D5B"/>
                </a:solidFill>
              </a:defRPr>
            </a:pPr>
            <a:r>
              <a:rPr sz="675" b="1">
                <a:solidFill>
                  <a:srgbClr val="2E7D5B"/>
                </a:solidFill>
              </a:rPr>
              <a:t>Within benchmark</a:t>
            </a:r>
          </a:p>
        </p:txBody>
      </p:sp>
      <p:sp>
        <p:nvSpPr>
          <p:cNvPr id="70" name="roundRect-868">
            <a:extLst xmlns:a="http://schemas.openxmlformats.org/drawingml/2006/main">
              <a:ext uri="{FF2B5EF4-FFF2-40B4-BE49-F238E27FC236}">
                <a16:creationId xmlns:a16="http://schemas.microsoft.com/office/drawing/2014/main" id="{45288CB7-5C45-4C89-8BCF-DE375CAE6E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4933950"/>
            <a:ext cx="2857500" cy="1333500"/>
          </a:xfrm>
          <a:prstGeom xmlns:a="http://schemas.openxmlformats.org/drawingml/2006/main" prst="roundRect">
            <a:avLst>
              <a:gd name="adj" fmla="val 571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3E8"/>
            </a:solidFill>
            <a:prstDash val="solid"/>
          </a:ln>
        </p:spPr>
      </p:sp>
      <p:sp>
        <p:nvSpPr>
          <p:cNvPr id="71" name="textbox-869">
            <a:extLst xmlns:a="http://schemas.openxmlformats.org/drawingml/2006/main">
              <a:ext uri="{FF2B5EF4-FFF2-40B4-BE49-F238E27FC236}">
                <a16:creationId xmlns:a16="http://schemas.microsoft.com/office/drawing/2014/main" id="{DB3E816D-4234-4ECF-BF9E-7DBB5FCDF3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76900" y="5057775"/>
            <a:ext cx="1333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071B3D"/>
                </a:solidFill>
              </a:defRPr>
            </a:pPr>
            <a:r>
              <a:rPr sz="900" b="1">
                <a:solidFill>
                  <a:srgbClr val="071B3D"/>
                </a:solidFill>
              </a:rPr>
              <a:t>Issuance gates</a:t>
            </a:r>
          </a:p>
        </p:txBody>
      </p:sp>
      <p:sp>
        <p:nvSpPr>
          <p:cNvPr id="72" name="textbox-870">
            <a:extLst xmlns:a="http://schemas.openxmlformats.org/drawingml/2006/main">
              <a:ext uri="{FF2B5EF4-FFF2-40B4-BE49-F238E27FC236}">
                <a16:creationId xmlns:a16="http://schemas.microsoft.com/office/drawing/2014/main" id="{2CAB6662-3FE5-44C7-B778-7D7BB6CF34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95950" y="5343525"/>
            <a:ext cx="1809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750">
                <a:solidFill>
                  <a:srgbClr val="465365"/>
                </a:solidFill>
              </a:defRPr>
            </a:pPr>
            <a:r>
              <a:rPr sz="750">
                <a:solidFill>
                  <a:srgbClr val="465365"/>
                </a:solidFill>
              </a:rPr>
              <a:t>Liability reviewed</a:t>
            </a:r>
          </a:p>
        </p:txBody>
      </p:sp>
      <p:sp>
        <p:nvSpPr>
          <p:cNvPr id="73" name="roundRect-871">
            <a:extLst xmlns:a="http://schemas.openxmlformats.org/drawingml/2006/main">
              <a:ext uri="{FF2B5EF4-FFF2-40B4-BE49-F238E27FC236}">
                <a16:creationId xmlns:a16="http://schemas.microsoft.com/office/drawing/2014/main" id="{D9DB832C-B069-48AF-AAF1-B184931039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62875" y="5334000"/>
            <a:ext cx="400050" cy="2286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FF7EC"/>
          </a:solidFill>
          <a:ln xmlns:a="http://schemas.openxmlformats.org/drawingml/2006/main" w="9525">
            <a:solidFill>
              <a:srgbClr val="EFF7EC"/>
            </a:solidFill>
            <a:prstDash val="solid"/>
          </a:ln>
        </p:spPr>
      </p:sp>
      <p:sp>
        <p:nvSpPr>
          <p:cNvPr id="74" name="textbox-872">
            <a:extLst xmlns:a="http://schemas.openxmlformats.org/drawingml/2006/main">
              <a:ext uri="{FF2B5EF4-FFF2-40B4-BE49-F238E27FC236}">
                <a16:creationId xmlns:a16="http://schemas.microsoft.com/office/drawing/2014/main" id="{123DB598-3F52-492A-A077-13EC62ADD7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0025" y="5343525"/>
            <a:ext cx="285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2E7D5B"/>
                </a:solidFill>
              </a:defRPr>
            </a:pPr>
            <a:r>
              <a:rPr sz="825" b="1">
                <a:solidFill>
                  <a:srgbClr val="2E7D5B"/>
                </a:solidFill>
              </a:rPr>
              <a:t>✓</a:t>
            </a:r>
          </a:p>
        </p:txBody>
      </p:sp>
      <p:sp>
        <p:nvSpPr>
          <p:cNvPr id="75" name="textbox-873">
            <a:extLst xmlns:a="http://schemas.openxmlformats.org/drawingml/2006/main">
              <a:ext uri="{FF2B5EF4-FFF2-40B4-BE49-F238E27FC236}">
                <a16:creationId xmlns:a16="http://schemas.microsoft.com/office/drawing/2014/main" id="{B28CDA66-DE9D-4AFB-BAF1-F57D16BBA8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95950" y="5610225"/>
            <a:ext cx="1809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750">
                <a:solidFill>
                  <a:srgbClr val="465365"/>
                </a:solidFill>
              </a:defRPr>
            </a:pPr>
            <a:r>
              <a:rPr sz="750">
                <a:solidFill>
                  <a:srgbClr val="465365"/>
                </a:solidFill>
              </a:rPr>
              <a:t>Findings approved</a:t>
            </a:r>
          </a:p>
        </p:txBody>
      </p:sp>
      <p:sp>
        <p:nvSpPr>
          <p:cNvPr id="76" name="roundRect-874">
            <a:extLst xmlns:a="http://schemas.openxmlformats.org/drawingml/2006/main">
              <a:ext uri="{FF2B5EF4-FFF2-40B4-BE49-F238E27FC236}">
                <a16:creationId xmlns:a16="http://schemas.microsoft.com/office/drawing/2014/main" id="{7B0DA2D1-48D7-4E84-8F4A-457A31284B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62875" y="5600700"/>
            <a:ext cx="400050" cy="2286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FF7EC"/>
          </a:solidFill>
          <a:ln xmlns:a="http://schemas.openxmlformats.org/drawingml/2006/main" w="9525">
            <a:solidFill>
              <a:srgbClr val="EFF7EC"/>
            </a:solidFill>
            <a:prstDash val="solid"/>
          </a:ln>
        </p:spPr>
      </p:sp>
      <p:sp>
        <p:nvSpPr>
          <p:cNvPr id="77" name="textbox-875">
            <a:extLst xmlns:a="http://schemas.openxmlformats.org/drawingml/2006/main">
              <a:ext uri="{FF2B5EF4-FFF2-40B4-BE49-F238E27FC236}">
                <a16:creationId xmlns:a16="http://schemas.microsoft.com/office/drawing/2014/main" id="{C850221B-4D2E-44EC-9C48-2256AFF8B5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0025" y="5610225"/>
            <a:ext cx="285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2E7D5B"/>
                </a:solidFill>
              </a:defRPr>
            </a:pPr>
            <a:r>
              <a:rPr sz="825" b="1">
                <a:solidFill>
                  <a:srgbClr val="2E7D5B"/>
                </a:solidFill>
              </a:rPr>
              <a:t>✓</a:t>
            </a:r>
          </a:p>
        </p:txBody>
      </p:sp>
      <p:sp>
        <p:nvSpPr>
          <p:cNvPr id="78" name="textbox-876">
            <a:extLst xmlns:a="http://schemas.openxmlformats.org/drawingml/2006/main">
              <a:ext uri="{FF2B5EF4-FFF2-40B4-BE49-F238E27FC236}">
                <a16:creationId xmlns:a16="http://schemas.microsoft.com/office/drawing/2014/main" id="{F624893E-F77F-4BC0-BA7A-1C9739BDC5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95950" y="5876925"/>
            <a:ext cx="1809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750">
                <a:solidFill>
                  <a:srgbClr val="465365"/>
                </a:solidFill>
              </a:defRPr>
            </a:pPr>
            <a:r>
              <a:rPr sz="750">
                <a:solidFill>
                  <a:srgbClr val="465365"/>
                </a:solidFill>
              </a:rPr>
              <a:t>Evidence attached</a:t>
            </a:r>
          </a:p>
        </p:txBody>
      </p:sp>
      <p:sp>
        <p:nvSpPr>
          <p:cNvPr id="79" name="roundRect-877">
            <a:extLst xmlns:a="http://schemas.openxmlformats.org/drawingml/2006/main">
              <a:ext uri="{FF2B5EF4-FFF2-40B4-BE49-F238E27FC236}">
                <a16:creationId xmlns:a16="http://schemas.microsoft.com/office/drawing/2014/main" id="{D52EF1AE-1B2B-4693-9C45-EA4806EB79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62875" y="5867400"/>
            <a:ext cx="400050" cy="2286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FF7EC"/>
          </a:solidFill>
          <a:ln xmlns:a="http://schemas.openxmlformats.org/drawingml/2006/main" w="9525">
            <a:solidFill>
              <a:srgbClr val="EFF7EC"/>
            </a:solidFill>
            <a:prstDash val="solid"/>
          </a:ln>
        </p:spPr>
      </p:sp>
      <p:sp>
        <p:nvSpPr>
          <p:cNvPr id="80" name="textbox-878">
            <a:extLst xmlns:a="http://schemas.openxmlformats.org/drawingml/2006/main">
              <a:ext uri="{FF2B5EF4-FFF2-40B4-BE49-F238E27FC236}">
                <a16:creationId xmlns:a16="http://schemas.microsoft.com/office/drawing/2014/main" id="{CD572355-82AD-43C5-971B-20C850D67C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0025" y="5876925"/>
            <a:ext cx="285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2E7D5B"/>
                </a:solidFill>
              </a:defRPr>
            </a:pPr>
            <a:r>
              <a:rPr sz="825" b="1">
                <a:solidFill>
                  <a:srgbClr val="2E7D5B"/>
                </a:solidFill>
              </a:rPr>
              <a:t>✓</a:t>
            </a:r>
          </a:p>
        </p:txBody>
      </p:sp>
      <p:sp>
        <p:nvSpPr>
          <p:cNvPr id="81" name="roundRect-879">
            <a:extLst xmlns:a="http://schemas.openxmlformats.org/drawingml/2006/main">
              <a:ext uri="{FF2B5EF4-FFF2-40B4-BE49-F238E27FC236}">
                <a16:creationId xmlns:a16="http://schemas.microsoft.com/office/drawing/2014/main" id="{B182EEBC-F668-48BE-85A3-E2799A746C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4933950"/>
            <a:ext cx="2952750" cy="1333500"/>
          </a:xfrm>
          <a:prstGeom xmlns:a="http://schemas.openxmlformats.org/drawingml/2006/main" prst="roundRect">
            <a:avLst>
              <a:gd name="adj" fmla="val 571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3E8"/>
            </a:solidFill>
            <a:prstDash val="solid"/>
          </a:ln>
        </p:spPr>
      </p:sp>
      <p:sp>
        <p:nvSpPr>
          <p:cNvPr id="82" name="textbox-880">
            <a:extLst xmlns:a="http://schemas.openxmlformats.org/drawingml/2006/main">
              <a:ext uri="{FF2B5EF4-FFF2-40B4-BE49-F238E27FC236}">
                <a16:creationId xmlns:a16="http://schemas.microsoft.com/office/drawing/2014/main" id="{49982EB9-9A42-407D-91FC-DCBF4AA563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5057775"/>
            <a:ext cx="1428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071B3D"/>
                </a:solidFill>
              </a:defRPr>
            </a:pPr>
            <a:r>
              <a:rPr sz="900" b="1">
                <a:solidFill>
                  <a:srgbClr val="071B3D"/>
                </a:solidFill>
              </a:rPr>
              <a:t>Decision output</a:t>
            </a:r>
          </a:p>
        </p:txBody>
      </p:sp>
      <p:sp>
        <p:nvSpPr>
          <p:cNvPr id="83" name="textbox-881">
            <a:extLst xmlns:a="http://schemas.openxmlformats.org/drawingml/2006/main">
              <a:ext uri="{FF2B5EF4-FFF2-40B4-BE49-F238E27FC236}">
                <a16:creationId xmlns:a16="http://schemas.microsoft.com/office/drawing/2014/main" id="{AA3FA3A1-B154-426B-A02A-8C79C103F2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5353050"/>
            <a:ext cx="1714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750">
                <a:solidFill>
                  <a:srgbClr val="465365"/>
                </a:solidFill>
              </a:defRPr>
            </a:pPr>
            <a:r>
              <a:rPr sz="750">
                <a:solidFill>
                  <a:srgbClr val="465365"/>
                </a:solidFill>
              </a:rPr>
              <a:t>• Challenge letter</a:t>
            </a:r>
          </a:p>
          <a:p xmlns:a="http://schemas.openxmlformats.org/drawingml/2006/main">
            <a:pPr>
              <a:defRPr sz="750">
                <a:solidFill>
                  <a:srgbClr val="465365"/>
                </a:solidFill>
              </a:defRPr>
            </a:pPr>
            <a:r>
              <a:rPr sz="750">
                <a:solidFill>
                  <a:srgbClr val="465365"/>
                </a:solidFill>
              </a:rPr>
              <a:t>• Evidence appendix</a:t>
            </a:r>
          </a:p>
          <a:p xmlns:a="http://schemas.openxmlformats.org/drawingml/2006/main">
            <a:pPr>
              <a:defRPr sz="750">
                <a:solidFill>
                  <a:srgbClr val="465365"/>
                </a:solidFill>
              </a:defRPr>
            </a:pPr>
            <a:r>
              <a:rPr sz="750">
                <a:solidFill>
                  <a:srgbClr val="465365"/>
                </a:solidFill>
              </a:rPr>
              <a:t>• Decision history</a:t>
            </a:r>
          </a:p>
        </p:txBody>
      </p:sp>
      <p:sp>
        <p:nvSpPr>
          <p:cNvPr id="84" name="roundRect-882">
            <a:extLst xmlns:a="http://schemas.openxmlformats.org/drawingml/2006/main">
              <a:ext uri="{FF2B5EF4-FFF2-40B4-BE49-F238E27FC236}">
                <a16:creationId xmlns:a16="http://schemas.microsoft.com/office/drawing/2014/main" id="{0C14ED09-9108-4CCB-A544-BDC6E04CA9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5772150"/>
            <a:ext cx="1066800" cy="2286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B8687"/>
          </a:solidFill>
          <a:ln xmlns:a="http://schemas.openxmlformats.org/drawingml/2006/main" w="9525">
            <a:solidFill>
              <a:srgbClr val="0B8687"/>
            </a:solidFill>
            <a:prstDash val="solid"/>
          </a:ln>
        </p:spPr>
      </p:sp>
      <p:sp>
        <p:nvSpPr>
          <p:cNvPr id="85" name="textbox-883">
            <a:extLst xmlns:a="http://schemas.openxmlformats.org/drawingml/2006/main">
              <a:ext uri="{FF2B5EF4-FFF2-40B4-BE49-F238E27FC236}">
                <a16:creationId xmlns:a16="http://schemas.microsoft.com/office/drawing/2014/main" id="{097D3569-172B-4D4C-A0A4-E9911FEA18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44150" y="5781675"/>
            <a:ext cx="95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FFFFFF"/>
                </a:solidFill>
              </a:defRPr>
            </a:pPr>
            <a:r>
              <a:rPr sz="825" b="1">
                <a:solidFill>
                  <a:srgbClr val="FFFFFF"/>
                </a:solidFill>
              </a:rPr>
              <a:t>Approve &amp; issue</a:t>
            </a:r>
          </a:p>
        </p:txBody>
      </p:sp>
    </p:spTree>
    <p:extLst>
      <p:ext uri="{BB962C8B-B14F-4D97-AF65-F5344CB8AC3E}">
        <p14:creationId xmlns:p14="http://schemas.microsoft.com/office/powerpoint/2010/main" val="966167295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2026-08-06T09:00:35.6140000Z</dcterms:created>
  <dcterms:modified xsi:type="dcterms:W3CDTF">2026-08-06T09:00:35.6140000Z</dcterms:modified>
</coreProperties>
</file>