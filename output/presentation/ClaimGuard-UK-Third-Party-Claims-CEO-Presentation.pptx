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27821e6c964f0e" /><Relationship Type="http://schemas.openxmlformats.org/officeDocument/2006/relationships/extended-properties" Target="/docProps/app.xml" Id="R6f0fd341bf7b4886" /><Relationship Type="http://schemas.openxmlformats.org/officeDocument/2006/relationships/officeDocument" Target="/ppt/presentation.xml" Id="R2a82190954c74f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aabde14cd743e8"/>
  </p:sldMasterIdLst>
  <p:notesMasterIdLst>
    <p:notesMasterId xmlns:r="http://schemas.openxmlformats.org/officeDocument/2006/relationships" r:id="R11cf877e66b64742"/>
  </p:notesMasterIdLst>
  <p:sldIdLst>
    <p:sldId xmlns:r="http://schemas.openxmlformats.org/officeDocument/2006/relationships" id="256" r:id="R74cadca0242748f0"/>
    <p:sldId xmlns:r="http://schemas.openxmlformats.org/officeDocument/2006/relationships" id="257" r:id="R368f66e0d0344c6f"/>
    <p:sldId xmlns:r="http://schemas.openxmlformats.org/officeDocument/2006/relationships" id="258" r:id="Rfa4c10bf8afb4b14"/>
    <p:sldId xmlns:r="http://schemas.openxmlformats.org/officeDocument/2006/relationships" id="259" r:id="R94cce426090c4ba3"/>
    <p:sldId xmlns:r="http://schemas.openxmlformats.org/officeDocument/2006/relationships" id="260" r:id="R5daa37df693b40f0"/>
    <p:sldId xmlns:r="http://schemas.openxmlformats.org/officeDocument/2006/relationships" id="261" r:id="R243e9e42cecf47eb"/>
    <p:sldId xmlns:r="http://schemas.openxmlformats.org/officeDocument/2006/relationships" id="262" r:id="R828d50a248de44ca"/>
    <p:sldId xmlns:r="http://schemas.openxmlformats.org/officeDocument/2006/relationships" id="263" r:id="Rbd8c85df99714c60"/>
    <p:sldId xmlns:r="http://schemas.openxmlformats.org/officeDocument/2006/relationships" id="264" r:id="Ra250bac0cf464055"/>
    <p:sldId xmlns:r="http://schemas.openxmlformats.org/officeDocument/2006/relationships" id="265" r:id="Rb58960a9afe04abb"/>
    <p:sldId xmlns:r="http://schemas.openxmlformats.org/officeDocument/2006/relationships" id="266" r:id="R65770f20ef674aa5"/>
    <p:sldId xmlns:r="http://schemas.openxmlformats.org/officeDocument/2006/relationships" id="267" r:id="R6e35347726be4505"/>
    <p:sldId xmlns:r="http://schemas.openxmlformats.org/officeDocument/2006/relationships" id="268" r:id="Rcbc337e60d354e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9e83bf81444f14" /><Relationship Type="http://schemas.openxmlformats.org/officeDocument/2006/relationships/slideMaster" Target="/ppt/slideMasters/slideMaster1.xml" Id="R20aabde14cd743e8" /><Relationship Type="http://schemas.openxmlformats.org/officeDocument/2006/relationships/notesMaster" Target="/ppt/notesMasters/notesMaster1.xml" Id="R11cf877e66b64742" /><Relationship Type="http://schemas.openxmlformats.org/officeDocument/2006/relationships/presProps" Target="/ppt/presProps.xml" Id="Rbc1c3b9f72dc4d4f" /><Relationship Type="http://schemas.openxmlformats.org/officeDocument/2006/relationships/tableStyles" Target="/ppt/tableStyles.xml" Id="Rf11b13788cc54a20" /><Relationship Type="http://schemas.openxmlformats.org/officeDocument/2006/relationships/slide" Target="/ppt/slides/slide1.xml" Id="R74cadca0242748f0" /><Relationship Type="http://schemas.openxmlformats.org/officeDocument/2006/relationships/slide" Target="/ppt/slides/slide2.xml" Id="R368f66e0d0344c6f" /><Relationship Type="http://schemas.openxmlformats.org/officeDocument/2006/relationships/slide" Target="/ppt/slides/slide3.xml" Id="Rfa4c10bf8afb4b14" /><Relationship Type="http://schemas.openxmlformats.org/officeDocument/2006/relationships/slide" Target="/ppt/slides/slide4.xml" Id="R94cce426090c4ba3" /><Relationship Type="http://schemas.openxmlformats.org/officeDocument/2006/relationships/slide" Target="/ppt/slides/slide5.xml" Id="R5daa37df693b40f0" /><Relationship Type="http://schemas.openxmlformats.org/officeDocument/2006/relationships/slide" Target="/ppt/slides/slide6.xml" Id="R243e9e42cecf47eb" /><Relationship Type="http://schemas.openxmlformats.org/officeDocument/2006/relationships/slide" Target="/ppt/slides/slide7.xml" Id="R828d50a248de44ca" /><Relationship Type="http://schemas.openxmlformats.org/officeDocument/2006/relationships/slide" Target="/ppt/slides/slide8.xml" Id="Rbd8c85df99714c60" /><Relationship Type="http://schemas.openxmlformats.org/officeDocument/2006/relationships/slide" Target="/ppt/slides/slide9.xml" Id="Ra250bac0cf464055" /><Relationship Type="http://schemas.openxmlformats.org/officeDocument/2006/relationships/slide" Target="/ppt/slides/slide10.xml" Id="Rb58960a9afe04abb" /><Relationship Type="http://schemas.openxmlformats.org/officeDocument/2006/relationships/slide" Target="/ppt/slides/slide11.xml" Id="R65770f20ef674aa5" /><Relationship Type="http://schemas.openxmlformats.org/officeDocument/2006/relationships/slide" Target="/ppt/slides/slide12.xml" Id="R6e35347726be4505" /><Relationship Type="http://schemas.openxmlformats.org/officeDocument/2006/relationships/slide" Target="/ppt/slides/slide13.xml" Id="Rcbc337e60d354e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4f28bc6aac48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ec988425754316" /><Relationship Type="http://schemas.openxmlformats.org/officeDocument/2006/relationships/notesMaster" Target="/ppt/notesMasters/notesMaster1.xml" Id="R60298677197b46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b54af92512432c" /><Relationship Type="http://schemas.openxmlformats.org/officeDocument/2006/relationships/notesMaster" Target="/ppt/notesMasters/notesMaster1.xml" Id="R3f0173e374ed4f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23bf87ee25468e" /><Relationship Type="http://schemas.openxmlformats.org/officeDocument/2006/relationships/notesMaster" Target="/ppt/notesMasters/notesMaster1.xml" Id="R35931673d2ff48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9d58d59a1848d5" /><Relationship Type="http://schemas.openxmlformats.org/officeDocument/2006/relationships/notesMaster" Target="/ppt/notesMasters/notesMaster1.xml" Id="R1a4bc0d69ec44d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41d500685f4218" /><Relationship Type="http://schemas.openxmlformats.org/officeDocument/2006/relationships/notesMaster" Target="/ppt/notesMasters/notesMaster1.xml" Id="Rcf4adcadf21148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db82c730564529" /><Relationship Type="http://schemas.openxmlformats.org/officeDocument/2006/relationships/notesMaster" Target="/ppt/notesMasters/notesMaster1.xml" Id="R8370c3ebed7b42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e0525fe9834de6" /><Relationship Type="http://schemas.openxmlformats.org/officeDocument/2006/relationships/notesMaster" Target="/ppt/notesMasters/notesMaster1.xml" Id="Rbc42e5287af74c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106f846a884a59" /><Relationship Type="http://schemas.openxmlformats.org/officeDocument/2006/relationships/notesMaster" Target="/ppt/notesMasters/notesMaster1.xml" Id="Rc03899a44ce74b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0b3cf1c5294762" /><Relationship Type="http://schemas.openxmlformats.org/officeDocument/2006/relationships/notesMaster" Target="/ppt/notesMasters/notesMaster1.xml" Id="Rdb54d96ec6f04b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90439e310849dd" /><Relationship Type="http://schemas.openxmlformats.org/officeDocument/2006/relationships/notesMaster" Target="/ppt/notesMasters/notesMaster1.xml" Id="Rfd43121e033f40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8baf65dc114737" /><Relationship Type="http://schemas.openxmlformats.org/officeDocument/2006/relationships/notesMaster" Target="/ppt/notesMasters/notesMaster1.xml" Id="R4633b3b8b09e48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69f92d533c45a7" /><Relationship Type="http://schemas.openxmlformats.org/officeDocument/2006/relationships/notesMaster" Target="/ppt/notesMasters/notesMaster1.xml" Id="Rf26bf79da6ee40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89679892b24bf7" /><Relationship Type="http://schemas.openxmlformats.org/officeDocument/2006/relationships/notesMaster" Target="/ppt/notesMasters/notesMaster1.xml" Id="R048ed3bdccee41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f5b31318e942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b2063ed17a43f0" /><Relationship Type="http://schemas.openxmlformats.org/officeDocument/2006/relationships/slideLayout" Target="/ppt/slideLayouts/slideLayout1.xml" Id="R2c21dd9bd32b4d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21dd9bd32b4d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18322927346e4" /><Relationship Type="http://schemas.openxmlformats.org/officeDocument/2006/relationships/image" Target="/ppt/media/image.png" Id="R3f53a5430a8940b3" /><Relationship Type="http://schemas.openxmlformats.org/officeDocument/2006/relationships/notesSlide" Target="/ppt/notesSlides/notesSlide1.xml" Id="R9ef8cf139d724f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a8af084e54cce" /><Relationship Type="http://schemas.openxmlformats.org/officeDocument/2006/relationships/image" Target="/ppt/media/image2.png" Id="Re2273c36f811407a" /><Relationship Type="http://schemas.openxmlformats.org/officeDocument/2006/relationships/notesSlide" Target="/ppt/notesSlides/notesSlide2.xml" Id="Rb64e71b844fc4b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507af882443bf" /><Relationship Type="http://schemas.openxmlformats.org/officeDocument/2006/relationships/image" Target="/ppt/media/image3.png" Id="R7551c961004e4f60" /><Relationship Type="http://schemas.openxmlformats.org/officeDocument/2006/relationships/notesSlide" Target="/ppt/notesSlides/notesSlide3.xml" Id="R2a2f8bc3d4a94f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9b12a43624ab1" /><Relationship Type="http://schemas.openxmlformats.org/officeDocument/2006/relationships/image" Target="/ppt/media/image4.png" Id="R4d522357d5804d12" /><Relationship Type="http://schemas.openxmlformats.org/officeDocument/2006/relationships/notesSlide" Target="/ppt/notesSlides/notesSlide4.xml" Id="R925d56e6ed674f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54a4a99ad4c80" /><Relationship Type="http://schemas.openxmlformats.org/officeDocument/2006/relationships/image" Target="/ppt/media/image5.png" Id="R53bd8e214b054970" /><Relationship Type="http://schemas.openxmlformats.org/officeDocument/2006/relationships/notesSlide" Target="/ppt/notesSlides/notesSlide5.xml" Id="Rb5cba6b54ff74e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c92eb310a4c58" /><Relationship Type="http://schemas.openxmlformats.org/officeDocument/2006/relationships/image" Target="/ppt/media/image6.png" Id="Rb4dcafb8619f441d" /><Relationship Type="http://schemas.openxmlformats.org/officeDocument/2006/relationships/notesSlide" Target="/ppt/notesSlides/notesSlide6.xml" Id="Rced95e503a7849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74faddaaf4a0c" /><Relationship Type="http://schemas.openxmlformats.org/officeDocument/2006/relationships/image" Target="/ppt/media/image7.png" Id="R2ab922fa1c74492f" /><Relationship Type="http://schemas.openxmlformats.org/officeDocument/2006/relationships/notesSlide" Target="/ppt/notesSlides/notesSlide7.xml" Id="Rb84de450e13a46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958741c854ada" /><Relationship Type="http://schemas.openxmlformats.org/officeDocument/2006/relationships/image" Target="/ppt/media/image8.png" Id="R7e79400d44d44f3d" /><Relationship Type="http://schemas.openxmlformats.org/officeDocument/2006/relationships/notesSlide" Target="/ppt/notesSlides/notesSlide8.xml" Id="Rdf376475c2ee4b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7afc10c5d45a0" /><Relationship Type="http://schemas.openxmlformats.org/officeDocument/2006/relationships/image" Target="/ppt/media/image9.png" Id="R83a95fc58a464d99" /><Relationship Type="http://schemas.openxmlformats.org/officeDocument/2006/relationships/notesSlide" Target="/ppt/notesSlides/notesSlide9.xml" Id="R7b1a396004824a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a1f39889d42a7" /><Relationship Type="http://schemas.openxmlformats.org/officeDocument/2006/relationships/image" Target="/ppt/media/image10.png" Id="R1590f99f18f049de" /><Relationship Type="http://schemas.openxmlformats.org/officeDocument/2006/relationships/notesSlide" Target="/ppt/notesSlides/notesSlide10.xml" Id="R9cab8ab268634c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da2f3e3b14a2a" /><Relationship Type="http://schemas.openxmlformats.org/officeDocument/2006/relationships/image" Target="/ppt/media/image11.png" Id="R6dc57d48de364425" /><Relationship Type="http://schemas.openxmlformats.org/officeDocument/2006/relationships/notesSlide" Target="/ppt/notesSlides/notesSlide11.xml" Id="R4ce89acb2bb64a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569ab80ac4a20" /><Relationship Type="http://schemas.openxmlformats.org/officeDocument/2006/relationships/image" Target="/ppt/media/image12.png" Id="R99255efcfe7748a8" /><Relationship Type="http://schemas.openxmlformats.org/officeDocument/2006/relationships/notesSlide" Target="/ppt/notesSlides/notesSlide12.xml" Id="Raf88cb8ec633495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7862675a24feb" /><Relationship Type="http://schemas.openxmlformats.org/officeDocument/2006/relationships/image" Target="/ppt/media/image13.png" Id="R614bfc86096b40d4" /><Relationship Type="http://schemas.openxmlformats.org/officeDocument/2006/relationships/notesSlide" Target="/ppt/notesSlides/notesSlide13.xml" Id="R9d30bc6fabb644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3a5430a8940b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238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73c36f811407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9276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1c961004e4f6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4188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22357d5804d1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660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d8e214b05497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705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cafb8619f441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5730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7">
            <a:extLst xmlns:a="http://schemas.openxmlformats.org/drawingml/2006/main">
              <a:ext uri="{FF2B5EF4-FFF2-40B4-BE49-F238E27FC236}">
                <a16:creationId xmlns:a16="http://schemas.microsoft.com/office/drawing/2014/main" id="{400DBB37-F7C1-49CD-87EA-FDEFF85C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8687"/>
                </a:solidFill>
              </a:defRPr>
            </a:pPr>
            <a:r>
              <a:rPr sz="975" b="1">
                <a:solidFill>
                  <a:srgbClr val="0B8687"/>
                </a:solidFill>
              </a:rPr>
              <a:t>LIVE PRODUCT EVIDENCE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DDC6314-D014-4BED-BDA9-B77D63F6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B3D"/>
                </a:solidFill>
              </a:defRPr>
            </a:pPr>
            <a:r>
              <a:rPr sz="3150" b="1">
                <a:solidFill>
                  <a:srgbClr val="071B3D"/>
                </a:solidFill>
              </a:rPr>
              <a:t>Upload once, review every invoice separately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54623449-F878-4467-BA66-CF881CA6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7A89"/>
                </a:solidFill>
              </a:defRPr>
            </a:pPr>
            <a:r>
              <a:rPr sz="1350">
                <a:solidFill>
                  <a:srgbClr val="6F7A89"/>
                </a:solidFill>
              </a:rPr>
              <a:t>Single, multiple and folder-based intake feed one governed review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658EE-3FA4-4070-8EAA-780D41E7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0F426B9F-FCB4-4C24-AD82-4CC120D7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A89"/>
                </a:solidFill>
              </a:defRPr>
            </a:pPr>
            <a:r>
              <a:rPr sz="900" b="1">
                <a:solidFill>
                  <a:srgbClr val="6F7A89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A0E11-14CE-410B-9876-D04FAB24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896DD-B6BB-43C8-BFC9-CB9A0B2C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701DD-3679-4E0F-B84B-E2AEE849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Flexible intake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91C52-75BB-453A-AA1A-2D37E334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Upload one PDF, several PDFs or a complete invoice folder.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C12DB-3691-4247-A69B-3E388B63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71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85883-AE6D-4CEB-A401-83170EE0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91803E-50A1-4DE6-8388-42DC2A50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Separate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53C70-D7DC-4299-AEAA-9BBD95F1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Switch invoices without carrying over the wrong lines, prices or decisions.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2E1C8-E1CA-4D9E-A756-B2DCDB2B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E3567-89B9-4B08-BDD3-148AD263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1BD60F-348E-48E6-8545-D154E888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Shared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CC3E8-E016-424A-9220-19A9C337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Approved observations strengthen the combined benchmark database.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92DA8-2D70-425B-A1C6-21BF8E32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35623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79370-2A53-4CE2-B558-F2D513A3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6C6D"/>
                </a:solidFill>
              </a:defRPr>
            </a:pPr>
            <a:r>
              <a:rPr sz="1275" b="1">
                <a:solidFill>
                  <a:srgbClr val="096C6D"/>
                </a:solidFill>
              </a:rPr>
              <a:t>Every invoice remains separate. The intelligence is shared.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28CA6A-5A97-4351-930D-BAA62C8E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04950"/>
            <a:ext cx="7600950" cy="53149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922fa1c74492f"/>
          <a:stretch xmlns:a="http://schemas.openxmlformats.org/drawingml/2006/main"/>
        </p:blipFill>
        <p:spPr>
          <a:xfrm xmlns:a="http://schemas.openxmlformats.org/drawingml/2006/main">
            <a:off x="4248150" y="1562894"/>
            <a:ext cx="7486650" cy="5199063"/>
          </a:xfrm>
          <a:prstGeom xmlns:a="http://schemas.openxmlformats.org/drawingml/2006/main" prst="roundRect">
            <a:avLst>
              <a:gd name="adj" fmla="val 1465"/>
            </a:avLst>
          </a:prstGeom>
        </p:spPr>
      </p:pic>
    </p:spTree>
    <p:extLst>
      <p:ext uri="{BB962C8B-B14F-4D97-AF65-F5344CB8AC3E}">
        <p14:creationId xmlns:p14="http://schemas.microsoft.com/office/powerpoint/2010/main" val="7954486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8">
            <a:extLst xmlns:a="http://schemas.openxmlformats.org/drawingml/2006/main">
              <a:ext uri="{FF2B5EF4-FFF2-40B4-BE49-F238E27FC236}">
                <a16:creationId xmlns:a16="http://schemas.microsoft.com/office/drawing/2014/main" id="{D6233C6B-C807-4429-8008-0940C4B7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8687"/>
                </a:solidFill>
              </a:defRPr>
            </a:pPr>
            <a:r>
              <a:rPr sz="975" b="1">
                <a:solidFill>
                  <a:srgbClr val="0B8687"/>
                </a:solidFill>
              </a:rPr>
              <a:t>LIVE PRODUCT EVIDENCE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2C22F9F9-928C-426F-A9B9-3ABE4639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B3D"/>
                </a:solidFill>
              </a:defRPr>
            </a:pPr>
            <a:r>
              <a:rPr sz="3150" b="1">
                <a:solidFill>
                  <a:srgbClr val="071B3D"/>
                </a:solidFill>
              </a:rPr>
              <a:t>Every extracted value remains traceable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82E5AA03-385A-43B5-9236-87DD3BB5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7A89"/>
                </a:solidFill>
              </a:defRPr>
            </a:pPr>
            <a:r>
              <a:rPr sz="1350">
                <a:solidFill>
                  <a:srgbClr val="6F7A89"/>
                </a:solidFill>
              </a:rPr>
              <a:t>The selected invoice controls the visible vehicle, totals, line items and confidence states.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63110-EC8F-4B8F-A962-48C9E1AA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AF89C234-4A95-4CEF-BF16-17A0417E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A89"/>
                </a:solidFill>
              </a:defRPr>
            </a:pPr>
            <a:r>
              <a:rPr sz="900" b="1">
                <a:solidFill>
                  <a:srgbClr val="6F7A89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9C128-B962-4C7F-ABC5-AE2921A0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4A757-B562-4CBE-BAD2-63A48E8A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3CE8C-4719-4763-9115-242CC77D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Structured invoice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9FFBC-D1B0-47A8-BECB-2106ED5A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Vehicle, registration, dates and totals are captured together.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7A7AC-4BC2-4069-856E-E45B98A1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71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7BB2C-94C0-44BA-92D1-D00E54E7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57A69-4DD6-4194-956A-65CA641A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Line-level visibility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779FB-F256-46F3-A00C-5D105CF2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Parts and service charges remain individually reviewable.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6406F-3418-409A-9805-2928964F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E4810-C681-4736-9114-480F4A21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86644A-03B2-420F-8828-8DEEF8C7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Confidence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9A6B14-DC3F-4948-B7DC-AAC9E492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High-confidence fields already show a clear approved state.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24C29D-1E2E-46CD-81C8-913A0A31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35623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676DA-B7DD-47BB-8D6E-4ABE8B1F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6C6D"/>
                </a:solidFill>
              </a:defRPr>
            </a:pPr>
            <a:r>
              <a:rPr sz="1275" b="1">
                <a:solidFill>
                  <a:srgbClr val="096C6D"/>
                </a:solidFill>
              </a:rPr>
              <a:t>The handler sees the selected invoice—not reused data.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8B561-22B7-4576-99B8-A69EE3BF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04950"/>
            <a:ext cx="7600950" cy="53149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9400d44d44f3d"/>
          <a:stretch xmlns:a="http://schemas.openxmlformats.org/drawingml/2006/main"/>
        </p:blipFill>
        <p:spPr>
          <a:xfrm xmlns:a="http://schemas.openxmlformats.org/drawingml/2006/main">
            <a:off x="4248150" y="1562894"/>
            <a:ext cx="7486650" cy="5199063"/>
          </a:xfrm>
          <a:prstGeom xmlns:a="http://schemas.openxmlformats.org/drawingml/2006/main" prst="roundRect">
            <a:avLst>
              <a:gd name="adj" fmla="val 1465"/>
            </a:avLst>
          </a:prstGeom>
        </p:spPr>
      </p:pic>
    </p:spTree>
    <p:extLst>
      <p:ext uri="{BB962C8B-B14F-4D97-AF65-F5344CB8AC3E}">
        <p14:creationId xmlns:p14="http://schemas.microsoft.com/office/powerpoint/2010/main" val="13172975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9">
            <a:extLst xmlns:a="http://schemas.openxmlformats.org/drawingml/2006/main">
              <a:ext uri="{FF2B5EF4-FFF2-40B4-BE49-F238E27FC236}">
                <a16:creationId xmlns:a16="http://schemas.microsoft.com/office/drawing/2014/main" id="{F4CC3A40-6833-4D49-A48E-7930C183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8687"/>
                </a:solidFill>
              </a:defRPr>
            </a:pPr>
            <a:r>
              <a:rPr sz="975" b="1">
                <a:solidFill>
                  <a:srgbClr val="0B8687"/>
                </a:solidFill>
              </a:rPr>
              <a:t>LIVE PRODUCT EVIDENCE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22071E98-17B6-4310-8CB6-557AA05E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B3D"/>
                </a:solidFill>
              </a:defRPr>
            </a:pPr>
            <a:r>
              <a:rPr sz="3150" b="1">
                <a:solidFill>
                  <a:srgbClr val="071B3D"/>
                </a:solidFill>
              </a:rPr>
              <a:t>Calculations are verified before price review</a:t>
            </a:r>
          </a:p>
        </p:txBody>
      </p:sp>
      <p:sp>
        <p:nvSpPr>
          <p:cNvPr id="3" name="subtitle-9">
            <a:extLst xmlns:a="http://schemas.openxmlformats.org/drawingml/2006/main">
              <a:ext uri="{FF2B5EF4-FFF2-40B4-BE49-F238E27FC236}">
                <a16:creationId xmlns:a16="http://schemas.microsoft.com/office/drawing/2014/main" id="{3CAA2B7B-10F2-4B9B-854C-AD617B66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7A89"/>
                </a:solidFill>
              </a:defRPr>
            </a:pPr>
            <a:r>
              <a:rPr sz="1350">
                <a:solidFill>
                  <a:srgbClr val="6F7A89"/>
                </a:solidFill>
              </a:rPr>
              <a:t>Deterministic checks establish invoice integrity before historical comparison begins.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BFA22-B8F5-4747-826A-7B8F382C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F66462F8-B080-4032-A625-34E229C5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A89"/>
                </a:solidFill>
              </a:defRPr>
            </a:pPr>
            <a:r>
              <a:rPr sz="900" b="1">
                <a:solidFill>
                  <a:srgbClr val="6F7A89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40E2B-FAA5-429C-9758-38630192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C0E7F-9397-42D0-A2FC-14A3E56F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108AC-0FF2-4176-AF1B-15D7483C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Arithmetic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86D49-03DD-4E00-AB32-DCF332B9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Quantity × unit price, subtotals and totals are checked consistently.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206AF-4131-47DD-B98B-399B63B9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71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318AD-0B64-4F15-9BE9-E1BA46DD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770B2-27FF-48C4-8CD1-1D7EA2D7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UK tax handling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4C933-0C03-44A6-989E-7EDA2D15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MOT remains outside VAT and is shown separately.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B2A74-300E-4115-87AB-721B9F46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02458-9C5C-4284-8200-B022998F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74C475-27B1-49F1-9494-FA1BB192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Clear exceptions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25384-A60E-448C-A924-94B3BD54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Not-applicable checks are separated from genuine failures.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47AD38-D0D0-46BA-91EC-13FFE75F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35623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4DE09E-3CFB-45A9-9A96-DD3F00B0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6C6D"/>
                </a:solidFill>
              </a:defRPr>
            </a:pPr>
            <a:r>
              <a:rPr sz="1275" b="1">
                <a:solidFill>
                  <a:srgbClr val="096C6D"/>
                </a:solidFill>
              </a:rPr>
              <a:t>Invoice 9407: 18 passed, 0 calculation failures.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6785D8-AE8A-47C7-A6FD-E62DDE5D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04950"/>
            <a:ext cx="7600950" cy="53149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95fc58a464d99"/>
          <a:stretch xmlns:a="http://schemas.openxmlformats.org/drawingml/2006/main"/>
        </p:blipFill>
        <p:spPr>
          <a:xfrm xmlns:a="http://schemas.openxmlformats.org/drawingml/2006/main">
            <a:off x="4248150" y="1562894"/>
            <a:ext cx="7486650" cy="5199063"/>
          </a:xfrm>
          <a:prstGeom xmlns:a="http://schemas.openxmlformats.org/drawingml/2006/main" prst="roundRect">
            <a:avLst>
              <a:gd name="adj" fmla="val 1465"/>
            </a:avLst>
          </a:prstGeom>
        </p:spPr>
      </p:pic>
    </p:spTree>
    <p:extLst>
      <p:ext uri="{BB962C8B-B14F-4D97-AF65-F5344CB8AC3E}">
        <p14:creationId xmlns:p14="http://schemas.microsoft.com/office/powerpoint/2010/main" val="4745505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10">
            <a:extLst xmlns:a="http://schemas.openxmlformats.org/drawingml/2006/main">
              <a:ext uri="{FF2B5EF4-FFF2-40B4-BE49-F238E27FC236}">
                <a16:creationId xmlns:a16="http://schemas.microsoft.com/office/drawing/2014/main" id="{92BD8CC5-0134-4D59-B58B-E960739C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8687"/>
                </a:solidFill>
              </a:defRPr>
            </a:pPr>
            <a:r>
              <a:rPr sz="975" b="1">
                <a:solidFill>
                  <a:srgbClr val="0B8687"/>
                </a:solidFill>
              </a:rPr>
              <a:t>LIVE PRODUCT EVIDENCE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231959FA-E5C6-4E94-A350-F25F41AD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B3D"/>
                </a:solidFill>
              </a:defRPr>
            </a:pPr>
            <a:r>
              <a:rPr sz="3150" b="1">
                <a:solidFill>
                  <a:srgbClr val="071B3D"/>
                </a:solidFill>
              </a:rPr>
              <a:t>Different descriptions map to one repair item</a:t>
            </a:r>
          </a:p>
        </p:txBody>
      </p:sp>
      <p:sp>
        <p:nvSpPr>
          <p:cNvPr id="3" name="subtitle-10">
            <a:extLst xmlns:a="http://schemas.openxmlformats.org/drawingml/2006/main">
              <a:ext uri="{FF2B5EF4-FFF2-40B4-BE49-F238E27FC236}">
                <a16:creationId xmlns:a16="http://schemas.microsoft.com/office/drawing/2014/main" id="{90702894-888D-4804-9ABE-E2B8FE35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7A89"/>
                </a:solidFill>
              </a:defRPr>
            </a:pPr>
            <a:r>
              <a:rPr sz="1350">
                <a:solidFill>
                  <a:srgbClr val="6F7A89"/>
                </a:solidFill>
              </a:rPr>
              <a:t>Governed normalisation creates the consistent categories required for fair benchmarking.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D38E7-63CF-46ED-BD63-F23FA778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017C848C-846C-4C6E-9F1D-C25308B0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A89"/>
                </a:solidFill>
              </a:defRPr>
            </a:pPr>
            <a:r>
              <a:rPr sz="900" b="1">
                <a:solidFill>
                  <a:srgbClr val="6F7A89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E37D9-B450-4873-9D22-15F0C72C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33F72-CD9D-4FC2-A4D1-21583DBC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82EEB-4423-42DD-9F31-7DADF772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Approved matches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1C166-8F30-4795-A71F-71E17816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High-confidence mappings are ready for price comparison.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57D58-47A7-4975-95F1-87D18E42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71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03431-6651-451F-875F-22D93418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D3A55-D457-4597-94AC-28FF02C5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Human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45D7A6-0461-4B8C-889E-BBFBB2B7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The uncertain item stays visible for a handler decision.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38865-9033-49B5-B7C7-D4670B6F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BB633-5B14-4CEF-85CB-B8A4D311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775033-DCFD-4A19-9A73-6C9A9C8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No guessed bundles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D64EA-16BD-4370-A08E-935E7575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Unsafe price allocations are never split automatically.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669AD-EA4C-447E-B563-C54FD081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35623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0DCB3-5B1B-4010-808C-01027EF5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6C6D"/>
                </a:solidFill>
              </a:defRPr>
            </a:pPr>
            <a:r>
              <a:rPr sz="1275" b="1">
                <a:solidFill>
                  <a:srgbClr val="096C6D"/>
                </a:solidFill>
              </a:rPr>
              <a:t>Consistent mapping is the foundation of fair comparison.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13AB7-F4D4-4FCD-A257-63F2DE0B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04950"/>
            <a:ext cx="7600950" cy="53149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90f99f18f049de"/>
          <a:stretch xmlns:a="http://schemas.openxmlformats.org/drawingml/2006/main"/>
        </p:blipFill>
        <p:spPr>
          <a:xfrm xmlns:a="http://schemas.openxmlformats.org/drawingml/2006/main">
            <a:off x="4248150" y="1562894"/>
            <a:ext cx="7486650" cy="5199063"/>
          </a:xfrm>
          <a:prstGeom xmlns:a="http://schemas.openxmlformats.org/drawingml/2006/main" prst="roundRect">
            <a:avLst>
              <a:gd name="adj" fmla="val 1465"/>
            </a:avLst>
          </a:prstGeom>
        </p:spPr>
      </p:pic>
    </p:spTree>
    <p:extLst>
      <p:ext uri="{BB962C8B-B14F-4D97-AF65-F5344CB8AC3E}">
        <p14:creationId xmlns:p14="http://schemas.microsoft.com/office/powerpoint/2010/main" val="9848432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11">
            <a:extLst xmlns:a="http://schemas.openxmlformats.org/drawingml/2006/main">
              <a:ext uri="{FF2B5EF4-FFF2-40B4-BE49-F238E27FC236}">
                <a16:creationId xmlns:a16="http://schemas.microsoft.com/office/drawing/2014/main" id="{2E238570-D1A8-42E8-B648-9BCD0FAD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8687"/>
                </a:solidFill>
              </a:defRPr>
            </a:pPr>
            <a:r>
              <a:rPr sz="975" b="1">
                <a:solidFill>
                  <a:srgbClr val="0B8687"/>
                </a:solidFill>
              </a:rPr>
              <a:t>LIVE PRODUCT EVIDENCE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C80BCFF0-E0C0-4C06-9ECA-7BBF32D9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B3D"/>
                </a:solidFill>
              </a:defRPr>
            </a:pPr>
            <a:r>
              <a:rPr sz="3150" b="1">
                <a:solidFill>
                  <a:srgbClr val="071B3D"/>
                </a:solidFill>
              </a:rPr>
              <a:t>P90 decisions are backed by exact evidence</a:t>
            </a:r>
          </a:p>
        </p:txBody>
      </p:sp>
      <p:sp>
        <p:nvSpPr>
          <p:cNvPr id="3" name="subtitle-11">
            <a:extLst xmlns:a="http://schemas.openxmlformats.org/drawingml/2006/main">
              <a:ext uri="{FF2B5EF4-FFF2-40B4-BE49-F238E27FC236}">
                <a16:creationId xmlns:a16="http://schemas.microsoft.com/office/drawing/2014/main" id="{6C4A74E1-7979-4AC3-91D6-54091494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7A89"/>
                </a:solidFill>
              </a:defRPr>
            </a:pPr>
            <a:r>
              <a:rPr sz="1350">
                <a:solidFill>
                  <a:srgbClr val="6F7A89"/>
                </a:solidFill>
              </a:rPr>
              <a:t>The benchmark can be traced to the earlier invoices used for the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48E78-16FB-469A-99F8-0DC317FE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76AF64C8-0369-4E6F-B7FC-DA6BCCF8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A89"/>
                </a:solidFill>
              </a:defRPr>
            </a:pPr>
            <a:r>
              <a:rPr sz="900" b="1">
                <a:solidFill>
                  <a:srgbClr val="6F7A89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28F9A-F2E5-46A6-BC10-D6845BBC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ECFD8-9622-45E0-83C1-64A5DD0C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1340F-1269-43A4-BF60-1D69BC31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Comparable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DB83F-657F-491A-A1A9-D297C636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Earlier prices are grouped under the same governed repair item.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B7AA2-8751-4E74-9E22-DD8A351D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71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6040A-4BB0-45BE-A226-157F1087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2826D-5177-4595-AE45-B055D4C3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Current excluded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80922-9542-404A-8B89-9ADFEBE8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The invoice being evaluated never influences its own P90.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6B2C79-9212-4667-A5DE-4F7F1652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E5FB6-59B6-47A9-A049-57EC8502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33464C-2948-4D00-8A62-D327A675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Evidence on demand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7DECC-3A75-479E-815B-06E072EF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Invoice number, date, description and price remain visible.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EB4B1-6084-4D68-90DA-1464123F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35623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537C2B-BB9C-4E2C-8774-BA6BCE3A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6C6D"/>
                </a:solidFill>
              </a:defRPr>
            </a:pPr>
            <a:r>
              <a:rPr sz="1275" b="1">
                <a:solidFill>
                  <a:srgbClr val="096C6D"/>
                </a:solidFill>
              </a:rPr>
              <a:t>Transparent benchmark. Explainable recommendation.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F96A17-3C8D-477B-8315-4F48E49D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04950"/>
            <a:ext cx="7600950" cy="53149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57d48de364425"/>
          <a:stretch xmlns:a="http://schemas.openxmlformats.org/drawingml/2006/main"/>
        </p:blipFill>
        <p:spPr>
          <a:xfrm xmlns:a="http://schemas.openxmlformats.org/drawingml/2006/main">
            <a:off x="4248150" y="1562894"/>
            <a:ext cx="7486650" cy="5199063"/>
          </a:xfrm>
          <a:prstGeom xmlns:a="http://schemas.openxmlformats.org/drawingml/2006/main" prst="roundRect">
            <a:avLst>
              <a:gd name="adj" fmla="val 1465"/>
            </a:avLst>
          </a:prstGeom>
        </p:spPr>
      </p:pic>
    </p:spTree>
    <p:extLst>
      <p:ext uri="{BB962C8B-B14F-4D97-AF65-F5344CB8AC3E}">
        <p14:creationId xmlns:p14="http://schemas.microsoft.com/office/powerpoint/2010/main" val="450829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12">
            <a:extLst xmlns:a="http://schemas.openxmlformats.org/drawingml/2006/main">
              <a:ext uri="{FF2B5EF4-FFF2-40B4-BE49-F238E27FC236}">
                <a16:creationId xmlns:a16="http://schemas.microsoft.com/office/drawing/2014/main" id="{17D5E7E2-EDD2-494A-BAB0-F38FC6FB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8687"/>
                </a:solidFill>
              </a:defRPr>
            </a:pPr>
            <a:r>
              <a:rPr sz="975" b="1">
                <a:solidFill>
                  <a:srgbClr val="0B8687"/>
                </a:solidFill>
              </a:rPr>
              <a:t>LIVE PRODUCT EVIDENCE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569EA9C1-E170-4A74-9DA6-54329E34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B3D"/>
                </a:solidFill>
              </a:defRPr>
            </a:pPr>
            <a:r>
              <a:rPr sz="3150" b="1">
                <a:solidFill>
                  <a:srgbClr val="071B3D"/>
                </a:solidFill>
              </a:rPr>
              <a:t>Every challenge explains the price difference</a:t>
            </a:r>
          </a:p>
        </p:txBody>
      </p:sp>
      <p:sp>
        <p:nvSpPr>
          <p:cNvPr id="3" name="subtitle-12">
            <a:extLst xmlns:a="http://schemas.openxmlformats.org/drawingml/2006/main">
              <a:ext uri="{FF2B5EF4-FFF2-40B4-BE49-F238E27FC236}">
                <a16:creationId xmlns:a16="http://schemas.microsoft.com/office/drawing/2014/main" id="{41BDD8C9-97E1-4471-AFD7-585CE271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7A89"/>
                </a:solidFill>
              </a:defRPr>
            </a:pPr>
            <a:r>
              <a:rPr sz="1350">
                <a:solidFill>
                  <a:srgbClr val="6F7A89"/>
                </a:solidFill>
              </a:rPr>
              <a:t>The handler sees the current charge, supported price, challenge amount and rationale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E9910-62BE-484B-9901-5249C153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5" name="page-12">
            <a:extLst xmlns:a="http://schemas.openxmlformats.org/drawingml/2006/main">
              <a:ext uri="{FF2B5EF4-FFF2-40B4-BE49-F238E27FC236}">
                <a16:creationId xmlns:a16="http://schemas.microsoft.com/office/drawing/2014/main" id="{A3AA3764-E16E-41BC-A301-05B52564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A89"/>
                </a:solidFill>
              </a:defRPr>
            </a:pPr>
            <a:r>
              <a:rPr sz="900" b="1">
                <a:solidFill>
                  <a:srgbClr val="6F7A89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1F827-A8B7-4BAA-9F40-029FD2E4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5D4A"/>
                </a:solidFill>
              </a:defRPr>
            </a:pPr>
            <a:r>
              <a:rPr sz="1350" b="1">
                <a:solidFill>
                  <a:srgbClr val="E85D4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42915-B321-44AC-8D92-124DC39D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E85D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D0877-601A-4606-AE62-3D0F062D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Repairer billed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62F1D-7BC3-4309-A617-3ECE0862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£23.06 for the selected Air Filter 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0BC36-9469-4C4B-BDB7-157A5743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71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EC463-A50A-46B2-8EA9-B55C410D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02F0D-F6BC-47A4-9A20-ABAF55D2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Supported 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EA471-3C16-4C18-AE94-6A9D51CE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£13.27 from governed and historical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761D99-AF11-47D1-A120-C9DCDD88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5D4A"/>
                </a:solidFill>
              </a:defRPr>
            </a:pPr>
            <a:r>
              <a:rPr sz="1350" b="1">
                <a:solidFill>
                  <a:srgbClr val="E85D4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7975C-564C-4A9D-82D2-BD662C3B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E85D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B1E2C-CE2E-4731-A659-309EEBA3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Challenge amount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4CA00-E9B9-44E8-9161-558DDACB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£9.79, with the evidence strength and VAT impact visible.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793801-77F7-413B-8870-4011B803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35623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E85D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E1E3E-FBBE-4913-AA5D-BE067A65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6C6D"/>
                </a:solidFill>
              </a:defRPr>
            </a:pPr>
            <a:r>
              <a:rPr sz="1275" b="1">
                <a:solidFill>
                  <a:srgbClr val="096C6D"/>
                </a:solidFill>
              </a:rPr>
              <a:t>A review recommendation—not an irreversible automated decision.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BA05E6-E4AE-4734-9575-DE4ACF1A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04950"/>
            <a:ext cx="7600950" cy="53149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55efcfe7748a8"/>
          <a:stretch xmlns:a="http://schemas.openxmlformats.org/drawingml/2006/main"/>
        </p:blipFill>
        <p:spPr>
          <a:xfrm xmlns:a="http://schemas.openxmlformats.org/drawingml/2006/main">
            <a:off x="4248150" y="1562894"/>
            <a:ext cx="7486650" cy="5199063"/>
          </a:xfrm>
          <a:prstGeom xmlns:a="http://schemas.openxmlformats.org/drawingml/2006/main" prst="roundRect">
            <a:avLst>
              <a:gd name="adj" fmla="val 1465"/>
            </a:avLst>
          </a:prstGeom>
        </p:spPr>
      </p:pic>
    </p:spTree>
    <p:extLst>
      <p:ext uri="{BB962C8B-B14F-4D97-AF65-F5344CB8AC3E}">
        <p14:creationId xmlns:p14="http://schemas.microsoft.com/office/powerpoint/2010/main" val="11549903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13">
            <a:extLst xmlns:a="http://schemas.openxmlformats.org/drawingml/2006/main">
              <a:ext uri="{FF2B5EF4-FFF2-40B4-BE49-F238E27FC236}">
                <a16:creationId xmlns:a16="http://schemas.microsoft.com/office/drawing/2014/main" id="{67EB57AC-9EC5-46C8-B5C6-EF0AF6D1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8687"/>
                </a:solidFill>
              </a:defRPr>
            </a:pPr>
            <a:r>
              <a:rPr sz="975" b="1">
                <a:solidFill>
                  <a:srgbClr val="0B8687"/>
                </a:solidFill>
              </a:rPr>
              <a:t>LIVE PRODUCT EVIDENCE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54B462DF-4D91-4A41-89F0-06CB571E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71B3D"/>
                </a:solidFill>
              </a:defRPr>
            </a:pPr>
            <a:r>
              <a:rPr sz="3150" b="1">
                <a:solidFill>
                  <a:srgbClr val="071B3D"/>
                </a:solidFill>
              </a:rPr>
              <a:t>The handler makes the final decision</a:t>
            </a:r>
          </a:p>
        </p:txBody>
      </p:sp>
      <p:sp>
        <p:nvSpPr>
          <p:cNvPr id="3" name="subtitle-13">
            <a:extLst xmlns:a="http://schemas.openxmlformats.org/drawingml/2006/main">
              <a:ext uri="{FF2B5EF4-FFF2-40B4-BE49-F238E27FC236}">
                <a16:creationId xmlns:a16="http://schemas.microsoft.com/office/drawing/2014/main" id="{E152CF0B-3B6F-4C30-8C97-9DBBA391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F7A89"/>
                </a:solidFill>
              </a:defRPr>
            </a:pPr>
            <a:r>
              <a:rPr sz="1350">
                <a:solidFill>
                  <a:srgbClr val="6F7A89"/>
                </a:solidFill>
              </a:rPr>
              <a:t>Reviewed lines are consolidated into one payable amount and a traceable evidence package.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7DEF0-DF41-436F-9EAB-D1FE4DFC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0">
            <a:solidFill>
              <a:srgbClr val="DDE3E8"/>
            </a:solidFill>
            <a:prstDash val="solid"/>
          </a:ln>
        </p:spPr>
      </p:sp>
      <p:sp>
        <p:nvSpPr>
          <p:cNvPr id="5" name="page-13">
            <a:extLst xmlns:a="http://schemas.openxmlformats.org/drawingml/2006/main">
              <a:ext uri="{FF2B5EF4-FFF2-40B4-BE49-F238E27FC236}">
                <a16:creationId xmlns:a16="http://schemas.microsoft.com/office/drawing/2014/main" id="{B3A49840-2F17-4DAD-A443-96B56B60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A89"/>
                </a:solidFill>
              </a:defRPr>
            </a:pPr>
            <a:r>
              <a:rPr sz="900" b="1">
                <a:solidFill>
                  <a:srgbClr val="6F7A89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C635E-CD2B-490A-8EAA-325DADF4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85D4A"/>
                </a:solidFill>
              </a:defRPr>
            </a:pPr>
            <a:r>
              <a:rPr sz="1350" b="1">
                <a:solidFill>
                  <a:srgbClr val="E85D4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5B638-C8CC-4B83-B70C-936DEA81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E85D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974F5-1026-4044-942E-8141AA42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33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Financial effect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7C484-A495-437C-8177-EBDE9DB0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£17.59 challenge amount and £21.11 gross cash effect.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21A9B-3FD8-4D54-B3BD-175E87DA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71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A04E4-FEFB-4D4C-BFD4-748511BD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68CF8-B750-430F-8650-BEF5B225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Human approval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218F8-CB09-4454-83E2-6AFD3A2E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Liability and reviewed findings remain explicit issuance gates.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5188C-42E6-435E-A33F-AD72A575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8687"/>
                </a:solidFill>
              </a:defRPr>
            </a:pPr>
            <a:r>
              <a:rPr sz="1350" b="1">
                <a:solidFill>
                  <a:srgbClr val="0B8687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40D9D-A7CA-4DFC-8208-C4CDB037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687"/>
          </a:solidFill>
          <a:ln xmlns:a="http://schemas.openxmlformats.org/drawingml/2006/main" w="0">
            <a:solidFill>
              <a:srgbClr val="0B868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05DC1-B6C1-4AC2-9CB5-A892314F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719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Auditable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FB17F-2448-4E2C-91CF-B5CC7C73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1485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365"/>
                </a:solidFill>
              </a:defRPr>
            </a:pPr>
            <a:r>
              <a:rPr sz="1275">
                <a:solidFill>
                  <a:srgbClr val="465365"/>
                </a:solidFill>
              </a:rPr>
              <a:t>A challenge letter, evidence appendix and decision history are retained.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E64AE-452A-4645-A7FD-EB051C41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35623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6D9E3A-B28D-4A27-BEF7-0B1E3320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96C6D"/>
                </a:solidFill>
              </a:defRPr>
            </a:pPr>
            <a:r>
              <a:rPr sz="1275" b="1">
                <a:solidFill>
                  <a:srgbClr val="096C6D"/>
                </a:solidFill>
              </a:rPr>
              <a:t>Faster review. Clear evidence. Human control.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0534F2-A5EA-4359-9DF2-0D28BFAB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04950"/>
            <a:ext cx="7600950" cy="53149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6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bfc86096b40d4"/>
          <a:stretch xmlns:a="http://schemas.openxmlformats.org/drawingml/2006/main"/>
        </p:blipFill>
        <p:spPr>
          <a:xfrm xmlns:a="http://schemas.openxmlformats.org/drawingml/2006/main">
            <a:off x="4248150" y="1562894"/>
            <a:ext cx="7486650" cy="5199063"/>
          </a:xfrm>
          <a:prstGeom xmlns:a="http://schemas.openxmlformats.org/drawingml/2006/main" prst="roundRect">
            <a:avLst>
              <a:gd name="adj" fmla="val 1465"/>
            </a:avLst>
          </a:prstGeom>
        </p:spPr>
      </p:pic>
    </p:spTree>
    <p:extLst>
      <p:ext uri="{BB962C8B-B14F-4D97-AF65-F5344CB8AC3E}">
        <p14:creationId xmlns:p14="http://schemas.microsoft.com/office/powerpoint/2010/main" val="9661672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2026-08-06T05:48:39.0790000Z</dcterms:created>
  <dcterms:modified xsi:type="dcterms:W3CDTF">2026-08-06T05:48:39.0790000Z</dcterms:modified>
</coreProperties>
</file>